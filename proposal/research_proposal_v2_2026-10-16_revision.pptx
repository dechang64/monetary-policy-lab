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5"/>
  </p:notesMasterIdLst>
  <p:sldIdLst>
    <p:sldId id="256" r:id="rId2"/>
    <p:sldId id="312" r:id="rId3"/>
    <p:sldId id="314" r:id="rId4"/>
    <p:sldId id="315" r:id="rId5"/>
    <p:sldId id="313" r:id="rId6"/>
    <p:sldId id="316" r:id="rId7"/>
    <p:sldId id="296" r:id="rId8"/>
    <p:sldId id="297" r:id="rId9"/>
    <p:sldId id="298" r:id="rId10"/>
    <p:sldId id="299" r:id="rId11"/>
    <p:sldId id="265" r:id="rId12"/>
    <p:sldId id="289" r:id="rId13"/>
    <p:sldId id="325" r:id="rId41"/>
    <p:sldId id="266" r:id="rId14"/>
    <p:sldId id="268" r:id="rId15"/>
    <p:sldId id="271" r:id="rId16"/>
    <p:sldId id="292" r:id="rId17"/>
    <p:sldId id="294" r:id="rId18"/>
    <p:sldId id="300" r:id="rId19"/>
    <p:sldId id="291" r:id="rId20"/>
    <p:sldId id="302" r:id="rId21"/>
    <p:sldId id="324" r:id="rId22"/>
    <p:sldId id="317" r:id="rId23"/>
    <p:sldId id="318" r:id="rId24"/>
    <p:sldId id="319" r:id="rId25"/>
    <p:sldId id="320" r:id="rId26"/>
    <p:sldId id="305" r:id="rId27"/>
    <p:sldId id="306" r:id="rId28"/>
    <p:sldId id="322" r:id="rId29"/>
    <p:sldId id="307" r:id="rId30"/>
    <p:sldId id="308" r:id="rId31"/>
    <p:sldId id="309" r:id="rId32"/>
    <p:sldId id="323" r:id="rId33"/>
    <p:sldId id="310"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20686E-23E5-4B17-AF35-E39FBF0DB817}" v="3" dt="2026-09-18T01:07:00.91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2100" autoAdjust="0"/>
    <p:restoredTop sz="64052" autoAdjust="0"/>
  </p:normalViewPr>
  <p:slideViewPr>
    <p:cSldViewPr snapToGrid="0" snapToObjects="1">
      <p:cViewPr varScale="1">
        <p:scale>
          <a:sx n="82" d="100"/>
          <a:sy n="82" d="100"/>
        </p:scale>
        <p:origin x="394" y="7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4.xml"/><Relationship Id="rId15" Type="http://schemas.openxmlformats.org/officeDocument/2006/relationships/slide" Target="slides/slide15.xml"/><Relationship Id="rId16" Type="http://schemas.openxmlformats.org/officeDocument/2006/relationships/slide" Target="slides/slide16.xml"/><Relationship Id="rId17" Type="http://schemas.openxmlformats.org/officeDocument/2006/relationships/slide" Target="slides/slide17.xml"/><Relationship Id="rId18" Type="http://schemas.openxmlformats.org/officeDocument/2006/relationships/slide" Target="slides/slide18.xml"/><Relationship Id="rId19" Type="http://schemas.openxmlformats.org/officeDocument/2006/relationships/slide" Target="slides/slide19.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 Id="rId40" Type="http://schemas.microsoft.com/office/2015/10/relationships/revisionInfo" Target="revisionInfo.xml"/><Relationship Id="rId41"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303151F-1225-4FF5-8664-DACB704169A0}" type="datetimeFigureOut">
              <a:rPr lang="en-US" smtClean="0"/>
              <a:t>9/17/2026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A9ACB7-D2DD-46C1-AAAB-ADA9D7EFD7AE}" type="slidenum">
              <a:rPr lang="en-US" smtClean="0"/>
              <a:t>‹#›</a:t>
            </a:fld>
            <a:endParaRPr lang="en-US"/>
          </a:p>
        </p:txBody>
      </p:sp>
    </p:spTree>
    <p:extLst>
      <p:ext uri="{BB962C8B-B14F-4D97-AF65-F5344CB8AC3E}">
        <p14:creationId xmlns:p14="http://schemas.microsoft.com/office/powerpoint/2010/main" val="3965082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emf"/></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emf"/><Relationship Id="rId3" Type="http://schemas.openxmlformats.org/officeDocument/2006/relationships/hyperlink" Target="https://monetary-policy-lab.streamlit.app/" TargetMode="Externa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monetary-policy-lab.streamlit.app/?utm_source=chatgpt.com" TargetMode="External"/><Relationship Id="rId3" Type="http://schemas.openxmlformats.org/officeDocument/2006/relationships/hyperlink" Target="https://monetary-policy-lab.streamlit.app/" TargetMode="External"/><Relationship Id="rId4" Type="http://schemas.openxmlformats.org/officeDocument/2006/relationships/hyperlink" Target="https://github.com/dechang64/monetary-policy-lab?utm_source=chatgpt.com"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emf"/></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emf"/></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emf"/></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emf"/></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emf"/></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emf"/><Relationship Id="rId3" Type="http://schemas.openxmlformats.org/officeDocument/2006/relationships/image" Target="../media/image12.emf"/></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emf"/></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em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emf"/></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CC0033"/>
        </a:solidFill>
        <a:effectLst/>
      </p:bgPr>
    </p:bg>
    <p:spTree>
      <p:nvGrpSpPr>
        <p:cNvPr id="1" name=""/>
        <p:cNvGrpSpPr/>
        <p:nvPr/>
      </p:nvGrpSpPr>
      <p:grpSpPr>
        <a:xfrm>
          <a:off x="0" y="0"/>
          <a:ext cx="0" cy="0"/>
          <a:chOff x="0" y="0"/>
          <a:chExt cx="0" cy="0"/>
        </a:xfrm>
      </p:grpSpPr>
      <p:sp>
        <p:nvSpPr>
          <p:cNvPr id="2" name="TextBox 1"/>
          <p:cNvSpPr txBox="1"/>
          <p:nvPr/>
        </p:nvSpPr>
        <p:spPr>
          <a:xfrm>
            <a:off x="502920" y="438912"/>
            <a:ext cx="2286000" cy="457200"/>
          </a:xfrm>
          <a:prstGeom prst="rect">
            <a:avLst/>
          </a:prstGeom>
          <a:noFill/>
        </p:spPr>
        <p:txBody>
          <a:bodyPr wrap="square" anchor="t">
            <a:spAutoFit/>
          </a:bodyPr>
          <a:lstStyle/>
          <a:p>
            <a:pPr algn="l"/>
            <a:r>
              <a:rPr sz="3000" b="1" i="0">
                <a:solidFill>
                  <a:srgbClr val="FFFFFF"/>
                </a:solidFill>
                <a:latin typeface="Georgia"/>
              </a:rPr>
              <a:t>RUTGERS</a:t>
            </a:r>
          </a:p>
        </p:txBody>
      </p:sp>
      <p:pic>
        <p:nvPicPr>
          <p:cNvPr id="9" name="Picture 8" descr="Branding and Visual Identity">
            <a:extLst>
              <a:ext uri="{FF2B5EF4-FFF2-40B4-BE49-F238E27FC236}">
                <a16:creationId xmlns:a16="http://schemas.microsoft.com/office/drawing/2014/main" id="{CA64BB92-6ED6-66EA-FEBA-99D5D6B77FCA}"/>
              </a:ext>
            </a:extLst>
          </p:cNvPr>
          <p:cNvPicPr>
            <a:picLocks noChangeAspect="1"/>
          </p:cNvPicPr>
          <p:nvPr/>
        </p:nvPicPr>
        <p:blipFill>
          <a:blip r:embed="rId2"/>
          <a:stretch>
            <a:fillRect/>
          </a:stretch>
        </p:blipFill>
        <p:spPr>
          <a:xfrm>
            <a:off x="0" y="2458"/>
            <a:ext cx="12192000" cy="6855542"/>
          </a:xfrm>
          <a:prstGeom prst="rect">
            <a:avLst/>
          </a:prstGeom>
        </p:spPr>
      </p:pic>
      <p:sp>
        <p:nvSpPr>
          <p:cNvPr id="3" name="TextBox 2"/>
          <p:cNvSpPr txBox="1"/>
          <p:nvPr/>
        </p:nvSpPr>
        <p:spPr>
          <a:xfrm>
            <a:off x="658368" y="1508760"/>
            <a:ext cx="10607040" cy="1463040"/>
          </a:xfrm>
          <a:prstGeom prst="rect">
            <a:avLst/>
          </a:prstGeom>
          <a:noFill/>
        </p:spPr>
        <p:txBody>
          <a:bodyPr wrap="square" anchor="t">
            <a:spAutoFit/>
          </a:bodyPr>
          <a:lstStyle/>
          <a:p>
            <a:pPr algn="l"/>
            <a:r>
              <a:rPr sz="3000" b="1" i="0" dirty="0">
                <a:solidFill>
                  <a:srgbClr val="FFFFFF"/>
                </a:solidFill>
                <a:latin typeface="Calibri"/>
              </a:rPr>
              <a:t>Federal Reserve Communication,
Asset Prices, and Portfolio Reallocation</a:t>
            </a:r>
          </a:p>
        </p:txBody>
      </p:sp>
      <p:sp>
        <p:nvSpPr>
          <p:cNvPr id="4" name="TextBox 3"/>
          <p:cNvSpPr txBox="1"/>
          <p:nvPr/>
        </p:nvSpPr>
        <p:spPr>
          <a:xfrm>
            <a:off x="685800" y="3090672"/>
            <a:ext cx="9784080" cy="685800"/>
          </a:xfrm>
          <a:prstGeom prst="rect">
            <a:avLst/>
          </a:prstGeom>
          <a:noFill/>
        </p:spPr>
        <p:txBody>
          <a:bodyPr wrap="square" anchor="t">
            <a:spAutoFit/>
          </a:bodyPr>
          <a:lstStyle/>
          <a:p>
            <a:pPr algn="l"/>
            <a:r>
              <a:rPr sz="1700" b="0" i="1" dirty="0">
                <a:solidFill>
                  <a:srgbClr val="FFFFFF"/>
                </a:solidFill>
                <a:latin typeface="Calibri"/>
              </a:rPr>
              <a:t>How monetary policy announcements transmit from words to prices to investor portfolios</a:t>
            </a:r>
          </a:p>
        </p:txBody>
      </p:sp>
      <p:sp>
        <p:nvSpPr>
          <p:cNvPr id="5" name="Rectangle 4"/>
          <p:cNvSpPr/>
          <p:nvPr/>
        </p:nvSpPr>
        <p:spPr>
          <a:xfrm>
            <a:off x="685800" y="4983480"/>
            <a:ext cx="10332720" cy="18288"/>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5559552"/>
            <a:ext cx="4572000" cy="320040"/>
          </a:xfrm>
          <a:prstGeom prst="rect">
            <a:avLst/>
          </a:prstGeom>
          <a:noFill/>
        </p:spPr>
        <p:txBody>
          <a:bodyPr wrap="square" anchor="t">
            <a:spAutoFit/>
          </a:bodyPr>
          <a:lstStyle/>
          <a:p>
            <a:pPr algn="l"/>
            <a:r>
              <a:rPr sz="1400" b="0" i="0">
                <a:solidFill>
                  <a:srgbClr val="FFFFFF"/>
                </a:solidFill>
                <a:latin typeface="Calibri"/>
              </a:rPr>
              <a:t>Submitted by: Eileen Zhang</a:t>
            </a:r>
          </a:p>
        </p:txBody>
      </p:sp>
      <p:sp>
        <p:nvSpPr>
          <p:cNvPr id="8" name="TextBox 7"/>
          <p:cNvSpPr txBox="1"/>
          <p:nvPr/>
        </p:nvSpPr>
        <p:spPr>
          <a:xfrm>
            <a:off x="685800" y="5925312"/>
            <a:ext cx="5486400" cy="320040"/>
          </a:xfrm>
          <a:prstGeom prst="rect">
            <a:avLst/>
          </a:prstGeom>
          <a:noFill/>
        </p:spPr>
        <p:txBody>
          <a:bodyPr wrap="square" anchor="t">
            <a:spAutoFit/>
          </a:bodyPr>
          <a:lstStyle/>
          <a:p>
            <a:pPr algn="l"/>
            <a:r>
              <a:rPr sz="1200" b="0" i="0">
                <a:solidFill>
                  <a:srgbClr val="FFFFFF"/>
                </a:solidFill>
                <a:latin typeface="Calibri"/>
              </a:rPr>
              <a:t>Rutgers Business School  |  September 2026</a:t>
            </a:r>
          </a:p>
        </p:txBody>
      </p:sp>
      <p:sp>
        <p:nvSpPr>
          <p:cNvPr id="12" name="TextBox 11">
            <a:extLst>
              <a:ext uri="{FF2B5EF4-FFF2-40B4-BE49-F238E27FC236}">
                <a16:creationId xmlns:a16="http://schemas.microsoft.com/office/drawing/2014/main" id="{DCF7EA44-32B2-C437-0760-1DCB700EDF08}"/>
              </a:ext>
            </a:extLst>
          </p:cNvPr>
          <p:cNvSpPr txBox="1"/>
          <p:nvPr/>
        </p:nvSpPr>
        <p:spPr>
          <a:xfrm>
            <a:off x="658368" y="4598759"/>
            <a:ext cx="6172200" cy="384721"/>
          </a:xfrm>
          <a:prstGeom prst="rect">
            <a:avLst/>
          </a:prstGeom>
          <a:noFill/>
        </p:spPr>
        <p:txBody>
          <a:bodyPr wrap="square">
            <a:spAutoFit/>
          </a:bodyPr>
          <a:lstStyle/>
          <a:p>
            <a:r>
              <a:rPr lang="en-US" sz="1900" b="1" i="0" u="none" strike="noStrike" baseline="0" dirty="0">
                <a:solidFill>
                  <a:srgbClr val="FFFFFF"/>
                </a:solidFill>
                <a:latin typeface="Arial-BoldMT"/>
              </a:rPr>
              <a:t>Research Proposal</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502920" y="2057400"/>
            <a:ext cx="2032345"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C2F46"/>
                </a:solidFill>
                <a:latin typeface="Aptos"/>
              </a:defRPr>
            </a:pPr>
            <a:r>
              <a:rPr dirty="0">
                <a:latin typeface="Calibri"/>
              </a:rPr>
              <a:t>Motivation</a:t>
            </a:r>
          </a:p>
        </p:txBody>
      </p:sp>
      <p:cxnSp>
        <p:nvCxnSpPr>
          <p:cNvPr id="3" name="Connector 2"/>
          <p:cNvCxnSpPr/>
          <p:nvPr/>
        </p:nvCxnSpPr>
        <p:spPr>
          <a:xfrm>
            <a:off x="2562697" y="2491740"/>
            <a:ext cx="201168" cy="0"/>
          </a:xfrm>
          <a:prstGeom prst="line">
            <a:avLst/>
          </a:prstGeom>
          <a:ln w="20320">
            <a:solidFill>
              <a:srgbClr val="5A6978"/>
            </a:solidFill>
          </a:ln>
        </p:spPr>
        <p:style>
          <a:lnRef idx="2">
            <a:schemeClr val="accent1"/>
          </a:lnRef>
          <a:fillRef idx="0">
            <a:schemeClr val="accent1"/>
          </a:fillRef>
          <a:effectRef idx="1">
            <a:schemeClr val="accent1"/>
          </a:effectRef>
          <a:fontRef idx="minor">
            <a:schemeClr val="tx1"/>
          </a:fontRef>
        </p:style>
      </p:cxnSp>
      <p:sp>
        <p:nvSpPr>
          <p:cNvPr id="4" name="Rounded Rectangle 3"/>
          <p:cNvSpPr/>
          <p:nvPr/>
        </p:nvSpPr>
        <p:spPr>
          <a:xfrm>
            <a:off x="2805014" y="2057400"/>
            <a:ext cx="2032345"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C2F46"/>
                </a:solidFill>
                <a:latin typeface="Aptos"/>
              </a:defRPr>
            </a:pPr>
            <a:r>
              <a:rPr sz="1700" b="1" dirty="0">
                <a:solidFill>
                  <a:srgbClr val="1C2F46"/>
                </a:solidFill>
                <a:latin typeface="Calibri"/>
              </a:rPr>
              <a:t>Literature</a:t>
            </a:r>
          </a:p>
        </p:txBody>
      </p:sp>
      <p:cxnSp>
        <p:nvCxnSpPr>
          <p:cNvPr id="5" name="Connector 4"/>
          <p:cNvCxnSpPr/>
          <p:nvPr/>
        </p:nvCxnSpPr>
        <p:spPr>
          <a:xfrm>
            <a:off x="4851074" y="2491740"/>
            <a:ext cx="201168" cy="0"/>
          </a:xfrm>
          <a:prstGeom prst="line">
            <a:avLst/>
          </a:prstGeom>
          <a:ln w="20320">
            <a:solidFill>
              <a:srgbClr val="5A6978"/>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093391" y="2080258"/>
            <a:ext cx="2032345"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C2F46"/>
                </a:solidFill>
                <a:latin typeface="Aptos"/>
              </a:defRPr>
            </a:pPr>
            <a:r>
              <a:rPr sz="1700" b="1" dirty="0">
                <a:solidFill>
                  <a:srgbClr val="1C2F46"/>
                </a:solidFill>
                <a:latin typeface="Calibri"/>
              </a:rPr>
              <a:t>Research Gap</a:t>
            </a:r>
          </a:p>
        </p:txBody>
      </p:sp>
      <p:cxnSp>
        <p:nvCxnSpPr>
          <p:cNvPr id="7" name="Connector 6"/>
          <p:cNvCxnSpPr/>
          <p:nvPr/>
        </p:nvCxnSpPr>
        <p:spPr>
          <a:xfrm>
            <a:off x="7139452" y="2491740"/>
            <a:ext cx="201168" cy="0"/>
          </a:xfrm>
          <a:prstGeom prst="line">
            <a:avLst/>
          </a:prstGeom>
          <a:ln w="20320">
            <a:solidFill>
              <a:srgbClr val="5A6978"/>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7368052" y="2057400"/>
            <a:ext cx="2032345"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1C2F46"/>
                </a:solidFill>
                <a:latin typeface="Aptos"/>
              </a:defRPr>
            </a:pPr>
            <a:r>
              <a:rPr sz="1700" b="1" dirty="0">
                <a:solidFill>
                  <a:srgbClr val="1C2F46"/>
                </a:solidFill>
                <a:latin typeface="Calibri"/>
              </a:rPr>
              <a:t>Research</a:t>
            </a:r>
            <a:r>
              <a:rPr dirty="0">
                <a:latin typeface="Calibri"/>
              </a:rPr>
              <a:t> Questions</a:t>
            </a:r>
          </a:p>
        </p:txBody>
      </p:sp>
      <p:cxnSp>
        <p:nvCxnSpPr>
          <p:cNvPr id="9" name="Connector 8"/>
          <p:cNvCxnSpPr/>
          <p:nvPr/>
        </p:nvCxnSpPr>
        <p:spPr>
          <a:xfrm>
            <a:off x="9427829" y="2491740"/>
            <a:ext cx="201168" cy="0"/>
          </a:xfrm>
          <a:prstGeom prst="line">
            <a:avLst/>
          </a:prstGeom>
          <a:ln w="20320">
            <a:solidFill>
              <a:srgbClr val="5A6978"/>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656429" y="2057400"/>
            <a:ext cx="2032345"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C2F46"/>
                </a:solidFill>
                <a:latin typeface="Aptos"/>
              </a:defRPr>
            </a:pPr>
            <a:r>
              <a:rPr sz="1700" b="1" dirty="0">
                <a:solidFill>
                  <a:srgbClr val="1C2F46"/>
                </a:solidFill>
                <a:latin typeface="Calibri"/>
              </a:rPr>
              <a:t>Hypotheses</a:t>
            </a:r>
          </a:p>
        </p:txBody>
      </p:sp>
      <p:sp>
        <p:nvSpPr>
          <p:cNvPr id="11" name="Rounded Rectangle 10"/>
          <p:cNvSpPr/>
          <p:nvPr/>
        </p:nvSpPr>
        <p:spPr>
          <a:xfrm>
            <a:off x="502919" y="3977639"/>
            <a:ext cx="2604439"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C2F46"/>
                </a:solidFill>
                <a:latin typeface="Aptos"/>
              </a:defRPr>
            </a:pPr>
            <a:r>
              <a:rPr sz="1700" b="1" dirty="0">
                <a:solidFill>
                  <a:srgbClr val="1C2F46"/>
                </a:solidFill>
                <a:latin typeface="Calibri"/>
              </a:rPr>
              <a:t>Data</a:t>
            </a:r>
          </a:p>
        </p:txBody>
      </p:sp>
      <p:cxnSp>
        <p:nvCxnSpPr>
          <p:cNvPr id="12" name="Connector 11"/>
          <p:cNvCxnSpPr/>
          <p:nvPr/>
        </p:nvCxnSpPr>
        <p:spPr>
          <a:xfrm>
            <a:off x="3134791" y="4411979"/>
            <a:ext cx="201168" cy="0"/>
          </a:xfrm>
          <a:prstGeom prst="line">
            <a:avLst/>
          </a:prstGeom>
          <a:ln w="20320">
            <a:solidFill>
              <a:srgbClr val="5A6978"/>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3363391" y="3977639"/>
            <a:ext cx="2604439"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C2F46"/>
                </a:solidFill>
                <a:latin typeface="Aptos"/>
              </a:defRPr>
            </a:pPr>
            <a:r>
              <a:rPr sz="1700" b="1" dirty="0">
                <a:solidFill>
                  <a:srgbClr val="1C2F46"/>
                </a:solidFill>
                <a:latin typeface="Calibri"/>
              </a:rPr>
              <a:t>Variables</a:t>
            </a:r>
          </a:p>
        </p:txBody>
      </p:sp>
      <p:cxnSp>
        <p:nvCxnSpPr>
          <p:cNvPr id="14" name="Connector 13"/>
          <p:cNvCxnSpPr/>
          <p:nvPr/>
        </p:nvCxnSpPr>
        <p:spPr>
          <a:xfrm>
            <a:off x="5995263" y="4411979"/>
            <a:ext cx="201168" cy="0"/>
          </a:xfrm>
          <a:prstGeom prst="line">
            <a:avLst/>
          </a:prstGeom>
          <a:ln w="20320">
            <a:solidFill>
              <a:srgbClr val="5A6978"/>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223863" y="3977639"/>
            <a:ext cx="2604439"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C2F46"/>
                </a:solidFill>
                <a:latin typeface="Aptos"/>
              </a:defRPr>
            </a:pPr>
            <a:r>
              <a:rPr sz="1700" b="1" dirty="0">
                <a:solidFill>
                  <a:srgbClr val="1C2F46"/>
                </a:solidFill>
                <a:latin typeface="Calibri"/>
              </a:rPr>
              <a:t>Empirical Models</a:t>
            </a:r>
          </a:p>
        </p:txBody>
      </p:sp>
      <p:cxnSp>
        <p:nvCxnSpPr>
          <p:cNvPr id="16" name="Connector 15"/>
          <p:cNvCxnSpPr/>
          <p:nvPr/>
        </p:nvCxnSpPr>
        <p:spPr>
          <a:xfrm>
            <a:off x="8855735" y="4411979"/>
            <a:ext cx="201168" cy="0"/>
          </a:xfrm>
          <a:prstGeom prst="line">
            <a:avLst/>
          </a:prstGeom>
          <a:ln w="20320">
            <a:solidFill>
              <a:srgbClr val="5A6978"/>
            </a:solidFill>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9084335" y="3977639"/>
            <a:ext cx="2604439" cy="868680"/>
          </a:xfrm>
          <a:prstGeom prst="roundRect">
            <a:avLst/>
          </a:prstGeom>
          <a:solidFill>
            <a:srgbClr val="F4F7FA"/>
          </a:solidFill>
          <a:ln w="19050">
            <a:solidFill>
              <a:srgbClr val="2A4669"/>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solidFill>
                  <a:srgbClr val="1C2F46"/>
                </a:solidFill>
                <a:latin typeface="Aptos"/>
              </a:defRPr>
            </a:pPr>
            <a:r>
              <a:rPr sz="1700" b="1" dirty="0">
                <a:solidFill>
                  <a:srgbClr val="1C2F46"/>
                </a:solidFill>
                <a:latin typeface="Calibri"/>
              </a:rPr>
              <a:t>Results</a:t>
            </a:r>
          </a:p>
        </p:txBody>
      </p:sp>
      <p:sp>
        <p:nvSpPr>
          <p:cNvPr id="18" name="TextBox 17"/>
          <p:cNvSpPr txBox="1"/>
          <p:nvPr/>
        </p:nvSpPr>
        <p:spPr>
          <a:xfrm>
            <a:off x="5577840" y="3154680"/>
            <a:ext cx="1005840" cy="502920"/>
          </a:xfrm>
          <a:prstGeom prst="rect">
            <a:avLst/>
          </a:prstGeom>
          <a:noFill/>
        </p:spPr>
        <p:txBody>
          <a:bodyPr wrap="none">
            <a:spAutoFit/>
          </a:bodyPr>
          <a:lstStyle/>
          <a:p>
            <a:pPr algn="ctr">
              <a:defRPr sz="2800">
                <a:solidFill>
                  <a:srgbClr val="5A6978"/>
                </a:solidFill>
              </a:defRPr>
            </a:pPr>
            <a:r>
              <a:rPr>
                <a:latin typeface="Calibri"/>
              </a:rPr>
              <a:t>↓</a:t>
            </a:r>
          </a:p>
        </p:txBody>
      </p:sp>
      <p:sp>
        <p:nvSpPr>
          <p:cNvPr id="20" name="TextBox 19">
            <a:extLst>
              <a:ext uri="{FF2B5EF4-FFF2-40B4-BE49-F238E27FC236}">
                <a16:creationId xmlns:a16="http://schemas.microsoft.com/office/drawing/2014/main" id="{6094BCC8-BC74-666E-F35E-05678424B84F}"/>
              </a:ext>
            </a:extLst>
          </p:cNvPr>
          <p:cNvSpPr txBox="1"/>
          <p:nvPr/>
        </p:nvSpPr>
        <p:spPr>
          <a:xfrm>
            <a:off x="502920" y="983227"/>
            <a:ext cx="8641080" cy="507831"/>
          </a:xfrm>
          <a:prstGeom prst="rect">
            <a:avLst/>
          </a:prstGeom>
          <a:noFill/>
        </p:spPr>
        <p:txBody>
          <a:bodyPr wrap="square">
            <a:spAutoFit/>
          </a:bodyPr>
          <a:lstStyle/>
          <a:p>
            <a:pPr algn="l"/>
            <a:r>
              <a:rPr lang="en-US" sz="2700" b="1" i="0" dirty="0">
                <a:solidFill>
                  <a:srgbClr val="910020"/>
                </a:solidFill>
                <a:latin typeface="Calibri"/>
              </a:rPr>
              <a:t>Agenda</a:t>
            </a:r>
          </a:p>
        </p:txBody>
      </p:sp>
      <p:sp>
        <p:nvSpPr>
          <p:cNvPr id="22" name="Rectangle 21">
            <a:extLst>
              <a:ext uri="{FF2B5EF4-FFF2-40B4-BE49-F238E27FC236}">
                <a16:creationId xmlns:a16="http://schemas.microsoft.com/office/drawing/2014/main" id="{48813AAE-2D87-27A5-41E3-A7F281F7E897}"/>
              </a:ext>
            </a:extLst>
          </p:cNvPr>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800" b="1" dirty="0">
                <a:latin typeface="Calibri"/>
              </a:rPr>
              <a:t>Rutgers</a:t>
            </a:r>
            <a:endParaRPr sz="28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2C12CED-414F-0E83-93FF-5437836290E7}"/>
              </a:ext>
            </a:extLst>
          </p:cNvPr>
          <p:cNvSpPr txBox="1"/>
          <p:nvPr/>
        </p:nvSpPr>
        <p:spPr>
          <a:xfrm>
            <a:off x="914401" y="923732"/>
            <a:ext cx="10161036" cy="3970318"/>
          </a:xfrm>
          <a:prstGeom prst="rect">
            <a:avLst/>
          </a:prstGeom>
          <a:noFill/>
        </p:spPr>
        <p:txBody>
          <a:bodyPr wrap="square">
            <a:spAutoFit/>
          </a:bodyPr>
          <a:lstStyle/>
          <a:p>
            <a:pPr>
              <a:buNone/>
            </a:pPr>
            <a:r>
              <a:rPr lang="en-US" b="1" dirty="0"/>
              <a:t>FOMC announcements contain more than a rate decision.</a:t>
            </a:r>
            <a:endParaRPr lang="en-US" dirty="0"/>
          </a:p>
          <a:p>
            <a:pPr>
              <a:buNone/>
            </a:pPr>
            <a:r>
              <a:rPr lang="en-US" dirty="0"/>
              <a:t>A single announcement may simultaneously reveal:</a:t>
            </a:r>
          </a:p>
          <a:p>
            <a:pPr>
              <a:buNone/>
            </a:pPr>
            <a:endParaRPr lang="en-US" dirty="0"/>
          </a:p>
          <a:p>
            <a:pPr marL="342900" lvl="0" indent="-342900">
              <a:buFont typeface="Arial" panose="020B0604020202020204" pitchFamily="34" charset="0"/>
              <a:buChar char="•"/>
            </a:pPr>
            <a:r>
              <a:rPr lang="en-US" b="1" dirty="0"/>
              <a:t>Policy action</a:t>
            </a:r>
            <a:r>
              <a:rPr lang="en-US" dirty="0"/>
              <a:t> — what the Fed does today </a:t>
            </a:r>
          </a:p>
          <a:p>
            <a:pPr marL="342900" lvl="0" indent="-342900">
              <a:buFont typeface="Arial" panose="020B0604020202020204" pitchFamily="34" charset="0"/>
              <a:buChar char="•"/>
            </a:pPr>
            <a:r>
              <a:rPr lang="en-US" b="1" dirty="0"/>
              <a:t>Expected policy path</a:t>
            </a:r>
            <a:r>
              <a:rPr lang="en-US" dirty="0"/>
              <a:t> — what markets learn about future policy </a:t>
            </a:r>
          </a:p>
          <a:p>
            <a:pPr marL="342900" lvl="0" indent="-342900">
              <a:buFont typeface="Arial" panose="020B0604020202020204" pitchFamily="34" charset="0"/>
              <a:buChar char="•"/>
            </a:pPr>
            <a:r>
              <a:rPr lang="en-US" b="1" dirty="0"/>
              <a:t>Economic information</a:t>
            </a:r>
            <a:r>
              <a:rPr lang="en-US" dirty="0"/>
              <a:t> — what the Fed reveals about growth, inflation, employment, and risks </a:t>
            </a:r>
          </a:p>
          <a:p>
            <a:pPr lvl="0"/>
            <a:endParaRPr lang="en-US" dirty="0"/>
          </a:p>
          <a:p>
            <a:pPr>
              <a:buNone/>
            </a:pPr>
            <a:r>
              <a:rPr lang="en-US" dirty="0"/>
              <a:t>The challenge is that markets respond to </a:t>
            </a:r>
            <a:r>
              <a:rPr lang="en-US" b="1" dirty="0"/>
              <a:t>both policy action and information revelation</a:t>
            </a:r>
            <a:r>
              <a:rPr lang="en-US" dirty="0"/>
              <a:t>. The proposal specifically frames this as asking whether FOMC language contains incremental information that markets price beyond the mechanical policy-rate surprise. </a:t>
            </a:r>
          </a:p>
          <a:p>
            <a:pPr>
              <a:buNone/>
            </a:pPr>
            <a:endParaRPr lang="en-US" dirty="0"/>
          </a:p>
          <a:p>
            <a:pPr>
              <a:buNone/>
            </a:pPr>
            <a:r>
              <a:rPr lang="en-US" b="1" dirty="0"/>
              <a:t>Key motivation:</a:t>
            </a:r>
            <a:endParaRPr lang="en-US" dirty="0"/>
          </a:p>
          <a:p>
            <a:pPr>
              <a:buNone/>
            </a:pPr>
            <a:r>
              <a:rPr lang="en-US" dirty="0"/>
              <a:t>To understand market reactions to the Fed, we need to distinguish </a:t>
            </a:r>
            <a:r>
              <a:rPr lang="en-US" b="1" dirty="0"/>
              <a:t>what the Fed does</a:t>
            </a:r>
            <a:r>
              <a:rPr lang="en-US" dirty="0"/>
              <a:t> from </a:t>
            </a:r>
            <a:r>
              <a:rPr lang="en-US" b="1" dirty="0"/>
              <a:t>what the Fed reveals</a:t>
            </a:r>
            <a:r>
              <a:rPr lang="en-US" dirty="0"/>
              <a:t>.</a:t>
            </a:r>
          </a:p>
        </p:txBody>
      </p:sp>
      <p:sp>
        <p:nvSpPr>
          <p:cNvPr id="5" name="Rectangle 4">
            <a:extLst>
              <a:ext uri="{FF2B5EF4-FFF2-40B4-BE49-F238E27FC236}">
                <a16:creationId xmlns:a16="http://schemas.microsoft.com/office/drawing/2014/main" id="{A1F9936A-56DC-542A-BD40-856D4159B369}"/>
              </a:ext>
            </a:extLst>
          </p:cNvPr>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b="1">
                <a:solidFill>
                  <a:schemeClr val="bg1"/>
                </a:solidFill>
              </a:rPr>
              <a:t>Motivation &amp; Contribution</a:t>
            </a:r>
            <a:endParaRPr lang="en-US" b="1" dirty="0">
              <a:solidFill>
                <a:schemeClr val="bg1"/>
              </a:solidFill>
            </a:endParaRPr>
          </a:p>
        </p:txBody>
      </p:sp>
    </p:spTree>
    <p:extLst>
      <p:ext uri="{BB962C8B-B14F-4D97-AF65-F5344CB8AC3E}">
        <p14:creationId xmlns:p14="http://schemas.microsoft.com/office/powerpoint/2010/main" val="900068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7D1224-D202-8E4E-861F-979E957DE216}"/>
              </a:ext>
            </a:extLst>
          </p:cNvPr>
          <p:cNvSpPr txBox="1"/>
          <p:nvPr/>
        </p:nvSpPr>
        <p:spPr>
          <a:xfrm>
            <a:off x="877078" y="933061"/>
            <a:ext cx="9825133" cy="3693319"/>
          </a:xfrm>
          <a:prstGeom prst="rect">
            <a:avLst/>
          </a:prstGeom>
          <a:noFill/>
        </p:spPr>
        <p:txBody>
          <a:bodyPr wrap="square">
            <a:spAutoFit/>
          </a:bodyPr>
          <a:lstStyle/>
          <a:p>
            <a:pPr>
              <a:buNone/>
            </a:pPr>
            <a:r>
              <a:rPr lang="en-US" b="1" dirty="0"/>
              <a:t>The Interpretation Problem</a:t>
            </a:r>
          </a:p>
          <a:p>
            <a:pPr>
              <a:buNone/>
            </a:pPr>
            <a:r>
              <a:rPr lang="en-US" b="1" dirty="0"/>
              <a:t>The same rate surprise can have different market implications.</a:t>
            </a:r>
          </a:p>
          <a:p>
            <a:pPr>
              <a:buNone/>
            </a:pPr>
            <a:endParaRPr lang="en-US" dirty="0"/>
          </a:p>
          <a:p>
            <a:pPr>
              <a:buNone/>
            </a:pPr>
            <a:r>
              <a:rPr lang="en-US" dirty="0"/>
              <a:t>A surprise rate increase can reflect:</a:t>
            </a:r>
          </a:p>
          <a:p>
            <a:pPr>
              <a:buNone/>
            </a:pPr>
            <a:r>
              <a:rPr lang="en-US" b="1" dirty="0"/>
              <a:t>Policy Shock</a:t>
            </a:r>
            <a:br>
              <a:rPr lang="en-US" dirty="0"/>
            </a:br>
            <a:r>
              <a:rPr lang="en-US" dirty="0"/>
              <a:t>Higher rates → tighter financial conditions → ↓ equity prices</a:t>
            </a:r>
          </a:p>
          <a:p>
            <a:pPr>
              <a:buNone/>
            </a:pPr>
            <a:r>
              <a:rPr lang="en-US" b="1" dirty="0"/>
              <a:t>Information Shock</a:t>
            </a:r>
            <a:br>
              <a:rPr lang="en-US" dirty="0"/>
            </a:br>
            <a:r>
              <a:rPr lang="en-US" dirty="0"/>
              <a:t>Fed reveals stronger economic fundamentals → improved growth expectations → ↑ equity prices</a:t>
            </a:r>
          </a:p>
          <a:p>
            <a:pPr>
              <a:buNone/>
            </a:pPr>
            <a:r>
              <a:rPr lang="en-US" dirty="0"/>
              <a:t>This distinction is central to the proposal's comparison between text-based information/policy measures and the structural </a:t>
            </a:r>
            <a:r>
              <a:rPr lang="en-US" dirty="0" err="1"/>
              <a:t>Jarociński</a:t>
            </a:r>
            <a:r>
              <a:rPr lang="en-US" dirty="0"/>
              <a:t>–Karadi shocks. </a:t>
            </a:r>
          </a:p>
          <a:p>
            <a:pPr>
              <a:buNone/>
            </a:pPr>
            <a:endParaRPr lang="en-US" dirty="0"/>
          </a:p>
          <a:p>
            <a:pPr>
              <a:buNone/>
            </a:pPr>
            <a:r>
              <a:rPr lang="en-US" b="1" dirty="0"/>
              <a:t>Therefore:</a:t>
            </a:r>
            <a:br>
              <a:rPr lang="en-US" dirty="0"/>
            </a:br>
            <a:r>
              <a:rPr lang="en-US" dirty="0"/>
              <a:t>Looking only at the rate surprise may miss an important part of the announcement.</a:t>
            </a:r>
          </a:p>
        </p:txBody>
      </p:sp>
      <p:sp>
        <p:nvSpPr>
          <p:cNvPr id="5" name="Rectangle 4">
            <a:extLst>
              <a:ext uri="{FF2B5EF4-FFF2-40B4-BE49-F238E27FC236}">
                <a16:creationId xmlns:a16="http://schemas.microsoft.com/office/drawing/2014/main" id="{69EF71B3-9DBE-DF22-E986-73A6CF90BD8D}"/>
              </a:ext>
            </a:extLst>
          </p:cNvPr>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b="1">
                <a:solidFill>
                  <a:schemeClr val="bg1"/>
                </a:solidFill>
              </a:rPr>
              <a:t>Motivation &amp; Contribution</a:t>
            </a:r>
            <a:endParaRPr lang="en-US" b="1" dirty="0">
              <a:solidFill>
                <a:schemeClr val="bg1"/>
              </a:solidFill>
            </a:endParaRPr>
          </a:p>
        </p:txBody>
      </p:sp>
    </p:spTree>
    <p:extLst>
      <p:ext uri="{BB962C8B-B14F-4D97-AF65-F5344CB8AC3E}">
        <p14:creationId xmlns:p14="http://schemas.microsoft.com/office/powerpoint/2010/main" val="37803150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3" name="TextBox 2"/>
          <p:cNvSpPr txBox="1"/>
          <p:nvPr/>
        </p:nvSpPr>
        <p:spPr>
          <a:xfrm>
            <a:off x="411480" y="118872"/>
            <a:ext cx="1895968" cy="507831"/>
          </a:xfrm>
          <a:prstGeom prst="rect">
            <a:avLst/>
          </a:prstGeom>
          <a:noFill/>
        </p:spPr>
        <p:txBody>
          <a:bodyPr wrap="none">
            <a:spAutoFit/>
          </a:bodyPr>
          <a:lstStyle/>
          <a:p>
            <a:pPr>
              <a:defRPr sz="2700" b="1">
                <a:solidFill>
                  <a:srgbClr val="990022"/>
                </a:solidFill>
                <a:latin typeface="Aptos Display"/>
              </a:defRPr>
            </a:pPr>
            <a:r>
              <a:rPr lang="en-US" dirty="0">
                <a:solidFill>
                  <a:schemeClr val="bg1"/>
                </a:solidFill>
                <a:latin typeface="+mj-lt"/>
              </a:rPr>
              <a:t>Who Cares?</a:t>
            </a:r>
          </a:p>
        </p:txBody>
      </p:sp>
      <p:sp>
        <p:nvSpPr>
          <p:cNvPr id="5" name="TextBox 4"/>
          <p:cNvSpPr txBox="1"/>
          <p:nvPr/>
        </p:nvSpPr>
        <p:spPr>
          <a:xfrm>
            <a:off x="594360" y="923731"/>
            <a:ext cx="11000232" cy="600164"/>
          </a:xfrm>
          <a:prstGeom prst="rect">
            <a:avLst/>
          </a:prstGeom>
          <a:noFill/>
        </p:spPr>
        <p:txBody>
          <a:bodyPr wrap="square">
            <a:spAutoFit/>
          </a:bodyPr>
          <a:lstStyle/>
          <a:p>
            <a:pPr>
              <a:defRPr sz="1800" b="1">
                <a:solidFill>
                  <a:srgbClr val="304155"/>
                </a:solidFill>
                <a:latin typeface="Aptos"/>
              </a:defRPr>
            </a:pPr>
            <a:r>
              <a:rPr dirty="0">
                <a:latin typeface="+mj-lt"/>
              </a:rPr>
              <a:t>Everyone does—not only academics, policymakers, and investors.</a:t>
            </a:r>
          </a:p>
          <a:p>
            <a:pPr>
              <a:defRPr sz="1500">
                <a:solidFill>
                  <a:srgbClr val="5F5F5F"/>
                </a:solidFill>
                <a:latin typeface="Aptos"/>
              </a:defRPr>
            </a:pPr>
            <a:r>
              <a:rPr dirty="0">
                <a:latin typeface="+mj-lt"/>
              </a:rPr>
              <a:t>Monetary policy affects interest rates, mortgages, car loans, retirement savings, and the broader economy.</a:t>
            </a:r>
          </a:p>
        </p:txBody>
      </p:sp>
      <p:sp>
        <p:nvSpPr>
          <p:cNvPr id="6" name="Rounded Rectangle 5"/>
          <p:cNvSpPr/>
          <p:nvPr/>
        </p:nvSpPr>
        <p:spPr>
          <a:xfrm>
            <a:off x="594360" y="2148840"/>
            <a:ext cx="3496970" cy="3886200"/>
          </a:xfrm>
          <a:prstGeom prst="roundRect">
            <a:avLst/>
          </a:prstGeom>
          <a:solidFill>
            <a:srgbClr val="FCFCFC"/>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7" name="Rectangle 6"/>
          <p:cNvSpPr/>
          <p:nvPr/>
        </p:nvSpPr>
        <p:spPr>
          <a:xfrm>
            <a:off x="594360" y="2148840"/>
            <a:ext cx="82296" cy="388620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8" name="TextBox 7"/>
          <p:cNvSpPr txBox="1"/>
          <p:nvPr/>
        </p:nvSpPr>
        <p:spPr>
          <a:xfrm>
            <a:off x="868680" y="2350008"/>
            <a:ext cx="1202830" cy="369332"/>
          </a:xfrm>
          <a:prstGeom prst="rect">
            <a:avLst/>
          </a:prstGeom>
          <a:noFill/>
        </p:spPr>
        <p:txBody>
          <a:bodyPr wrap="none">
            <a:spAutoFit/>
          </a:bodyPr>
          <a:lstStyle/>
          <a:p>
            <a:pPr>
              <a:defRPr sz="1800" b="1">
                <a:solidFill>
                  <a:srgbClr val="CC0033"/>
                </a:solidFill>
                <a:latin typeface="Aptos"/>
              </a:defRPr>
            </a:pPr>
            <a:r>
              <a:rPr dirty="0">
                <a:latin typeface="+mj-lt"/>
              </a:rPr>
              <a:t>Academic</a:t>
            </a:r>
            <a:r>
              <a:rPr lang="en-US" dirty="0">
                <a:latin typeface="+mj-lt"/>
              </a:rPr>
              <a:t>s</a:t>
            </a:r>
            <a:endParaRPr dirty="0">
              <a:latin typeface="+mj-lt"/>
            </a:endParaRPr>
          </a:p>
        </p:txBody>
      </p:sp>
      <p:sp>
        <p:nvSpPr>
          <p:cNvPr id="9" name="TextBox 8"/>
          <p:cNvSpPr txBox="1"/>
          <p:nvPr/>
        </p:nvSpPr>
        <p:spPr>
          <a:xfrm>
            <a:off x="868680" y="2898648"/>
            <a:ext cx="2994050" cy="1323439"/>
          </a:xfrm>
          <a:prstGeom prst="rect">
            <a:avLst/>
          </a:prstGeom>
          <a:noFill/>
        </p:spPr>
        <p:txBody>
          <a:bodyPr wrap="square">
            <a:spAutoFit/>
          </a:bodyPr>
          <a:lstStyle/>
          <a:p>
            <a:pPr>
              <a:spcAft>
                <a:spcPts val="1500"/>
              </a:spcAft>
              <a:defRPr sz="1400">
                <a:solidFill>
                  <a:srgbClr val="232323"/>
                </a:solidFill>
                <a:latin typeface="Aptos"/>
              </a:defRPr>
            </a:pPr>
            <a:r>
              <a:rPr lang="en-US" sz="1600" dirty="0">
                <a:solidFill>
                  <a:srgbClr val="232323"/>
                </a:solidFill>
                <a:latin typeface="+mj-lt"/>
              </a:rPr>
              <a:t>Connects monetary-policy shock identification with textual analysis and asks whether text provides information beyond conventional policy surprises.</a:t>
            </a:r>
            <a:endParaRPr sz="1600" dirty="0">
              <a:latin typeface="+mj-lt"/>
            </a:endParaRPr>
          </a:p>
        </p:txBody>
      </p:sp>
      <p:sp>
        <p:nvSpPr>
          <p:cNvPr id="10" name="Rounded Rectangle 9"/>
          <p:cNvSpPr/>
          <p:nvPr/>
        </p:nvSpPr>
        <p:spPr>
          <a:xfrm>
            <a:off x="4347362" y="2148840"/>
            <a:ext cx="3496970" cy="3886200"/>
          </a:xfrm>
          <a:prstGeom prst="roundRect">
            <a:avLst/>
          </a:prstGeom>
          <a:solidFill>
            <a:srgbClr val="FCFCFC"/>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1" name="Rectangle 10"/>
          <p:cNvSpPr/>
          <p:nvPr/>
        </p:nvSpPr>
        <p:spPr>
          <a:xfrm>
            <a:off x="4347362" y="2148840"/>
            <a:ext cx="82296" cy="3886200"/>
          </a:xfrm>
          <a:prstGeom prst="rect">
            <a:avLst/>
          </a:prstGeom>
          <a:solidFill>
            <a:srgbClr val="365EA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2" name="TextBox 11"/>
          <p:cNvSpPr txBox="1"/>
          <p:nvPr/>
        </p:nvSpPr>
        <p:spPr>
          <a:xfrm>
            <a:off x="4621682" y="2350008"/>
            <a:ext cx="1542410" cy="369332"/>
          </a:xfrm>
          <a:prstGeom prst="rect">
            <a:avLst/>
          </a:prstGeom>
          <a:noFill/>
        </p:spPr>
        <p:txBody>
          <a:bodyPr wrap="none">
            <a:spAutoFit/>
          </a:bodyPr>
          <a:lstStyle/>
          <a:p>
            <a:pPr>
              <a:defRPr sz="1800" b="1">
                <a:solidFill>
                  <a:srgbClr val="365EAB"/>
                </a:solidFill>
                <a:latin typeface="Aptos"/>
              </a:defRPr>
            </a:pPr>
            <a:r>
              <a:rPr dirty="0">
                <a:latin typeface="+mj-lt"/>
              </a:rPr>
              <a:t>Policy </a:t>
            </a:r>
            <a:r>
              <a:rPr lang="en-US" dirty="0">
                <a:latin typeface="+mj-lt"/>
              </a:rPr>
              <a:t>makers </a:t>
            </a:r>
            <a:endParaRPr dirty="0">
              <a:latin typeface="+mj-lt"/>
            </a:endParaRPr>
          </a:p>
        </p:txBody>
      </p:sp>
      <p:sp>
        <p:nvSpPr>
          <p:cNvPr id="13" name="TextBox 12"/>
          <p:cNvSpPr txBox="1"/>
          <p:nvPr/>
        </p:nvSpPr>
        <p:spPr>
          <a:xfrm>
            <a:off x="4621682" y="2898648"/>
            <a:ext cx="2994050" cy="1077218"/>
          </a:xfrm>
          <a:prstGeom prst="rect">
            <a:avLst/>
          </a:prstGeom>
          <a:noFill/>
        </p:spPr>
        <p:txBody>
          <a:bodyPr wrap="square">
            <a:spAutoFit/>
          </a:bodyPr>
          <a:lstStyle/>
          <a:p>
            <a:pPr>
              <a:spcAft>
                <a:spcPts val="1500"/>
              </a:spcAft>
              <a:defRPr sz="1400">
                <a:solidFill>
                  <a:srgbClr val="232323"/>
                </a:solidFill>
                <a:latin typeface="Aptos"/>
              </a:defRPr>
            </a:pPr>
            <a:r>
              <a:rPr lang="en-US" sz="1600" dirty="0">
                <a:solidFill>
                  <a:srgbClr val="232323"/>
                </a:solidFill>
                <a:latin typeface="+mj-lt"/>
              </a:rPr>
              <a:t>Helps distinguish the market effects of </a:t>
            </a:r>
            <a:r>
              <a:rPr lang="en-US" sz="1600" b="1" dirty="0">
                <a:solidFill>
                  <a:srgbClr val="232323"/>
                </a:solidFill>
                <a:latin typeface="+mj-lt"/>
              </a:rPr>
              <a:t>policy actions</a:t>
            </a:r>
            <a:r>
              <a:rPr lang="en-US" sz="1600" dirty="0">
                <a:solidFill>
                  <a:srgbClr val="232323"/>
                </a:solidFill>
                <a:latin typeface="+mj-lt"/>
              </a:rPr>
              <a:t> from the effects of the Fed's </a:t>
            </a:r>
            <a:r>
              <a:rPr lang="en-US" sz="1600" b="1" dirty="0">
                <a:solidFill>
                  <a:srgbClr val="232323"/>
                </a:solidFill>
                <a:latin typeface="+mj-lt"/>
              </a:rPr>
              <a:t>economic assessment and communication</a:t>
            </a:r>
            <a:r>
              <a:rPr lang="en-US" sz="1600" dirty="0">
                <a:solidFill>
                  <a:srgbClr val="232323"/>
                </a:solidFill>
                <a:latin typeface="+mj-lt"/>
              </a:rPr>
              <a:t>.</a:t>
            </a:r>
            <a:endParaRPr sz="1600" dirty="0">
              <a:latin typeface="+mj-lt"/>
            </a:endParaRPr>
          </a:p>
        </p:txBody>
      </p:sp>
      <p:sp>
        <p:nvSpPr>
          <p:cNvPr id="14" name="Rounded Rectangle 13"/>
          <p:cNvSpPr/>
          <p:nvPr/>
        </p:nvSpPr>
        <p:spPr>
          <a:xfrm>
            <a:off x="8100364" y="2148840"/>
            <a:ext cx="3496970" cy="3886200"/>
          </a:xfrm>
          <a:prstGeom prst="roundRect">
            <a:avLst/>
          </a:prstGeom>
          <a:solidFill>
            <a:srgbClr val="FCFCFC"/>
          </a:solidFill>
          <a:ln w="12700">
            <a:solidFill>
              <a:srgbClr val="D7D7D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5" name="Rectangle 14"/>
          <p:cNvSpPr/>
          <p:nvPr/>
        </p:nvSpPr>
        <p:spPr>
          <a:xfrm>
            <a:off x="8100364" y="2148840"/>
            <a:ext cx="82296" cy="3886200"/>
          </a:xfrm>
          <a:prstGeom prst="rect">
            <a:avLst/>
          </a:prstGeom>
          <a:solidFill>
            <a:srgbClr val="B7841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sp>
        <p:nvSpPr>
          <p:cNvPr id="16" name="TextBox 15"/>
          <p:cNvSpPr txBox="1"/>
          <p:nvPr/>
        </p:nvSpPr>
        <p:spPr>
          <a:xfrm>
            <a:off x="8374684" y="2350008"/>
            <a:ext cx="2322495" cy="369332"/>
          </a:xfrm>
          <a:prstGeom prst="rect">
            <a:avLst/>
          </a:prstGeom>
          <a:noFill/>
        </p:spPr>
        <p:txBody>
          <a:bodyPr wrap="none">
            <a:spAutoFit/>
          </a:bodyPr>
          <a:lstStyle/>
          <a:p>
            <a:pPr>
              <a:defRPr sz="1800" b="1">
                <a:solidFill>
                  <a:srgbClr val="B7841C"/>
                </a:solidFill>
                <a:latin typeface="Aptos"/>
              </a:defRPr>
            </a:pPr>
            <a:r>
              <a:rPr dirty="0">
                <a:latin typeface="+mj-lt"/>
              </a:rPr>
              <a:t>Investor &amp; </a:t>
            </a:r>
            <a:r>
              <a:rPr lang="en-US" dirty="0">
                <a:latin typeface="+mj-lt"/>
              </a:rPr>
              <a:t>households</a:t>
            </a:r>
            <a:endParaRPr dirty="0">
              <a:latin typeface="+mj-lt"/>
            </a:endParaRPr>
          </a:p>
        </p:txBody>
      </p:sp>
      <p:sp>
        <p:nvSpPr>
          <p:cNvPr id="17" name="TextBox 16"/>
          <p:cNvSpPr txBox="1"/>
          <p:nvPr/>
        </p:nvSpPr>
        <p:spPr>
          <a:xfrm>
            <a:off x="8374684" y="2898648"/>
            <a:ext cx="2994050" cy="3239348"/>
          </a:xfrm>
          <a:prstGeom prst="rect">
            <a:avLst/>
          </a:prstGeom>
          <a:noFill/>
        </p:spPr>
        <p:txBody>
          <a:bodyPr wrap="square">
            <a:spAutoFit/>
          </a:bodyPr>
          <a:lstStyle/>
          <a:p>
            <a:pPr>
              <a:spcAft>
                <a:spcPts val="1500"/>
              </a:spcAft>
              <a:defRPr sz="1400">
                <a:solidFill>
                  <a:srgbClr val="232323"/>
                </a:solidFill>
                <a:latin typeface="Aptos"/>
              </a:defRPr>
            </a:pPr>
            <a:r>
              <a:rPr lang="en-US" sz="1600" dirty="0">
                <a:solidFill>
                  <a:srgbClr val="232323"/>
                </a:solidFill>
                <a:latin typeface="+mj-lt"/>
              </a:rPr>
              <a:t>Helps explain why apparently similar Fed decisions can produce different - and sometimes opposite - market reactions across equities, Treasuries, credit, the dollar, volatility, and other assets. </a:t>
            </a:r>
          </a:p>
          <a:p>
            <a:pPr>
              <a:spcAft>
                <a:spcPts val="1500"/>
              </a:spcAft>
              <a:defRPr sz="1400">
                <a:solidFill>
                  <a:srgbClr val="232323"/>
                </a:solidFill>
                <a:latin typeface="Aptos"/>
              </a:defRPr>
            </a:pPr>
            <a:r>
              <a:rPr lang="en-US" sz="1600" dirty="0">
                <a:solidFill>
                  <a:srgbClr val="232323"/>
                </a:solidFill>
                <a:latin typeface="+mj-lt"/>
              </a:rPr>
              <a:t>Fed communication ultimately transmits through financial markets into borrowing costs, savings, investment, and household wealth.</a:t>
            </a:r>
            <a:endParaRPr sz="1600" dirty="0">
              <a:latin typeface="+mj-lt"/>
            </a:endParaRPr>
          </a:p>
        </p:txBody>
      </p:sp>
      <p:sp>
        <p:nvSpPr>
          <p:cNvPr id="19" name="TextBox 18">
            <a:extLst>
              <a:ext uri="{FF2B5EF4-FFF2-40B4-BE49-F238E27FC236}">
                <a16:creationId xmlns:a16="http://schemas.microsoft.com/office/drawing/2014/main" id="{0E3BAD6F-AC6D-6586-4C25-F5A96C435052}"/>
              </a:ext>
            </a:extLst>
          </p:cNvPr>
          <p:cNvSpPr txBox="1"/>
          <p:nvPr/>
        </p:nvSpPr>
        <p:spPr>
          <a:xfrm>
            <a:off x="594359" y="6336819"/>
            <a:ext cx="11134221" cy="461665"/>
          </a:xfrm>
          <a:prstGeom prst="rect">
            <a:avLst/>
          </a:prstGeom>
          <a:noFill/>
        </p:spPr>
        <p:txBody>
          <a:bodyPr wrap="square">
            <a:spAutoFit/>
          </a:bodyPr>
          <a:lstStyle/>
          <a:p>
            <a:r>
              <a:rPr lang="en-US" sz="2400" b="1" dirty="0">
                <a:latin typeface="+mj-lt"/>
              </a:rPr>
              <a:t>The market reacts not only to what the Fed does, but also to what the Fed reveals.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66F0222-1327-A76B-6D6A-A7FFA576F0D6}"/>
              </a:ext>
            </a:extLst>
          </p:cNvPr>
          <p:cNvSpPr txBox="1"/>
          <p:nvPr/>
        </p:nvSpPr>
        <p:spPr>
          <a:xfrm>
            <a:off x="1238980" y="2782669"/>
            <a:ext cx="6183350" cy="646331"/>
          </a:xfrm>
          <a:prstGeom prst="rect">
            <a:avLst/>
          </a:prstGeom>
          <a:noFill/>
        </p:spPr>
        <p:txBody>
          <a:bodyPr wrap="square">
            <a:spAutoFit/>
          </a:bodyPr>
          <a:lstStyle/>
          <a:p>
            <a:r>
              <a:rPr lang="en-US" sz="3600" b="1" i="0" u="none" strike="noStrike" baseline="0" dirty="0">
                <a:latin typeface="Arial-BoldMT"/>
              </a:rPr>
              <a:t>Literature Review</a:t>
            </a:r>
            <a:endParaRPr lang="en-US" dirty="0"/>
          </a:p>
        </p:txBody>
      </p:sp>
      <p:sp>
        <p:nvSpPr>
          <p:cNvPr id="9" name="Rectangle 8">
            <a:extLst>
              <a:ext uri="{FF2B5EF4-FFF2-40B4-BE49-F238E27FC236}">
                <a16:creationId xmlns:a16="http://schemas.microsoft.com/office/drawing/2014/main" id="{37976177-BC82-ECC3-7248-EBBBA50F2B86}"/>
              </a:ext>
            </a:extLst>
          </p:cNvPr>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latin typeface="+mj-lt"/>
            </a:endParaRPr>
          </a:p>
        </p:txBody>
      </p:sp>
      <p:pic>
        <p:nvPicPr>
          <p:cNvPr id="7" name="Picture 6">
            <a:extLst>
              <a:ext uri="{FF2B5EF4-FFF2-40B4-BE49-F238E27FC236}">
                <a16:creationId xmlns:a16="http://schemas.microsoft.com/office/drawing/2014/main" id="{66B75E2F-97D9-853C-0652-8DFD78BA889A}"/>
              </a:ext>
            </a:extLst>
          </p:cNvPr>
          <p:cNvPicPr>
            <a:picLocks noChangeAspect="1"/>
          </p:cNvPicPr>
          <p:nvPr/>
        </p:nvPicPr>
        <p:blipFill>
          <a:blip r:embed="rId2"/>
          <a:stretch>
            <a:fillRect/>
          </a:stretch>
        </p:blipFill>
        <p:spPr>
          <a:xfrm>
            <a:off x="8290207" y="0"/>
            <a:ext cx="3971815" cy="6858000"/>
          </a:xfrm>
          <a:prstGeom prst="rect">
            <a:avLst/>
          </a:prstGeom>
        </p:spPr>
      </p:pic>
    </p:spTree>
    <p:extLst>
      <p:ext uri="{BB962C8B-B14F-4D97-AF65-F5344CB8AC3E}">
        <p14:creationId xmlns:p14="http://schemas.microsoft.com/office/powerpoint/2010/main" val="13595784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CDC5C9D-8F4B-D102-83FD-95414FB5F6C8}"/>
              </a:ext>
            </a:extLst>
          </p:cNvPr>
          <p:cNvSpPr txBox="1"/>
          <p:nvPr/>
        </p:nvSpPr>
        <p:spPr>
          <a:xfrm>
            <a:off x="1216414" y="1174095"/>
            <a:ext cx="9586451" cy="923330"/>
          </a:xfrm>
          <a:prstGeom prst="rect">
            <a:avLst/>
          </a:prstGeom>
          <a:noFill/>
        </p:spPr>
        <p:txBody>
          <a:bodyPr wrap="square">
            <a:spAutoFit/>
          </a:bodyPr>
          <a:lstStyle/>
          <a:p>
            <a:r>
              <a:rPr lang="en-US" dirty="0">
                <a:latin typeface="Calibri"/>
              </a:rPr>
              <a:t>Expected vs. Unexpected​→Target vs. Path​→Communication​→Policy vs. Information​→Asset Prices​</a:t>
            </a:r>
          </a:p>
          <a:p>
            <a:endParaRPr lang="en-US" dirty="0"/>
          </a:p>
          <a:p>
            <a:endParaRPr lang="en-US" b="1" dirty="0"/>
          </a:p>
        </p:txBody>
      </p:sp>
      <p:graphicFrame>
        <p:nvGraphicFramePr>
          <p:cNvPr id="5" name="Table 4">
            <a:extLst>
              <a:ext uri="{FF2B5EF4-FFF2-40B4-BE49-F238E27FC236}">
                <a16:creationId xmlns:a16="http://schemas.microsoft.com/office/drawing/2014/main" id="{1640B768-6F8B-7B22-9BB0-82B7E2F87B6D}"/>
              </a:ext>
            </a:extLst>
          </p:cNvPr>
          <p:cNvGraphicFramePr>
            <a:graphicFrameLocks noGrp="1"/>
          </p:cNvGraphicFramePr>
          <p:nvPr>
            <p:extLst>
              <p:ext uri="{D42A27DB-BD31-4B8C-83A1-F6EECF244321}">
                <p14:modId xmlns:p14="http://schemas.microsoft.com/office/powerpoint/2010/main" val="4126207907"/>
              </p:ext>
            </p:extLst>
          </p:nvPr>
        </p:nvGraphicFramePr>
        <p:xfrm>
          <a:off x="619760" y="1635760"/>
          <a:ext cx="10779760" cy="5008880"/>
        </p:xfrm>
        <a:graphic>
          <a:graphicData uri="http://schemas.openxmlformats.org/drawingml/2006/table">
            <a:tbl>
              <a:tblPr>
                <a:tableStyleId>{5C22544A-7EE6-4342-B048-85BDC9FD1C3A}</a:tableStyleId>
              </a:tblPr>
              <a:tblGrid>
                <a:gridCol w="2152588">
                  <a:extLst>
                    <a:ext uri="{9D8B030D-6E8A-4147-A177-3AD203B41FA5}">
                      <a16:colId xmlns:a16="http://schemas.microsoft.com/office/drawing/2014/main" val="472488637"/>
                    </a:ext>
                  </a:extLst>
                </a:gridCol>
                <a:gridCol w="454062">
                  <a:extLst>
                    <a:ext uri="{9D8B030D-6E8A-4147-A177-3AD203B41FA5}">
                      <a16:colId xmlns:a16="http://schemas.microsoft.com/office/drawing/2014/main" val="3445508312"/>
                    </a:ext>
                  </a:extLst>
                </a:gridCol>
                <a:gridCol w="8173110">
                  <a:extLst>
                    <a:ext uri="{9D8B030D-6E8A-4147-A177-3AD203B41FA5}">
                      <a16:colId xmlns:a16="http://schemas.microsoft.com/office/drawing/2014/main" val="393147145"/>
                    </a:ext>
                  </a:extLst>
                </a:gridCol>
              </a:tblGrid>
              <a:tr h="313055">
                <a:tc>
                  <a:txBody>
                    <a:bodyPr/>
                    <a:lstStyle/>
                    <a:p>
                      <a:pPr algn="ctr" fontAlgn="ctr">
                        <a:buNone/>
                      </a:pPr>
                      <a:r>
                        <a:rPr lang="en-US" sz="1400" u="none" strike="noStrike">
                          <a:effectLst/>
                          <a:latin typeface="Calibri"/>
                        </a:rPr>
                        <a:t>Author(s)</a:t>
                      </a:r>
                      <a:endParaRPr lang="en-US" sz="14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buNone/>
                      </a:pPr>
                      <a:r>
                        <a:rPr lang="en-US" sz="1400" u="none" strike="noStrike">
                          <a:effectLst/>
                          <a:latin typeface="Calibri"/>
                        </a:rPr>
                        <a:t>Year</a:t>
                      </a:r>
                      <a:endParaRPr lang="en-US" sz="14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buNone/>
                      </a:pPr>
                      <a:r>
                        <a:rPr lang="en-US" sz="1400" u="none" strike="noStrike">
                          <a:effectLst/>
                          <a:latin typeface="Calibri"/>
                        </a:rPr>
                        <a:t>Contribution</a:t>
                      </a:r>
                      <a:endParaRPr lang="en-US" sz="1400" b="1"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568836436"/>
                  </a:ext>
                </a:extLst>
              </a:tr>
              <a:tr h="313055">
                <a:tc>
                  <a:txBody>
                    <a:bodyPr/>
                    <a:lstStyle/>
                    <a:p>
                      <a:pPr algn="l" fontAlgn="ctr">
                        <a:buNone/>
                      </a:pPr>
                      <a:r>
                        <a:rPr lang="en-US" sz="1400" u="none" strike="noStrike">
                          <a:effectLst/>
                          <a:latin typeface="Calibri"/>
                        </a:rPr>
                        <a:t>Kuttner</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2001</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Fed funds futures isolate the unexpected component of target-rate changes.</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733770644"/>
                  </a:ext>
                </a:extLst>
              </a:tr>
              <a:tr h="313055">
                <a:tc>
                  <a:txBody>
                    <a:bodyPr/>
                    <a:lstStyle/>
                    <a:p>
                      <a:pPr algn="l" fontAlgn="ctr">
                        <a:buNone/>
                      </a:pPr>
                      <a:r>
                        <a:rPr lang="en-US" sz="1400" u="none" strike="noStrike">
                          <a:effectLst/>
                          <a:latin typeface="Calibri"/>
                        </a:rPr>
                        <a:t>Gürkaynak, Sack &amp; Swanson</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2005</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FOMC surprises contain distinct Target and Path factors; one policy surprise is insufficient.</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81717518"/>
                  </a:ext>
                </a:extLst>
              </a:tr>
              <a:tr h="626110">
                <a:tc>
                  <a:txBody>
                    <a:bodyPr/>
                    <a:lstStyle/>
                    <a:p>
                      <a:pPr algn="l" fontAlgn="ctr">
                        <a:buNone/>
                      </a:pPr>
                      <a:r>
                        <a:rPr lang="en-US" sz="1400" u="none" strike="noStrike" dirty="0">
                          <a:effectLst/>
                          <a:latin typeface="Calibri"/>
                        </a:rPr>
                        <a:t>Bernanke &amp; Kuttner</a:t>
                      </a:r>
                      <a:endParaRPr lang="en-US" sz="14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dirty="0">
                          <a:effectLst/>
                          <a:latin typeface="Calibri"/>
                        </a:rPr>
                        <a:t>2005</a:t>
                      </a:r>
                      <a:endParaRPr lang="en-US" sz="14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Equity prices respond strongly to unexpected monetary-policy changes, establishing an important asset-price transmission channel.</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377462596"/>
                  </a:ext>
                </a:extLst>
              </a:tr>
              <a:tr h="626110">
                <a:tc>
                  <a:txBody>
                    <a:bodyPr/>
                    <a:lstStyle/>
                    <a:p>
                      <a:pPr algn="l" fontAlgn="ctr">
                        <a:buNone/>
                      </a:pPr>
                      <a:r>
                        <a:rPr lang="en-US" sz="1400" u="none" strike="noStrike">
                          <a:effectLst/>
                          <a:latin typeface="Calibri"/>
                        </a:rPr>
                        <a:t>Gürkaynak, Sack &amp; Swanson</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2005</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FOMC statements contain information about the future path of policy and can strongly affect longer-term asset prices.</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84789152"/>
                  </a:ext>
                </a:extLst>
              </a:tr>
              <a:tr h="626110">
                <a:tc>
                  <a:txBody>
                    <a:bodyPr/>
                    <a:lstStyle/>
                    <a:p>
                      <a:pPr algn="l" fontAlgn="ctr">
                        <a:buNone/>
                      </a:pPr>
                      <a:r>
                        <a:rPr lang="en-US" sz="1400" u="none" strike="noStrike">
                          <a:effectLst/>
                          <a:latin typeface="Calibri"/>
                        </a:rPr>
                        <a:t>Lucca &amp; Trebbi</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2009</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Quantitative analysis of FOMC communication shows that statement language contains information relevant to Treasury yields.</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58663910"/>
                  </a:ext>
                </a:extLst>
              </a:tr>
              <a:tr h="626110">
                <a:tc>
                  <a:txBody>
                    <a:bodyPr/>
                    <a:lstStyle/>
                    <a:p>
                      <a:pPr algn="l" fontAlgn="ctr">
                        <a:buNone/>
                      </a:pPr>
                      <a:r>
                        <a:rPr lang="en-US" sz="1400" u="none" strike="noStrike">
                          <a:effectLst/>
                          <a:latin typeface="Calibri"/>
                        </a:rPr>
                        <a:t>Hansen &amp; McMahon</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2016</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Textual analysis can identify different dimensions of central-bank communication and their effects on markets.</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952637425"/>
                  </a:ext>
                </a:extLst>
              </a:tr>
              <a:tr h="313055">
                <a:tc>
                  <a:txBody>
                    <a:bodyPr/>
                    <a:lstStyle/>
                    <a:p>
                      <a:pPr algn="l" fontAlgn="ctr">
                        <a:buNone/>
                      </a:pPr>
                      <a:r>
                        <a:rPr lang="en-US" sz="1400" u="none" strike="noStrike">
                          <a:effectLst/>
                          <a:latin typeface="Calibri"/>
                        </a:rPr>
                        <a:t>Nakamura &amp; Steinsson</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2018</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High-frequency FOMC surprises can contain a central-bank information effect, not merely a policy shock.</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021222249"/>
                  </a:ext>
                </a:extLst>
              </a:tr>
              <a:tr h="313055">
                <a:tc>
                  <a:txBody>
                    <a:bodyPr/>
                    <a:lstStyle/>
                    <a:p>
                      <a:pPr algn="l" fontAlgn="ctr">
                        <a:buNone/>
                      </a:pPr>
                      <a:r>
                        <a:rPr lang="en-US" sz="1400" u="none" strike="noStrike">
                          <a:effectLst/>
                          <a:latin typeface="Calibri"/>
                        </a:rPr>
                        <a:t>Jarociński &amp; Karadi</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2020</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Interest-rate and stock-price co-movement can separate conventional MP shocks from CBI shocks.</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065468373"/>
                  </a:ext>
                </a:extLst>
              </a:tr>
              <a:tr h="313055">
                <a:tc>
                  <a:txBody>
                    <a:bodyPr/>
                    <a:lstStyle/>
                    <a:p>
                      <a:pPr algn="l" fontAlgn="ctr">
                        <a:buNone/>
                      </a:pPr>
                      <a:r>
                        <a:rPr lang="en-US" sz="1400" u="none" strike="noStrike">
                          <a:effectLst/>
                          <a:latin typeface="Calibri"/>
                        </a:rPr>
                        <a:t>Hansen, McMahon &amp; Tong</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2020</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Changes in FOMC communication affect how financial markets understand and respond to monetary policy.</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68910971"/>
                  </a:ext>
                </a:extLst>
              </a:tr>
              <a:tr h="626110">
                <a:tc>
                  <a:txBody>
                    <a:bodyPr/>
                    <a:lstStyle/>
                    <a:p>
                      <a:pPr algn="l" fontAlgn="ctr">
                        <a:buNone/>
                      </a:pPr>
                      <a:r>
                        <a:rPr lang="en-US" sz="1400" u="none" strike="noStrike">
                          <a:effectLst/>
                          <a:latin typeface="Calibri"/>
                        </a:rPr>
                        <a:t>Bauer &amp; Swanson</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2023</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Some high-frequency surprises are predictable from pre-FOMC public information, motivating orthogonalized surprise measures. </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135551664"/>
                  </a:ext>
                </a:extLst>
              </a:tr>
            </a:tbl>
          </a:graphicData>
        </a:graphic>
      </p:graphicFrame>
      <p:sp>
        <p:nvSpPr>
          <p:cNvPr id="7" name="Rectangle 6">
            <a:extLst>
              <a:ext uri="{FF2B5EF4-FFF2-40B4-BE49-F238E27FC236}">
                <a16:creationId xmlns:a16="http://schemas.microsoft.com/office/drawing/2014/main" id="{5B071CD8-7D07-E4A4-3336-AD3701D85C10}"/>
              </a:ext>
            </a:extLst>
          </p:cNvPr>
          <p:cNvSpPr/>
          <p:nvPr/>
        </p:nvSpPr>
        <p:spPr>
          <a:xfrm>
            <a:off x="295273" y="29718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b="1" dirty="0">
                <a:latin typeface="Calibri"/>
              </a:rPr>
              <a:t>Literature Review part 1: </a:t>
            </a:r>
            <a:endParaRPr sz="2400" b="1" dirty="0"/>
          </a:p>
        </p:txBody>
      </p:sp>
    </p:spTree>
    <p:extLst>
      <p:ext uri="{BB962C8B-B14F-4D97-AF65-F5344CB8AC3E}">
        <p14:creationId xmlns:p14="http://schemas.microsoft.com/office/powerpoint/2010/main" val="10399995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71E1B67-3E83-E591-F26B-E432183C25A6}"/>
              </a:ext>
            </a:extLst>
          </p:cNvPr>
          <p:cNvSpPr txBox="1"/>
          <p:nvPr/>
        </p:nvSpPr>
        <p:spPr>
          <a:xfrm>
            <a:off x="781666" y="647770"/>
            <a:ext cx="10967881" cy="646331"/>
          </a:xfrm>
          <a:prstGeom prst="rect">
            <a:avLst/>
          </a:prstGeom>
          <a:noFill/>
        </p:spPr>
        <p:txBody>
          <a:bodyPr wrap="square">
            <a:spAutoFit/>
          </a:bodyPr>
          <a:lstStyle/>
          <a:p>
            <a:r>
              <a:rPr lang="en-US" dirty="0">
                <a:latin typeface="Calibri"/>
              </a:rPr>
              <a:t>From Monetary-Policy Shocks to Portfolio Reallocation FOMC Surprise​→MP vs. CBI​→Asset Prices​→Risk Perceptions​→Portfolio Reallocation</a:t>
            </a:r>
          </a:p>
        </p:txBody>
      </p:sp>
      <p:graphicFrame>
        <p:nvGraphicFramePr>
          <p:cNvPr id="4" name="Table 3">
            <a:extLst>
              <a:ext uri="{FF2B5EF4-FFF2-40B4-BE49-F238E27FC236}">
                <a16:creationId xmlns:a16="http://schemas.microsoft.com/office/drawing/2014/main" id="{D07B9976-7562-A6C9-CD84-191A5956523E}"/>
              </a:ext>
            </a:extLst>
          </p:cNvPr>
          <p:cNvGraphicFramePr>
            <a:graphicFrameLocks noGrp="1"/>
          </p:cNvGraphicFramePr>
          <p:nvPr>
            <p:extLst>
              <p:ext uri="{D42A27DB-BD31-4B8C-83A1-F6EECF244321}">
                <p14:modId xmlns:p14="http://schemas.microsoft.com/office/powerpoint/2010/main" val="2649683301"/>
              </p:ext>
            </p:extLst>
          </p:nvPr>
        </p:nvGraphicFramePr>
        <p:xfrm>
          <a:off x="1422400" y="1635760"/>
          <a:ext cx="10210799" cy="5069840"/>
        </p:xfrm>
        <a:graphic>
          <a:graphicData uri="http://schemas.openxmlformats.org/drawingml/2006/table">
            <a:tbl>
              <a:tblPr>
                <a:tableStyleId>{5C22544A-7EE6-4342-B048-85BDC9FD1C3A}</a:tableStyleId>
              </a:tblPr>
              <a:tblGrid>
                <a:gridCol w="2038974">
                  <a:extLst>
                    <a:ext uri="{9D8B030D-6E8A-4147-A177-3AD203B41FA5}">
                      <a16:colId xmlns:a16="http://schemas.microsoft.com/office/drawing/2014/main" val="740898783"/>
                    </a:ext>
                  </a:extLst>
                </a:gridCol>
                <a:gridCol w="430096">
                  <a:extLst>
                    <a:ext uri="{9D8B030D-6E8A-4147-A177-3AD203B41FA5}">
                      <a16:colId xmlns:a16="http://schemas.microsoft.com/office/drawing/2014/main" val="1729322474"/>
                    </a:ext>
                  </a:extLst>
                </a:gridCol>
                <a:gridCol w="7741729">
                  <a:extLst>
                    <a:ext uri="{9D8B030D-6E8A-4147-A177-3AD203B41FA5}">
                      <a16:colId xmlns:a16="http://schemas.microsoft.com/office/drawing/2014/main" val="2669958360"/>
                    </a:ext>
                  </a:extLst>
                </a:gridCol>
              </a:tblGrid>
              <a:tr h="316865">
                <a:tc>
                  <a:txBody>
                    <a:bodyPr/>
                    <a:lstStyle/>
                    <a:p>
                      <a:pPr algn="ctr" fontAlgn="ctr">
                        <a:buNone/>
                      </a:pPr>
                      <a:r>
                        <a:rPr lang="en-US" sz="1400" u="none" strike="noStrike">
                          <a:effectLst/>
                          <a:latin typeface="Calibri"/>
                        </a:rPr>
                        <a:t>Author(s)</a:t>
                      </a:r>
                      <a:endParaRPr lang="en-US" sz="14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buNone/>
                      </a:pPr>
                      <a:r>
                        <a:rPr lang="en-US" sz="1400" u="none" strike="noStrike">
                          <a:effectLst/>
                          <a:latin typeface="Calibri"/>
                        </a:rPr>
                        <a:t>Year</a:t>
                      </a:r>
                      <a:endParaRPr lang="en-US" sz="14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buNone/>
                      </a:pPr>
                      <a:r>
                        <a:rPr lang="en-US" sz="1400" u="none" strike="noStrike" dirty="0">
                          <a:effectLst/>
                          <a:latin typeface="Calibri"/>
                        </a:rPr>
                        <a:t>Contribution</a:t>
                      </a:r>
                      <a:endParaRPr lang="en-US" sz="14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62749000"/>
                  </a:ext>
                </a:extLst>
              </a:tr>
              <a:tr h="316865">
                <a:tc>
                  <a:txBody>
                    <a:bodyPr/>
                    <a:lstStyle/>
                    <a:p>
                      <a:pPr algn="l" fontAlgn="ctr">
                        <a:buNone/>
                      </a:pPr>
                      <a:r>
                        <a:rPr lang="en-US" sz="1400" u="none" strike="noStrike">
                          <a:effectLst/>
                          <a:latin typeface="Calibri"/>
                        </a:rPr>
                        <a:t>Bernanke &amp; Kuttner</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2005</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Unexpected monetary-policy changes produce significant equity-market responses.</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813266970"/>
                  </a:ext>
                </a:extLst>
              </a:tr>
              <a:tr h="633730">
                <a:tc>
                  <a:txBody>
                    <a:bodyPr/>
                    <a:lstStyle/>
                    <a:p>
                      <a:pPr algn="l" fontAlgn="ctr">
                        <a:buNone/>
                      </a:pPr>
                      <a:r>
                        <a:rPr lang="en-US" sz="1400" u="none" strike="noStrike">
                          <a:effectLst/>
                          <a:latin typeface="Calibri"/>
                        </a:rPr>
                        <a:t>Bekaert, Hoerova &amp; Lo Duca</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2013</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Monetary policy affects risk attitudes and uncertainty, providing a channel through which policy can alter portfolio demand.</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341049832"/>
                  </a:ext>
                </a:extLst>
              </a:tr>
              <a:tr h="633730">
                <a:tc>
                  <a:txBody>
                    <a:bodyPr/>
                    <a:lstStyle/>
                    <a:p>
                      <a:pPr algn="l" fontAlgn="ctr">
                        <a:buNone/>
                      </a:pPr>
                      <a:r>
                        <a:rPr lang="en-US" sz="1400" u="none" strike="noStrike">
                          <a:effectLst/>
                          <a:latin typeface="Calibri"/>
                        </a:rPr>
                        <a:t>Borio &amp; Zhu</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dirty="0">
                          <a:effectLst/>
                          <a:latin typeface="Calibri"/>
                        </a:rPr>
                        <a:t>2012</a:t>
                      </a:r>
                      <a:endParaRPr lang="en-US" sz="14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Develop the risk-taking channel of monetary policy: monetary conditions can influence investors' willingness to bear risk.</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881240274"/>
                  </a:ext>
                </a:extLst>
              </a:tr>
              <a:tr h="633730">
                <a:tc>
                  <a:txBody>
                    <a:bodyPr/>
                    <a:lstStyle/>
                    <a:p>
                      <a:pPr algn="l" fontAlgn="ctr">
                        <a:buNone/>
                      </a:pPr>
                      <a:r>
                        <a:rPr lang="en-US" sz="1400" u="none" strike="noStrike" dirty="0">
                          <a:effectLst/>
                          <a:latin typeface="Calibri"/>
                        </a:rPr>
                        <a:t>Hanson &amp; Stein</a:t>
                      </a:r>
                      <a:endParaRPr lang="en-US" sz="14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dirty="0">
                          <a:effectLst/>
                          <a:latin typeface="Calibri"/>
                        </a:rPr>
                        <a:t>2015</a:t>
                      </a:r>
                      <a:endParaRPr lang="en-US" sz="14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Monetary-policy shocks affect longer-term real rates and financial conditions beyond the short end of the yield curve.</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064430885"/>
                  </a:ext>
                </a:extLst>
              </a:tr>
              <a:tr h="633730">
                <a:tc>
                  <a:txBody>
                    <a:bodyPr/>
                    <a:lstStyle/>
                    <a:p>
                      <a:pPr algn="l" fontAlgn="ctr">
                        <a:buNone/>
                      </a:pPr>
                      <a:r>
                        <a:rPr lang="en-US" sz="1400" u="none" strike="noStrike" dirty="0">
                          <a:effectLst/>
                          <a:latin typeface="Calibri"/>
                        </a:rPr>
                        <a:t>Nakamura &amp; Steinsson</a:t>
                      </a:r>
                      <a:endParaRPr lang="en-US" sz="1400" b="0"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2018</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FOMC announcements can reveal information about economic fundamentals in addition to changing policy expectations.</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177889322"/>
                  </a:ext>
                </a:extLst>
              </a:tr>
              <a:tr h="633730">
                <a:tc>
                  <a:txBody>
                    <a:bodyPr/>
                    <a:lstStyle/>
                    <a:p>
                      <a:pPr algn="l" fontAlgn="ctr">
                        <a:buNone/>
                      </a:pPr>
                      <a:r>
                        <a:rPr lang="en-US" sz="1400" u="none" strike="noStrike">
                          <a:effectLst/>
                          <a:latin typeface="Calibri"/>
                        </a:rPr>
                        <a:t>Jarociński &amp; Karadi</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2020</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Separating MP and CBI shocks reveals fundamentally different asset-price responses to policy action and information revelation.</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156698619"/>
                  </a:ext>
                </a:extLst>
              </a:tr>
              <a:tr h="633730">
                <a:tc>
                  <a:txBody>
                    <a:bodyPr/>
                    <a:lstStyle/>
                    <a:p>
                      <a:pPr algn="l" fontAlgn="ctr">
                        <a:buNone/>
                      </a:pPr>
                      <a:r>
                        <a:rPr lang="en-US" sz="1400" u="none" strike="noStrike">
                          <a:effectLst/>
                          <a:latin typeface="Calibri"/>
                        </a:rPr>
                        <a:t>Bauer &amp; Swanson</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2023</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a:effectLst/>
                          <a:latin typeface="Calibri"/>
                        </a:rPr>
                        <a:t>Identification of monetary-policy shocks requires accounting for information available before FOMC announcements.</a:t>
                      </a:r>
                      <a:endParaRPr lang="en-US" sz="14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795932293"/>
                  </a:ext>
                </a:extLst>
              </a:tr>
              <a:tr h="633730">
                <a:tc>
                  <a:txBody>
                    <a:bodyPr/>
                    <a:lstStyle/>
                    <a:p>
                      <a:pPr algn="l" fontAlgn="ctr">
                        <a:buNone/>
                      </a:pPr>
                      <a:r>
                        <a:rPr lang="en-US" sz="1400" u="none" strike="noStrike">
                          <a:effectLst/>
                          <a:latin typeface="Calibri"/>
                        </a:rPr>
                        <a:t>Jarociński &amp; Karadi updated shocks</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r" fontAlgn="ctr">
                        <a:buNone/>
                      </a:pPr>
                      <a:r>
                        <a:rPr lang="en-US" sz="1400" u="none" strike="noStrike">
                          <a:effectLst/>
                          <a:latin typeface="Calibri"/>
                        </a:rPr>
                        <a:t>2024</a:t>
                      </a:r>
                      <a:endParaRPr lang="en-US" sz="1400" b="0"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400" u="none" strike="noStrike" dirty="0">
                          <a:effectLst/>
                          <a:latin typeface="Calibri"/>
                        </a:rPr>
                        <a:t>Updated MP and CBI shock series facilitate analysis of policy and information shocks over a longer FOMC sample.</a:t>
                      </a:r>
                      <a:endParaRPr lang="en-US" sz="14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573975103"/>
                  </a:ext>
                </a:extLst>
              </a:tr>
            </a:tbl>
          </a:graphicData>
        </a:graphic>
      </p:graphicFrame>
      <p:sp>
        <p:nvSpPr>
          <p:cNvPr id="6" name="Rectangle 5">
            <a:extLst>
              <a:ext uri="{FF2B5EF4-FFF2-40B4-BE49-F238E27FC236}">
                <a16:creationId xmlns:a16="http://schemas.microsoft.com/office/drawing/2014/main" id="{1A5E235C-67BB-B69A-9C76-DE7CAA38156F}"/>
              </a:ext>
            </a:extLst>
          </p:cNvPr>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b="1" dirty="0">
                <a:solidFill>
                  <a:schemeClr val="bg1"/>
                </a:solidFill>
                <a:latin typeface="Calibri"/>
              </a:rPr>
              <a:t>Literature Review part 2: </a:t>
            </a:r>
          </a:p>
        </p:txBody>
      </p:sp>
    </p:spTree>
    <p:extLst>
      <p:ext uri="{BB962C8B-B14F-4D97-AF65-F5344CB8AC3E}">
        <p14:creationId xmlns:p14="http://schemas.microsoft.com/office/powerpoint/2010/main" val="16218264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633D3D3-B65A-7E32-154D-B211E5162F1B}"/>
              </a:ext>
            </a:extLst>
          </p:cNvPr>
          <p:cNvSpPr txBox="1"/>
          <p:nvPr/>
        </p:nvSpPr>
        <p:spPr>
          <a:xfrm>
            <a:off x="206478" y="1582994"/>
            <a:ext cx="11425084" cy="2031325"/>
          </a:xfrm>
          <a:prstGeom prst="rect">
            <a:avLst/>
          </a:prstGeom>
          <a:noFill/>
        </p:spPr>
        <p:txBody>
          <a:bodyPr wrap="square">
            <a:spAutoFit/>
          </a:bodyPr>
          <a:lstStyle/>
          <a:p>
            <a:r>
              <a:rPr lang="en-US" b="1" dirty="0">
                <a:latin typeface="Calibri"/>
              </a:rPr>
              <a:t>Gap 1: :</a:t>
            </a:r>
            <a:r>
              <a:rPr lang="en-US" dirty="0">
                <a:latin typeface="Calibri"/>
              </a:rPr>
              <a:t> Existing studies establish that policy surprises and central-bank communication affect asset prices, but less is known about whether </a:t>
            </a:r>
            <a:r>
              <a:rPr lang="en-US" b="1" dirty="0">
                <a:latin typeface="Calibri"/>
              </a:rPr>
              <a:t>FOMC statement sentiment provides incremental information beyond Target and Path shocks</a:t>
            </a:r>
            <a:r>
              <a:rPr lang="en-US" dirty="0">
                <a:latin typeface="Calibri"/>
              </a:rPr>
              <a:t>, particularly across different policy regimes.</a:t>
            </a:r>
          </a:p>
          <a:p>
            <a:endParaRPr lang="en-US" dirty="0"/>
          </a:p>
          <a:p>
            <a:r>
              <a:rPr lang="en-US" b="1" dirty="0">
                <a:latin typeface="Calibri"/>
              </a:rPr>
              <a:t>Gap2 :</a:t>
            </a:r>
            <a:r>
              <a:rPr lang="en-US" dirty="0">
                <a:latin typeface="Calibri"/>
              </a:rPr>
              <a:t> Prior research focuses primarily on </a:t>
            </a:r>
            <a:r>
              <a:rPr lang="en-US" b="1" dirty="0">
                <a:latin typeface="Calibri"/>
              </a:rPr>
              <a:t>asset-price responses</a:t>
            </a:r>
            <a:r>
              <a:rPr lang="en-US" dirty="0">
                <a:latin typeface="Calibri"/>
              </a:rPr>
              <a:t> to monetary-policy announcements. We know much less about whether investors subsequently </a:t>
            </a:r>
            <a:r>
              <a:rPr lang="en-US" b="1" dirty="0">
                <a:latin typeface="Calibri"/>
              </a:rPr>
              <a:t>reallocate actual portfolios differently in response to policy-action (MP) versus information (CBI) shocks</a:t>
            </a:r>
            <a:r>
              <a:rPr lang="en-US" dirty="0">
                <a:latin typeface="Calibri"/>
              </a:rPr>
              <a:t>, particularly across asset classes ordered by risk.</a:t>
            </a:r>
          </a:p>
        </p:txBody>
      </p:sp>
      <p:sp>
        <p:nvSpPr>
          <p:cNvPr id="5" name="Rectangle 4">
            <a:extLst>
              <a:ext uri="{FF2B5EF4-FFF2-40B4-BE49-F238E27FC236}">
                <a16:creationId xmlns:a16="http://schemas.microsoft.com/office/drawing/2014/main" id="{AC369669-854C-3BEF-180B-3DFDE42B8C92}"/>
              </a:ext>
            </a:extLst>
          </p:cNvPr>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400" b="1" dirty="0">
                <a:solidFill>
                  <a:schemeClr val="bg1"/>
                </a:solidFill>
                <a:latin typeface="Calibri"/>
              </a:rPr>
              <a:t>Literature  Gaps  </a:t>
            </a:r>
          </a:p>
        </p:txBody>
      </p:sp>
    </p:spTree>
    <p:extLst>
      <p:ext uri="{BB962C8B-B14F-4D97-AF65-F5344CB8AC3E}">
        <p14:creationId xmlns:p14="http://schemas.microsoft.com/office/powerpoint/2010/main" val="28980951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C2F8E773-51FC-D24D-D472-4141BE1515E3}"/>
              </a:ext>
            </a:extLst>
          </p:cNvPr>
          <p:cNvGraphicFramePr>
            <a:graphicFrameLocks noGrp="1"/>
          </p:cNvGraphicFramePr>
          <p:nvPr>
            <p:extLst>
              <p:ext uri="{D42A27DB-BD31-4B8C-83A1-F6EECF244321}">
                <p14:modId xmlns:p14="http://schemas.microsoft.com/office/powerpoint/2010/main" val="176650518"/>
              </p:ext>
            </p:extLst>
          </p:nvPr>
        </p:nvGraphicFramePr>
        <p:xfrm>
          <a:off x="868939" y="1524000"/>
          <a:ext cx="9616182" cy="4602164"/>
        </p:xfrm>
        <a:graphic>
          <a:graphicData uri="http://schemas.openxmlformats.org/drawingml/2006/table">
            <a:tbl>
              <a:tblPr>
                <a:tableStyleId>{5C22544A-7EE6-4342-B048-85BDC9FD1C3A}</a:tableStyleId>
              </a:tblPr>
              <a:tblGrid>
                <a:gridCol w="3205394">
                  <a:extLst>
                    <a:ext uri="{9D8B030D-6E8A-4147-A177-3AD203B41FA5}">
                      <a16:colId xmlns:a16="http://schemas.microsoft.com/office/drawing/2014/main" val="2473929144"/>
                    </a:ext>
                  </a:extLst>
                </a:gridCol>
                <a:gridCol w="3205394">
                  <a:extLst>
                    <a:ext uri="{9D8B030D-6E8A-4147-A177-3AD203B41FA5}">
                      <a16:colId xmlns:a16="http://schemas.microsoft.com/office/drawing/2014/main" val="599423366"/>
                    </a:ext>
                  </a:extLst>
                </a:gridCol>
                <a:gridCol w="3205394">
                  <a:extLst>
                    <a:ext uri="{9D8B030D-6E8A-4147-A177-3AD203B41FA5}">
                      <a16:colId xmlns:a16="http://schemas.microsoft.com/office/drawing/2014/main" val="2655180128"/>
                    </a:ext>
                  </a:extLst>
                </a:gridCol>
              </a:tblGrid>
              <a:tr h="334703">
                <a:tc>
                  <a:txBody>
                    <a:bodyPr/>
                    <a:lstStyle/>
                    <a:p>
                      <a:pPr>
                        <a:buNone/>
                      </a:pPr>
                      <a:r>
                        <a:rPr lang="en-US" sz="1600" b="1">
                          <a:latin typeface="Calibri"/>
                        </a:rPr>
                        <a:t>Literature establishes</a:t>
                      </a:r>
                    </a:p>
                  </a:txBody>
                  <a:tcPr marL="82290" marR="82290" marT="41145" marB="41145" anchor="ctr"/>
                </a:tc>
                <a:tc>
                  <a:txBody>
                    <a:bodyPr/>
                    <a:lstStyle/>
                    <a:p>
                      <a:pPr>
                        <a:buNone/>
                      </a:pPr>
                      <a:r>
                        <a:rPr lang="en-US" sz="1600" b="1" dirty="0">
                          <a:latin typeface="Calibri"/>
                        </a:rPr>
                        <a:t>Remaining question</a:t>
                      </a:r>
                    </a:p>
                  </a:txBody>
                  <a:tcPr marL="82290" marR="82290" marT="41145" marB="41145" anchor="ctr"/>
                </a:tc>
                <a:tc>
                  <a:txBody>
                    <a:bodyPr/>
                    <a:lstStyle/>
                    <a:p>
                      <a:pPr>
                        <a:buNone/>
                      </a:pPr>
                      <a:r>
                        <a:rPr lang="en-US" sz="1600" b="1" dirty="0">
                          <a:latin typeface="Calibri"/>
                        </a:rPr>
                        <a:t>My dissertation</a:t>
                      </a:r>
                    </a:p>
                  </a:txBody>
                  <a:tcPr marL="82290" marR="82290" marT="41145" marB="41145" anchor="ctr"/>
                </a:tc>
                <a:extLst>
                  <a:ext uri="{0D108BD9-81ED-4DB2-BD59-A6C34878D82A}">
                    <a16:rowId xmlns:a16="http://schemas.microsoft.com/office/drawing/2014/main" val="3054923254"/>
                  </a:ext>
                </a:extLst>
              </a:tr>
              <a:tr h="585730">
                <a:tc>
                  <a:txBody>
                    <a:bodyPr/>
                    <a:lstStyle/>
                    <a:p>
                      <a:pPr>
                        <a:buNone/>
                      </a:pPr>
                      <a:r>
                        <a:rPr lang="en-US" sz="1600">
                          <a:latin typeface="Calibri"/>
                        </a:rPr>
                        <a:t>Kuttner: unexpected policy matters</a:t>
                      </a:r>
                    </a:p>
                  </a:txBody>
                  <a:tcPr marL="82290" marR="82290" marT="41145" marB="41145" anchor="ctr"/>
                </a:tc>
                <a:tc>
                  <a:txBody>
                    <a:bodyPr/>
                    <a:lstStyle/>
                    <a:p>
                      <a:pPr>
                        <a:buNone/>
                      </a:pPr>
                      <a:r>
                        <a:rPr lang="en-US" sz="1600">
                          <a:latin typeface="Calibri"/>
                        </a:rPr>
                        <a:t>What dimension of the surprise matters?</a:t>
                      </a:r>
                    </a:p>
                  </a:txBody>
                  <a:tcPr marL="82290" marR="82290" marT="41145" marB="41145" anchor="ctr"/>
                </a:tc>
                <a:tc>
                  <a:txBody>
                    <a:bodyPr/>
                    <a:lstStyle/>
                    <a:p>
                      <a:pPr>
                        <a:buNone/>
                      </a:pPr>
                      <a:r>
                        <a:rPr lang="en-US" sz="1600">
                          <a:latin typeface="Calibri"/>
                        </a:rPr>
                        <a:t>—</a:t>
                      </a:r>
                    </a:p>
                  </a:txBody>
                  <a:tcPr marL="82290" marR="82290" marT="41145" marB="41145" anchor="ctr"/>
                </a:tc>
                <a:extLst>
                  <a:ext uri="{0D108BD9-81ED-4DB2-BD59-A6C34878D82A}">
                    <a16:rowId xmlns:a16="http://schemas.microsoft.com/office/drawing/2014/main" val="3204332789"/>
                  </a:ext>
                </a:extLst>
              </a:tr>
              <a:tr h="585730">
                <a:tc>
                  <a:txBody>
                    <a:bodyPr/>
                    <a:lstStyle/>
                    <a:p>
                      <a:pPr>
                        <a:buNone/>
                      </a:pPr>
                      <a:r>
                        <a:rPr lang="en-US" sz="1600" dirty="0">
                          <a:latin typeface="Calibri"/>
                        </a:rPr>
                        <a:t>GSS: Target ≠ Path</a:t>
                      </a:r>
                    </a:p>
                  </a:txBody>
                  <a:tcPr marL="82290" marR="82290" marT="41145" marB="41145" anchor="ctr"/>
                </a:tc>
                <a:tc>
                  <a:txBody>
                    <a:bodyPr/>
                    <a:lstStyle/>
                    <a:p>
                      <a:pPr>
                        <a:buNone/>
                      </a:pPr>
                      <a:r>
                        <a:rPr lang="en-US" sz="1600" dirty="0">
                          <a:latin typeface="Calibri"/>
                        </a:rPr>
                        <a:t>What does FOMC language add?</a:t>
                      </a:r>
                    </a:p>
                  </a:txBody>
                  <a:tcPr marL="82290" marR="82290" marT="41145" marB="41145" anchor="ctr"/>
                </a:tc>
                <a:tc>
                  <a:txBody>
                    <a:bodyPr/>
                    <a:lstStyle/>
                    <a:p>
                      <a:pPr>
                        <a:buNone/>
                      </a:pPr>
                      <a:r>
                        <a:rPr lang="en-US" sz="1600" dirty="0">
                          <a:latin typeface="Calibri"/>
                        </a:rPr>
                        <a:t>Part 1</a:t>
                      </a:r>
                    </a:p>
                  </a:txBody>
                  <a:tcPr marL="82290" marR="82290" marT="41145" marB="41145" anchor="ctr"/>
                </a:tc>
                <a:extLst>
                  <a:ext uri="{0D108BD9-81ED-4DB2-BD59-A6C34878D82A}">
                    <a16:rowId xmlns:a16="http://schemas.microsoft.com/office/drawing/2014/main" val="3947051369"/>
                  </a:ext>
                </a:extLst>
              </a:tr>
              <a:tr h="585730">
                <a:tc>
                  <a:txBody>
                    <a:bodyPr/>
                    <a:lstStyle/>
                    <a:p>
                      <a:pPr>
                        <a:buNone/>
                      </a:pPr>
                      <a:r>
                        <a:rPr lang="en-US" sz="1600" dirty="0">
                          <a:latin typeface="Calibri"/>
                        </a:rPr>
                        <a:t>Text literature: communication matters</a:t>
                      </a:r>
                    </a:p>
                  </a:txBody>
                  <a:tcPr marL="82290" marR="82290" marT="41145" marB="41145" anchor="ctr"/>
                </a:tc>
                <a:tc>
                  <a:txBody>
                    <a:bodyPr/>
                    <a:lstStyle/>
                    <a:p>
                      <a:pPr>
                        <a:buNone/>
                      </a:pPr>
                      <a:r>
                        <a:rPr lang="en-US" sz="1600">
                          <a:latin typeface="Calibri"/>
                        </a:rPr>
                        <a:t>Does language explain prices beyond Target/Path?</a:t>
                      </a:r>
                    </a:p>
                  </a:txBody>
                  <a:tcPr marL="82290" marR="82290" marT="41145" marB="41145" anchor="ctr"/>
                </a:tc>
                <a:tc>
                  <a:txBody>
                    <a:bodyPr/>
                    <a:lstStyle/>
                    <a:p>
                      <a:pPr>
                        <a:buNone/>
                      </a:pPr>
                      <a:r>
                        <a:rPr lang="en-US" sz="1600" dirty="0">
                          <a:latin typeface="Calibri"/>
                        </a:rPr>
                        <a:t>Part 1</a:t>
                      </a:r>
                    </a:p>
                  </a:txBody>
                  <a:tcPr marL="82290" marR="82290" marT="41145" marB="41145" anchor="ctr"/>
                </a:tc>
                <a:extLst>
                  <a:ext uri="{0D108BD9-81ED-4DB2-BD59-A6C34878D82A}">
                    <a16:rowId xmlns:a16="http://schemas.microsoft.com/office/drawing/2014/main" val="1665294550"/>
                  </a:ext>
                </a:extLst>
              </a:tr>
              <a:tr h="836757">
                <a:tc>
                  <a:txBody>
                    <a:bodyPr/>
                    <a:lstStyle/>
                    <a:p>
                      <a:pPr>
                        <a:buNone/>
                      </a:pPr>
                      <a:r>
                        <a:rPr lang="en-US" sz="1600">
                          <a:latin typeface="Calibri"/>
                        </a:rPr>
                        <a:t>Nakamura–Steinsson / JK: announcements reveal information</a:t>
                      </a:r>
                    </a:p>
                  </a:txBody>
                  <a:tcPr marL="82290" marR="82290" marT="41145" marB="41145" anchor="ctr"/>
                </a:tc>
                <a:tc>
                  <a:txBody>
                    <a:bodyPr/>
                    <a:lstStyle/>
                    <a:p>
                      <a:pPr>
                        <a:buNone/>
                      </a:pPr>
                      <a:r>
                        <a:rPr lang="en-US" sz="1600" dirty="0">
                          <a:latin typeface="Calibri"/>
                        </a:rPr>
                        <a:t>Do investors distinguish policy from information?</a:t>
                      </a:r>
                    </a:p>
                  </a:txBody>
                  <a:tcPr marL="82290" marR="82290" marT="41145" marB="41145" anchor="ctr"/>
                </a:tc>
                <a:tc>
                  <a:txBody>
                    <a:bodyPr/>
                    <a:lstStyle/>
                    <a:p>
                      <a:pPr>
                        <a:buNone/>
                      </a:pPr>
                      <a:r>
                        <a:rPr lang="en-US" sz="1600" dirty="0">
                          <a:latin typeface="Calibri"/>
                        </a:rPr>
                        <a:t>Part 2</a:t>
                      </a:r>
                    </a:p>
                  </a:txBody>
                  <a:tcPr marL="82290" marR="82290" marT="41145" marB="41145" anchor="ctr"/>
                </a:tc>
                <a:extLst>
                  <a:ext uri="{0D108BD9-81ED-4DB2-BD59-A6C34878D82A}">
                    <a16:rowId xmlns:a16="http://schemas.microsoft.com/office/drawing/2014/main" val="725820558"/>
                  </a:ext>
                </a:extLst>
              </a:tr>
              <a:tr h="836757">
                <a:tc>
                  <a:txBody>
                    <a:bodyPr/>
                    <a:lstStyle/>
                    <a:p>
                      <a:pPr>
                        <a:buNone/>
                      </a:pPr>
                      <a:r>
                        <a:rPr lang="en-US" sz="1600">
                          <a:latin typeface="Calibri"/>
                        </a:rPr>
                        <a:t>JK: MP and CBI produce different price responses</a:t>
                      </a:r>
                    </a:p>
                  </a:txBody>
                  <a:tcPr marL="82290" marR="82290" marT="41145" marB="41145" anchor="ctr"/>
                </a:tc>
                <a:tc>
                  <a:txBody>
                    <a:bodyPr/>
                    <a:lstStyle/>
                    <a:p>
                      <a:pPr>
                        <a:buNone/>
                      </a:pPr>
                      <a:r>
                        <a:rPr lang="en-US" sz="1600">
                          <a:latin typeface="Calibri"/>
                        </a:rPr>
                        <a:t>Do those differences translate into actual portfolio reallocations?</a:t>
                      </a:r>
                    </a:p>
                  </a:txBody>
                  <a:tcPr marL="82290" marR="82290" marT="41145" marB="41145" anchor="ctr"/>
                </a:tc>
                <a:tc>
                  <a:txBody>
                    <a:bodyPr/>
                    <a:lstStyle/>
                    <a:p>
                      <a:pPr>
                        <a:buNone/>
                      </a:pPr>
                      <a:r>
                        <a:rPr lang="en-US" sz="1600" dirty="0">
                          <a:latin typeface="Calibri"/>
                        </a:rPr>
                        <a:t>Part 2</a:t>
                      </a:r>
                    </a:p>
                  </a:txBody>
                  <a:tcPr marL="82290" marR="82290" marT="41145" marB="41145" anchor="ctr"/>
                </a:tc>
                <a:extLst>
                  <a:ext uri="{0D108BD9-81ED-4DB2-BD59-A6C34878D82A}">
                    <a16:rowId xmlns:a16="http://schemas.microsoft.com/office/drawing/2014/main" val="2535065449"/>
                  </a:ext>
                </a:extLst>
              </a:tr>
              <a:tr h="836757">
                <a:tc>
                  <a:txBody>
                    <a:bodyPr/>
                    <a:lstStyle/>
                    <a:p>
                      <a:pPr>
                        <a:buNone/>
                      </a:pPr>
                      <a:r>
                        <a:rPr lang="en-US" sz="1600">
                          <a:latin typeface="Calibri"/>
                        </a:rPr>
                        <a:t>Risk-taking literature: monetary policy changes risk bearing</a:t>
                      </a:r>
                    </a:p>
                  </a:txBody>
                  <a:tcPr marL="82290" marR="82290" marT="41145" marB="41145" anchor="ctr"/>
                </a:tc>
                <a:tc>
                  <a:txBody>
                    <a:bodyPr/>
                    <a:lstStyle/>
                    <a:p>
                      <a:pPr>
                        <a:buNone/>
                      </a:pPr>
                      <a:r>
                        <a:rPr lang="en-US" sz="1600">
                          <a:latin typeface="Calibri"/>
                        </a:rPr>
                        <a:t>How does reallocation vary across safe → risky assets?</a:t>
                      </a:r>
                    </a:p>
                  </a:txBody>
                  <a:tcPr marL="82290" marR="82290" marT="41145" marB="41145" anchor="ctr"/>
                </a:tc>
                <a:tc>
                  <a:txBody>
                    <a:bodyPr/>
                    <a:lstStyle/>
                    <a:p>
                      <a:pPr>
                        <a:buNone/>
                      </a:pPr>
                      <a:r>
                        <a:rPr lang="en-US" sz="1600" dirty="0">
                          <a:latin typeface="Calibri"/>
                        </a:rPr>
                        <a:t>Part 2</a:t>
                      </a:r>
                    </a:p>
                  </a:txBody>
                  <a:tcPr marL="82290" marR="82290" marT="41145" marB="41145" anchor="ctr"/>
                </a:tc>
                <a:extLst>
                  <a:ext uri="{0D108BD9-81ED-4DB2-BD59-A6C34878D82A}">
                    <a16:rowId xmlns:a16="http://schemas.microsoft.com/office/drawing/2014/main" val="1738557149"/>
                  </a:ext>
                </a:extLst>
              </a:tr>
            </a:tbl>
          </a:graphicData>
        </a:graphic>
      </p:graphicFrame>
      <p:sp>
        <p:nvSpPr>
          <p:cNvPr id="4" name="TextBox 3">
            <a:extLst>
              <a:ext uri="{FF2B5EF4-FFF2-40B4-BE49-F238E27FC236}">
                <a16:creationId xmlns:a16="http://schemas.microsoft.com/office/drawing/2014/main" id="{4A6711FC-3223-F5D4-5295-7C6014F2F21F}"/>
              </a:ext>
            </a:extLst>
          </p:cNvPr>
          <p:cNvSpPr txBox="1"/>
          <p:nvPr/>
        </p:nvSpPr>
        <p:spPr>
          <a:xfrm>
            <a:off x="868939" y="731836"/>
            <a:ext cx="6096000" cy="507831"/>
          </a:xfrm>
          <a:prstGeom prst="rect">
            <a:avLst/>
          </a:prstGeom>
          <a:noFill/>
        </p:spPr>
        <p:txBody>
          <a:bodyPr wrap="square">
            <a:spAutoFit/>
          </a:bodyPr>
          <a:lstStyle/>
          <a:p>
            <a:pPr algn="l"/>
            <a:r>
              <a:rPr lang="en-US" sz="2700" b="1" i="0" dirty="0">
                <a:solidFill>
                  <a:srgbClr val="910020"/>
                </a:solidFill>
                <a:latin typeface="Calibri"/>
              </a:rPr>
              <a:t>Literature Analysis: What Is Missing?</a:t>
            </a:r>
          </a:p>
        </p:txBody>
      </p:sp>
      <p:sp>
        <p:nvSpPr>
          <p:cNvPr id="6" name="Rectangle 5">
            <a:extLst>
              <a:ext uri="{FF2B5EF4-FFF2-40B4-BE49-F238E27FC236}">
                <a16:creationId xmlns:a16="http://schemas.microsoft.com/office/drawing/2014/main" id="{DAD0B66C-25B3-776F-84DA-444A66E9BB82}"/>
              </a:ext>
            </a:extLst>
          </p:cNvPr>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b="1" dirty="0">
                <a:latin typeface="Calibri"/>
              </a:rPr>
              <a:t>Literature  Gaps  </a:t>
            </a:r>
          </a:p>
        </p:txBody>
      </p:sp>
    </p:spTree>
    <p:extLst>
      <p:ext uri="{BB962C8B-B14F-4D97-AF65-F5344CB8AC3E}">
        <p14:creationId xmlns:p14="http://schemas.microsoft.com/office/powerpoint/2010/main" val="13412814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39" y="109728"/>
            <a:ext cx="3455547" cy="400110"/>
          </a:xfrm>
          <a:prstGeom prst="rect">
            <a:avLst/>
          </a:prstGeom>
          <a:noFill/>
        </p:spPr>
        <p:txBody>
          <a:bodyPr wrap="square" anchor="t">
            <a:spAutoFit/>
          </a:bodyPr>
          <a:lstStyle/>
          <a:p>
            <a:r>
              <a:rPr lang="en-US" sz="2000" b="1" dirty="0">
                <a:solidFill>
                  <a:schemeClr val="bg1"/>
                </a:solidFill>
                <a:latin typeface="Calibri"/>
              </a:rPr>
              <a:t>Research Questions</a:t>
            </a:r>
          </a:p>
        </p:txBody>
      </p:sp>
      <p:sp>
        <p:nvSpPr>
          <p:cNvPr id="5" name="Oval 4"/>
          <p:cNvSpPr/>
          <p:nvPr/>
        </p:nvSpPr>
        <p:spPr>
          <a:xfrm>
            <a:off x="685800" y="1417320"/>
            <a:ext cx="685800" cy="685800"/>
          </a:xfrm>
          <a:prstGeom prst="ellipse">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685800" y="1591056"/>
            <a:ext cx="685800" cy="228600"/>
          </a:xfrm>
          <a:prstGeom prst="rect">
            <a:avLst/>
          </a:prstGeom>
          <a:noFill/>
        </p:spPr>
        <p:txBody>
          <a:bodyPr wrap="square" anchor="t">
            <a:spAutoFit/>
          </a:bodyPr>
          <a:lstStyle/>
          <a:p>
            <a:pPr algn="ctr"/>
            <a:r>
              <a:rPr sz="1200" b="1" i="0">
                <a:solidFill>
                  <a:srgbClr val="FFFFFF"/>
                </a:solidFill>
                <a:latin typeface="Calibri"/>
              </a:rPr>
              <a:t>RQ1</a:t>
            </a:r>
          </a:p>
        </p:txBody>
      </p:sp>
      <p:sp>
        <p:nvSpPr>
          <p:cNvPr id="7" name="TextBox 6"/>
          <p:cNvSpPr txBox="1"/>
          <p:nvPr/>
        </p:nvSpPr>
        <p:spPr>
          <a:xfrm>
            <a:off x="1645920" y="1399032"/>
            <a:ext cx="9692640" cy="646331"/>
          </a:xfrm>
          <a:prstGeom prst="rect">
            <a:avLst/>
          </a:prstGeom>
          <a:noFill/>
        </p:spPr>
        <p:txBody>
          <a:bodyPr wrap="square" anchor="t">
            <a:spAutoFit/>
          </a:bodyPr>
          <a:lstStyle/>
          <a:p>
            <a:pPr algn="l"/>
            <a:r>
              <a:rPr sz="1800" b="1" i="0" dirty="0">
                <a:solidFill>
                  <a:srgbClr val="191919"/>
                </a:solidFill>
                <a:latin typeface="Calibri"/>
              </a:rPr>
              <a:t>What does FOMC statement sentiment reflect</a:t>
            </a:r>
            <a:r>
              <a:rPr lang="en-US" sz="1800" b="1" i="0" dirty="0">
                <a:solidFill>
                  <a:srgbClr val="191919"/>
                </a:solidFill>
                <a:latin typeface="Calibri"/>
              </a:rPr>
              <a:t> - </a:t>
            </a:r>
            <a:r>
              <a:rPr sz="1800" b="1" i="0" dirty="0">
                <a:solidFill>
                  <a:srgbClr val="191919"/>
                </a:solidFill>
                <a:latin typeface="Calibri"/>
              </a:rPr>
              <a:t>unexpected current policy implementation or revisions to the expected future policy path?</a:t>
            </a:r>
          </a:p>
        </p:txBody>
      </p:sp>
      <p:sp>
        <p:nvSpPr>
          <p:cNvPr id="8" name="Oval 7"/>
          <p:cNvSpPr/>
          <p:nvPr/>
        </p:nvSpPr>
        <p:spPr>
          <a:xfrm>
            <a:off x="685800" y="2560320"/>
            <a:ext cx="685800" cy="685800"/>
          </a:xfrm>
          <a:prstGeom prst="ellipse">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5800" y="2734056"/>
            <a:ext cx="685800" cy="228600"/>
          </a:xfrm>
          <a:prstGeom prst="rect">
            <a:avLst/>
          </a:prstGeom>
          <a:noFill/>
        </p:spPr>
        <p:txBody>
          <a:bodyPr wrap="square" anchor="t">
            <a:spAutoFit/>
          </a:bodyPr>
          <a:lstStyle/>
          <a:p>
            <a:pPr algn="ctr"/>
            <a:r>
              <a:rPr sz="1200" b="1" i="0">
                <a:solidFill>
                  <a:srgbClr val="FFFFFF"/>
                </a:solidFill>
                <a:latin typeface="Calibri"/>
              </a:rPr>
              <a:t>RQ2</a:t>
            </a:r>
          </a:p>
        </p:txBody>
      </p:sp>
      <p:sp>
        <p:nvSpPr>
          <p:cNvPr id="10" name="TextBox 9"/>
          <p:cNvSpPr txBox="1"/>
          <p:nvPr/>
        </p:nvSpPr>
        <p:spPr>
          <a:xfrm>
            <a:off x="1645920" y="2542032"/>
            <a:ext cx="9692640" cy="731520"/>
          </a:xfrm>
          <a:prstGeom prst="rect">
            <a:avLst/>
          </a:prstGeom>
          <a:noFill/>
        </p:spPr>
        <p:txBody>
          <a:bodyPr wrap="square" anchor="t">
            <a:spAutoFit/>
          </a:bodyPr>
          <a:lstStyle/>
          <a:p>
            <a:pPr algn="l"/>
            <a:r>
              <a:rPr sz="1800" b="0" i="0" dirty="0">
                <a:solidFill>
                  <a:srgbClr val="191919"/>
                </a:solidFill>
                <a:latin typeface="Calibri"/>
              </a:rPr>
              <a:t>Does FOMC communication contain incremental information for asset prices beyond conventional high-frequency policy surprises?</a:t>
            </a:r>
          </a:p>
        </p:txBody>
      </p:sp>
      <p:sp>
        <p:nvSpPr>
          <p:cNvPr id="11" name="Oval 10"/>
          <p:cNvSpPr/>
          <p:nvPr/>
        </p:nvSpPr>
        <p:spPr>
          <a:xfrm>
            <a:off x="685800" y="3703320"/>
            <a:ext cx="685800" cy="685800"/>
          </a:xfrm>
          <a:prstGeom prst="ellipse">
            <a:avLst/>
          </a:prstGeom>
          <a:solidFill>
            <a:srgbClr val="426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85800" y="3877056"/>
            <a:ext cx="685800" cy="228600"/>
          </a:xfrm>
          <a:prstGeom prst="rect">
            <a:avLst/>
          </a:prstGeom>
          <a:noFill/>
        </p:spPr>
        <p:txBody>
          <a:bodyPr wrap="square" anchor="t">
            <a:spAutoFit/>
          </a:bodyPr>
          <a:lstStyle/>
          <a:p>
            <a:pPr algn="ctr"/>
            <a:r>
              <a:rPr sz="1200" b="1" i="0">
                <a:solidFill>
                  <a:srgbClr val="FFFFFF"/>
                </a:solidFill>
                <a:latin typeface="Calibri"/>
              </a:rPr>
              <a:t>RQ3</a:t>
            </a:r>
          </a:p>
        </p:txBody>
      </p:sp>
      <p:sp>
        <p:nvSpPr>
          <p:cNvPr id="13" name="TextBox 12"/>
          <p:cNvSpPr txBox="1"/>
          <p:nvPr/>
        </p:nvSpPr>
        <p:spPr>
          <a:xfrm>
            <a:off x="1645920" y="3685032"/>
            <a:ext cx="9692640" cy="731520"/>
          </a:xfrm>
          <a:prstGeom prst="rect">
            <a:avLst/>
          </a:prstGeom>
          <a:noFill/>
        </p:spPr>
        <p:txBody>
          <a:bodyPr wrap="square" anchor="t">
            <a:spAutoFit/>
          </a:bodyPr>
          <a:lstStyle/>
          <a:p>
            <a:pPr algn="l"/>
            <a:r>
              <a:rPr sz="1800" b="1" i="0">
                <a:solidFill>
                  <a:srgbClr val="191919"/>
                </a:solidFill>
                <a:latin typeface="Calibri"/>
              </a:rPr>
              <a:t>Do monetary-policy and central-bank-information shocks generate different mutual-fund flow responses?</a:t>
            </a:r>
          </a:p>
        </p:txBody>
      </p:sp>
      <p:sp>
        <p:nvSpPr>
          <p:cNvPr id="14" name="Oval 13"/>
          <p:cNvSpPr/>
          <p:nvPr/>
        </p:nvSpPr>
        <p:spPr>
          <a:xfrm>
            <a:off x="685800" y="4846320"/>
            <a:ext cx="685800" cy="685800"/>
          </a:xfrm>
          <a:prstGeom prst="ellipse">
            <a:avLst/>
          </a:prstGeom>
          <a:solidFill>
            <a:srgbClr val="BA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85800" y="5020056"/>
            <a:ext cx="685800" cy="228600"/>
          </a:xfrm>
          <a:prstGeom prst="rect">
            <a:avLst/>
          </a:prstGeom>
          <a:noFill/>
        </p:spPr>
        <p:txBody>
          <a:bodyPr wrap="square" anchor="t">
            <a:spAutoFit/>
          </a:bodyPr>
          <a:lstStyle/>
          <a:p>
            <a:pPr algn="ctr"/>
            <a:r>
              <a:rPr sz="1200" b="1" i="0">
                <a:solidFill>
                  <a:srgbClr val="FFFFFF"/>
                </a:solidFill>
                <a:latin typeface="Calibri"/>
              </a:rPr>
              <a:t>RQ4</a:t>
            </a:r>
          </a:p>
        </p:txBody>
      </p:sp>
      <p:sp>
        <p:nvSpPr>
          <p:cNvPr id="16" name="TextBox 15"/>
          <p:cNvSpPr txBox="1"/>
          <p:nvPr/>
        </p:nvSpPr>
        <p:spPr>
          <a:xfrm>
            <a:off x="1645920" y="4828032"/>
            <a:ext cx="9692640" cy="731520"/>
          </a:xfrm>
          <a:prstGeom prst="rect">
            <a:avLst/>
          </a:prstGeom>
          <a:noFill/>
        </p:spPr>
        <p:txBody>
          <a:bodyPr wrap="square" anchor="t">
            <a:spAutoFit/>
          </a:bodyPr>
          <a:lstStyle/>
          <a:p>
            <a:pPr algn="l"/>
            <a:r>
              <a:rPr sz="1800" b="0" i="0">
                <a:solidFill>
                  <a:srgbClr val="191919"/>
                </a:solidFill>
                <a:latin typeface="Calibri"/>
              </a:rPr>
              <a:t>Do policy action and information revelation operate on different transmission timelines?</a:t>
            </a:r>
          </a:p>
        </p:txBody>
      </p:sp>
    </p:spTree>
    <p:extLst>
      <p:ext uri="{BB962C8B-B14F-4D97-AF65-F5344CB8AC3E}">
        <p14:creationId xmlns:p14="http://schemas.microsoft.com/office/powerpoint/2010/main" val="33293614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1DB689A-E360-3A52-5CD7-D526F7927A71}"/>
              </a:ext>
            </a:extLst>
          </p:cNvPr>
          <p:cNvPicPr>
            <a:picLocks noChangeAspect="1"/>
          </p:cNvPicPr>
          <p:nvPr/>
        </p:nvPicPr>
        <p:blipFill>
          <a:blip r:embed="rId2"/>
          <a:stretch>
            <a:fillRect/>
          </a:stretch>
        </p:blipFill>
        <p:spPr>
          <a:xfrm>
            <a:off x="881062" y="546497"/>
            <a:ext cx="10429875" cy="5765006"/>
          </a:xfrm>
          <a:prstGeom prst="rect">
            <a:avLst/>
          </a:prstGeom>
        </p:spPr>
      </p:pic>
      <p:sp>
        <p:nvSpPr>
          <p:cNvPr id="5" name="TextBox 4">
            <a:extLst>
              <a:ext uri="{FF2B5EF4-FFF2-40B4-BE49-F238E27FC236}">
                <a16:creationId xmlns:a16="http://schemas.microsoft.com/office/drawing/2014/main" id="{7B94B92A-83B2-72DE-28A0-7D5D2BCFCA29}"/>
              </a:ext>
            </a:extLst>
          </p:cNvPr>
          <p:cNvSpPr txBox="1"/>
          <p:nvPr/>
        </p:nvSpPr>
        <p:spPr>
          <a:xfrm>
            <a:off x="2389237" y="6410321"/>
            <a:ext cx="8072285" cy="369332"/>
          </a:xfrm>
          <a:prstGeom prst="rect">
            <a:avLst/>
          </a:prstGeom>
          <a:noFill/>
        </p:spPr>
        <p:txBody>
          <a:bodyPr wrap="square">
            <a:spAutoFit/>
          </a:bodyPr>
          <a:lstStyle/>
          <a:p>
            <a:r>
              <a:rPr lang="en-US" dirty="0">
                <a:latin typeface="Calibri"/>
                <a:hlinkClick r:id="rId3"/>
              </a:rPr>
              <a:t>https://monetary-policy-lab.streamlit.app/</a:t>
            </a:r>
            <a:r>
              <a:rPr lang="en-US" dirty="0">
                <a:latin typeface="Calibri"/>
              </a:rPr>
              <a:t>  charts are from the author’s website </a:t>
            </a:r>
          </a:p>
        </p:txBody>
      </p:sp>
    </p:spTree>
    <p:extLst>
      <p:ext uri="{BB962C8B-B14F-4D97-AF65-F5344CB8AC3E}">
        <p14:creationId xmlns:p14="http://schemas.microsoft.com/office/powerpoint/2010/main" val="4077873704"/>
      </p:ext>
    </p:extLst>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594360"/>
          </a:xfrm>
          <a:prstGeom prst="rect">
            <a:avLst/>
          </a:prstGeom>
          <a:solidFill>
            <a:srgbClr val="CC0033"/>
          </a:solidFill>
          <a:ln>
            <a:noFill/>
          </a:ln>
          <a:effectLst/>
        </p:spPr>
        <p:style>
          <a:lnRef idx="1">
            <a:schemeClr val="accent1"/>
          </a:lnRef>
          <a:fillRef idx="3">
            <a:schemeClr val="accent1"/>
          </a:fillRef>
          <a:effectRef idx="2">
            <a:schemeClr val="accent1"/>
          </a:effectRef>
          <a:fontRef idx="minor">
            <a:schemeClr val="lt1"/>
          </a:fontRef>
        </p:style>
        <p:txBody>
          <a:bodyPr rtlCol="0" wrap="square" lIns="109728"/>
          <a:lstStyle/>
          <a:p>
            <a:pPr algn="l"/>
            <a:r>
              <a:rPr sz="2000" b="1">
                <a:solidFill>
                  <a:srgbClr val="FFFFFF"/>
                </a:solidFill>
                <a:latin typeface="Calibri"/>
              </a:rPr>
              <a:t>A Unified Theoretical Framework</a:t>
            </a:r>
          </a:p>
        </p:txBody>
      </p:sp>
      <p:sp>
        <p:nvSpPr>
          <p:cNvPr id="3" name="TextBox 2"/>
          <p:cNvSpPr txBox="1"/>
          <p:nvPr/>
        </p:nvSpPr>
        <p:spPr>
          <a:xfrm>
            <a:off x="685800" y="731520"/>
            <a:ext cx="10972800" cy="384048"/>
          </a:xfrm>
          <a:prstGeom prst="rect">
            <a:avLst/>
          </a:prstGeom>
          <a:noFill/>
        </p:spPr>
        <p:txBody>
          <a:bodyPr wrap="square" anchor="t">
            <a:spAutoFit/>
          </a:bodyPr>
          <a:lstStyle/>
          <a:p>
            <a:pPr algn="l"/>
            <a:r>
              <a:rPr sz="1500" b="1" i="0">
                <a:solidFill>
                  <a:srgbClr val="5A5A5A"/>
                </a:solidFill>
                <a:latin typeface="Calibri"/>
              </a:rPr>
              <a:t>Two channels  ·  Three layers of information  ·  One institutional friction</a:t>
            </a:r>
          </a:p>
        </p:txBody>
      </p:sp>
      <p:sp>
        <p:nvSpPr>
          <p:cNvPr id="4" name="Rounded Rectangle 3"/>
          <p:cNvSpPr/>
          <p:nvPr/>
        </p:nvSpPr>
        <p:spPr>
          <a:xfrm>
            <a:off x="685800" y="1298448"/>
            <a:ext cx="3474720" cy="3675887"/>
          </a:xfrm>
          <a:prstGeom prst="roundRect">
            <a:avLst>
              <a:gd name="adj" fmla="val 4500"/>
            </a:avLst>
          </a:prstGeom>
          <a:solidFill>
            <a:srgbClr val="FFFFFF"/>
          </a:solidFill>
          <a:ln w="12700">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Rectangle 4"/>
          <p:cNvSpPr/>
          <p:nvPr/>
        </p:nvSpPr>
        <p:spPr>
          <a:xfrm>
            <a:off x="713232" y="1408176"/>
            <a:ext cx="68580" cy="3456431"/>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4370832" y="1298448"/>
            <a:ext cx="3474720" cy="3675887"/>
          </a:xfrm>
          <a:prstGeom prst="roundRect">
            <a:avLst>
              <a:gd name="adj" fmla="val 4500"/>
            </a:avLst>
          </a:prstGeom>
          <a:solidFill>
            <a:srgbClr val="FFFFFF"/>
          </a:solidFill>
          <a:ln w="12700">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Rectangle 6"/>
          <p:cNvSpPr/>
          <p:nvPr/>
        </p:nvSpPr>
        <p:spPr>
          <a:xfrm>
            <a:off x="4398264" y="1408176"/>
            <a:ext cx="68580" cy="3456431"/>
          </a:xfrm>
          <a:prstGeom prst="rect">
            <a:avLst/>
          </a:prstGeom>
          <a:solidFill>
            <a:srgbClr val="CC003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Rounded Rectangle 7"/>
          <p:cNvSpPr/>
          <p:nvPr/>
        </p:nvSpPr>
        <p:spPr>
          <a:xfrm>
            <a:off x="8055864" y="1298448"/>
            <a:ext cx="3474720" cy="3675887"/>
          </a:xfrm>
          <a:prstGeom prst="roundRect">
            <a:avLst>
              <a:gd name="adj" fmla="val 4500"/>
            </a:avLst>
          </a:prstGeom>
          <a:solidFill>
            <a:srgbClr val="FFFFFF"/>
          </a:solidFill>
          <a:ln w="12700">
            <a:solidFill>
              <a:srgbClr val="D2D2D2"/>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Rectangle 8"/>
          <p:cNvSpPr/>
          <p:nvPr/>
        </p:nvSpPr>
        <p:spPr>
          <a:xfrm>
            <a:off x="8083296" y="1408176"/>
            <a:ext cx="68580" cy="3456431"/>
          </a:xfrm>
          <a:prstGeom prst="rect">
            <a:avLst/>
          </a:prstGeom>
          <a:solidFill>
            <a:srgbClr val="BF8F0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886968" y="1426464"/>
            <a:ext cx="3108960" cy="329184"/>
          </a:xfrm>
          <a:prstGeom prst="rect">
            <a:avLst/>
          </a:prstGeom>
          <a:noFill/>
        </p:spPr>
        <p:txBody>
          <a:bodyPr wrap="square" anchor="t">
            <a:spAutoFit/>
          </a:bodyPr>
          <a:lstStyle/>
          <a:p>
            <a:pPr algn="l"/>
            <a:r>
              <a:rPr sz="1500" b="1" i="0">
                <a:solidFill>
                  <a:srgbClr val="1F4E79"/>
                </a:solidFill>
                <a:latin typeface="Calibri"/>
              </a:rPr>
              <a:t>Three layers of information</a:t>
            </a:r>
          </a:p>
        </p:txBody>
      </p:sp>
      <p:sp>
        <p:nvSpPr>
          <p:cNvPr id="11" name="Rounded Rectangle 10"/>
          <p:cNvSpPr/>
          <p:nvPr/>
        </p:nvSpPr>
        <p:spPr>
          <a:xfrm>
            <a:off x="886968" y="1865376"/>
            <a:ext cx="3072384" cy="475488"/>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a:lstStyle/>
          <a:p>
            <a:pPr algn="ctr"/>
            <a:r>
              <a:rPr sz="1150" b="1">
                <a:solidFill>
                  <a:srgbClr val="262626"/>
                </a:solidFill>
                <a:latin typeface="Calibri"/>
              </a:rPr>
              <a:t>1 · Policy action</a:t>
            </a:r>
            <a:r>
              <a:rPr sz="1150" b="0">
                <a:solidFill>
                  <a:srgbClr val="262626"/>
                </a:solidFill>
                <a:latin typeface="Calibri"/>
              </a:rPr>
              <a:t>   → Target surprise</a:t>
            </a:r>
          </a:p>
        </p:txBody>
      </p:sp>
      <p:sp>
        <p:nvSpPr>
          <p:cNvPr id="12" name="Rounded Rectangle 11"/>
          <p:cNvSpPr/>
          <p:nvPr/>
        </p:nvSpPr>
        <p:spPr>
          <a:xfrm>
            <a:off x="886968" y="2468880"/>
            <a:ext cx="3072384" cy="475488"/>
          </a:xfrm>
          <a:prstGeom prst="roundRect">
            <a:avLst>
              <a:gd name="adj" fmla="val 14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a:lstStyle/>
          <a:p>
            <a:pPr algn="ctr"/>
            <a:r>
              <a:rPr sz="1150" b="1">
                <a:solidFill>
                  <a:srgbClr val="262626"/>
                </a:solidFill>
                <a:latin typeface="Calibri"/>
              </a:rPr>
              <a:t>2 · Policy path</a:t>
            </a:r>
            <a:r>
              <a:rPr sz="1150" b="0">
                <a:solidFill>
                  <a:srgbClr val="262626"/>
                </a:solidFill>
                <a:latin typeface="Calibri"/>
              </a:rPr>
              <a:t>   → Path surprise</a:t>
            </a:r>
          </a:p>
        </p:txBody>
      </p:sp>
      <p:sp>
        <p:nvSpPr>
          <p:cNvPr id="13" name="Rounded Rectangle 12"/>
          <p:cNvSpPr/>
          <p:nvPr/>
        </p:nvSpPr>
        <p:spPr>
          <a:xfrm>
            <a:off x="886968" y="3072384"/>
            <a:ext cx="3072384" cy="475488"/>
          </a:xfrm>
          <a:prstGeom prst="roundRect">
            <a:avLst>
              <a:gd name="adj" fmla="val 14000"/>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a:lstStyle/>
          <a:p>
            <a:pPr algn="ctr"/>
            <a:r>
              <a:rPr sz="1150" b="1">
                <a:solidFill>
                  <a:srgbClr val="1F4E79"/>
                </a:solidFill>
                <a:latin typeface="Calibri"/>
              </a:rPr>
              <a:t>3 · Economic narrative</a:t>
            </a:r>
            <a:r>
              <a:rPr sz="1150" b="0">
                <a:solidFill>
                  <a:srgbClr val="262626"/>
                </a:solidFill>
                <a:latin typeface="Calibri"/>
              </a:rPr>
              <a:t>   → Sentiment</a:t>
            </a:r>
          </a:p>
        </p:txBody>
      </p:sp>
      <p:sp>
        <p:nvSpPr>
          <p:cNvPr id="14" name="TextBox 13"/>
          <p:cNvSpPr txBox="1"/>
          <p:nvPr/>
        </p:nvSpPr>
        <p:spPr>
          <a:xfrm>
            <a:off x="886968" y="3721608"/>
            <a:ext cx="3090672" cy="868680"/>
          </a:xfrm>
          <a:prstGeom prst="rect">
            <a:avLst/>
          </a:prstGeom>
          <a:noFill/>
        </p:spPr>
        <p:txBody>
          <a:bodyPr wrap="square" anchor="t">
            <a:spAutoFit/>
          </a:bodyPr>
          <a:lstStyle/>
          <a:p>
            <a:pPr algn="l">
              <a:lnSpc>
                <a:spcPct val="105000"/>
              </a:lnSpc>
            </a:pPr>
            <a:r>
              <a:rPr sz="1050" b="0" i="1">
                <a:solidFill>
                  <a:srgbClr val="5A5A5A"/>
                </a:solidFill>
                <a:latin typeface="Calibri"/>
              </a:rPr>
              <a:t>The narrative layer is not spanned by high-frequency surprises — it can carry incremental information.</a:t>
            </a:r>
          </a:p>
          <a:p>
            <a:pPr algn="l">
              <a:spcBef>
                <a:spcPts val="700"/>
              </a:spcBef>
            </a:pPr>
            <a:r>
              <a:rPr sz="1200" b="1" i="0">
                <a:solidFill>
                  <a:srgbClr val="1F4E79"/>
                </a:solidFill>
                <a:latin typeface="Calibri"/>
              </a:rPr>
              <a:t>Tests: H1 · H2 · H3</a:t>
            </a:r>
          </a:p>
        </p:txBody>
      </p:sp>
      <p:sp>
        <p:nvSpPr>
          <p:cNvPr id="15" name="TextBox 14"/>
          <p:cNvSpPr txBox="1"/>
          <p:nvPr/>
        </p:nvSpPr>
        <p:spPr>
          <a:xfrm>
            <a:off x="4572000" y="1426464"/>
            <a:ext cx="3108960" cy="329184"/>
          </a:xfrm>
          <a:prstGeom prst="rect">
            <a:avLst/>
          </a:prstGeom>
          <a:noFill/>
        </p:spPr>
        <p:txBody>
          <a:bodyPr wrap="square" anchor="t">
            <a:spAutoFit/>
          </a:bodyPr>
          <a:lstStyle/>
          <a:p>
            <a:pPr algn="l"/>
            <a:r>
              <a:rPr sz="1500" b="1" i="0">
                <a:solidFill>
                  <a:srgbClr val="CC0033"/>
                </a:solidFill>
                <a:latin typeface="Calibri"/>
              </a:rPr>
              <a:t>Two transmission channels</a:t>
            </a:r>
          </a:p>
        </p:txBody>
      </p:sp>
      <p:sp>
        <p:nvSpPr>
          <p:cNvPr id="16" name="Rounded Rectangle 15"/>
          <p:cNvSpPr/>
          <p:nvPr/>
        </p:nvSpPr>
        <p:spPr>
          <a:xfrm>
            <a:off x="4572000" y="1865376"/>
            <a:ext cx="3072384" cy="868680"/>
          </a:xfrm>
          <a:prstGeom prst="roundRect">
            <a:avLst>
              <a:gd name="adj" fmla="val 10000"/>
            </a:avLst>
          </a:prstGeom>
          <a:solidFill>
            <a:srgbClr val="FBE9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ctr"/>
            <a:r>
              <a:rPr sz="1150" b="1">
                <a:solidFill>
                  <a:srgbClr val="CC0033"/>
                </a:solidFill>
                <a:latin typeface="Calibri"/>
              </a:rPr>
              <a:t>Discount-rate channel</a:t>
            </a:r>
          </a:p>
          <a:p>
            <a:r>
              <a:rPr sz="1050">
                <a:solidFill>
                  <a:srgbClr val="262626"/>
                </a:solidFill>
                <a:latin typeface="Calibri"/>
              </a:rPr>
              <a:t>MP shocks reprice assets immediately.</a:t>
            </a:r>
          </a:p>
        </p:txBody>
      </p:sp>
      <p:sp>
        <p:nvSpPr>
          <p:cNvPr id="17" name="Rounded Rectangle 16"/>
          <p:cNvSpPr/>
          <p:nvPr/>
        </p:nvSpPr>
        <p:spPr>
          <a:xfrm>
            <a:off x="4572000" y="2871216"/>
            <a:ext cx="3072384" cy="868680"/>
          </a:xfrm>
          <a:prstGeom prst="roundRect">
            <a:avLst>
              <a:gd name="adj" fmla="val 10000"/>
            </a:avLst>
          </a:prstGeom>
          <a:solidFill>
            <a:srgbClr val="DCE6F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rIns="73152" tIns="54864"/>
          <a:lstStyle/>
          <a:p>
            <a:pPr algn="ctr"/>
            <a:r>
              <a:rPr sz="1150" b="1">
                <a:solidFill>
                  <a:srgbClr val="1F4E79"/>
                </a:solidFill>
                <a:latin typeface="Calibri"/>
              </a:rPr>
              <a:t>Information channel</a:t>
            </a:r>
          </a:p>
          <a:p>
            <a:r>
              <a:rPr sz="1050">
                <a:solidFill>
                  <a:srgbClr val="262626"/>
                </a:solidFill>
                <a:latin typeface="Calibri"/>
              </a:rPr>
              <a:t>CBI shocks update beliefs — prices respond with delay.</a:t>
            </a:r>
          </a:p>
        </p:txBody>
      </p:sp>
      <p:sp>
        <p:nvSpPr>
          <p:cNvPr id="18" name="TextBox 17"/>
          <p:cNvSpPr txBox="1"/>
          <p:nvPr/>
        </p:nvSpPr>
        <p:spPr>
          <a:xfrm>
            <a:off x="4572000" y="3922776"/>
            <a:ext cx="3090672" cy="868680"/>
          </a:xfrm>
          <a:prstGeom prst="rect">
            <a:avLst/>
          </a:prstGeom>
          <a:noFill/>
        </p:spPr>
        <p:txBody>
          <a:bodyPr wrap="square" anchor="t">
            <a:spAutoFit/>
          </a:bodyPr>
          <a:lstStyle/>
          <a:p>
            <a:pPr algn="l">
              <a:lnSpc>
                <a:spcPct val="105000"/>
              </a:lnSpc>
            </a:pPr>
            <a:r>
              <a:rPr sz="1050" b="0" i="1">
                <a:solidFill>
                  <a:srgbClr val="5A5A5A"/>
                </a:solidFill>
                <a:latin typeface="Calibri"/>
              </a:rPr>
              <a:t>Same announcement, two shocks, opposite asset-pricing signatures (JK 2020).</a:t>
            </a:r>
          </a:p>
          <a:p>
            <a:pPr algn="l">
              <a:spcBef>
                <a:spcPts val="700"/>
              </a:spcBef>
            </a:pPr>
            <a:r>
              <a:rPr sz="1200" b="1" i="0">
                <a:solidFill>
                  <a:srgbClr val="CC0033"/>
                </a:solidFill>
                <a:latin typeface="Calibri"/>
              </a:rPr>
              <a:t>Tests: H4 · H6 (Model 6A)</a:t>
            </a:r>
          </a:p>
        </p:txBody>
      </p:sp>
      <p:sp>
        <p:nvSpPr>
          <p:cNvPr id="19" name="TextBox 18"/>
          <p:cNvSpPr txBox="1"/>
          <p:nvPr/>
        </p:nvSpPr>
        <p:spPr>
          <a:xfrm>
            <a:off x="8257032" y="1426464"/>
            <a:ext cx="3108960" cy="329184"/>
          </a:xfrm>
          <a:prstGeom prst="rect">
            <a:avLst/>
          </a:prstGeom>
          <a:noFill/>
        </p:spPr>
        <p:txBody>
          <a:bodyPr wrap="square" anchor="t">
            <a:spAutoFit/>
          </a:bodyPr>
          <a:lstStyle/>
          <a:p>
            <a:pPr algn="l"/>
            <a:r>
              <a:rPr sz="1500" b="1" i="0">
                <a:solidFill>
                  <a:srgbClr val="BF8F00"/>
                </a:solidFill>
                <a:latin typeface="Calibri"/>
              </a:rPr>
              <a:t>One institutional friction</a:t>
            </a:r>
          </a:p>
        </p:txBody>
      </p:sp>
      <p:sp>
        <p:nvSpPr>
          <p:cNvPr id="20" name="TextBox 19"/>
          <p:cNvSpPr txBox="1"/>
          <p:nvPr/>
        </p:nvSpPr>
        <p:spPr>
          <a:xfrm>
            <a:off x="8275320" y="1847088"/>
            <a:ext cx="3054096" cy="1188720"/>
          </a:xfrm>
          <a:prstGeom prst="rect">
            <a:avLst/>
          </a:prstGeom>
          <a:noFill/>
        </p:spPr>
        <p:txBody>
          <a:bodyPr wrap="square" anchor="t">
            <a:spAutoFit/>
          </a:bodyPr>
          <a:lstStyle/>
          <a:p>
            <a:pPr algn="l"/>
            <a:r>
              <a:rPr sz="1150" b="1" i="0">
                <a:solidFill>
                  <a:srgbClr val="262626"/>
                </a:solidFill>
                <a:latin typeface="Calibri"/>
              </a:rPr>
              <a:t>Prices adjust on the day</a:t>
            </a:r>
          </a:p>
          <a:p>
            <a:pPr algn="l">
              <a:lnSpc>
                <a:spcPct val="105000"/>
              </a:lnSpc>
            </a:pPr>
            <a:r>
              <a:rPr sz="1050" b="0" i="0">
                <a:solidFill>
                  <a:srgbClr val="5A5A5A"/>
                </a:solidFill>
                <a:latin typeface="Calibri"/>
              </a:rPr>
              <a:t>announcement day — information is in the price</a:t>
            </a:r>
          </a:p>
          <a:p>
            <a:pPr algn="l">
              <a:spcBef>
                <a:spcPts val="300"/>
              </a:spcBef>
            </a:pPr>
            <a:r>
              <a:rPr sz="1400" b="1" i="0">
                <a:solidFill>
                  <a:srgbClr val="BF8F00"/>
                </a:solidFill>
                <a:latin typeface="Calibri"/>
              </a:rPr>
              <a:t>↓</a:t>
            </a:r>
          </a:p>
          <a:p>
            <a:pPr algn="l">
              <a:spcBef>
                <a:spcPts val="300"/>
              </a:spcBef>
            </a:pPr>
            <a:r>
              <a:rPr sz="1150" b="1" i="0">
                <a:solidFill>
                  <a:srgbClr val="262626"/>
                </a:solidFill>
                <a:latin typeface="Calibri"/>
              </a:rPr>
              <a:t>Flows adjust weeks later</a:t>
            </a:r>
          </a:p>
          <a:p>
            <a:pPr algn="l">
              <a:lnSpc>
                <a:spcPct val="105000"/>
              </a:lnSpc>
            </a:pPr>
            <a:r>
              <a:rPr sz="1050" b="0" i="0">
                <a:solidFill>
                  <a:srgbClr val="5A5A5A"/>
                </a:solidFill>
                <a:latin typeface="Calibri"/>
              </a:rPr>
              <a:t>decision cycles, risk controls, T+1 settlement</a:t>
            </a:r>
          </a:p>
        </p:txBody>
      </p:sp>
      <p:sp>
        <p:nvSpPr>
          <p:cNvPr id="21" name="Rounded Rectangle 20"/>
          <p:cNvSpPr/>
          <p:nvPr/>
        </p:nvSpPr>
        <p:spPr>
          <a:xfrm>
            <a:off x="8257032" y="3511296"/>
            <a:ext cx="3072384" cy="566928"/>
          </a:xfrm>
          <a:prstGeom prst="roundRect">
            <a:avLst>
              <a:gd name="adj" fmla="val 14000"/>
            </a:avLst>
          </a:prstGeom>
          <a:solidFill>
            <a:srgbClr val="F7F0D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150" b="1">
                <a:solidFill>
                  <a:srgbClr val="BF8F00"/>
                </a:solidFill>
                <a:latin typeface="Calibri"/>
              </a:rPr>
              <a:t>Price leads, flow lags</a:t>
            </a:r>
          </a:p>
        </p:txBody>
      </p:sp>
      <p:sp>
        <p:nvSpPr>
          <p:cNvPr id="22" name="TextBox 21"/>
          <p:cNvSpPr txBox="1"/>
          <p:nvPr/>
        </p:nvSpPr>
        <p:spPr>
          <a:xfrm>
            <a:off x="8257032" y="4242816"/>
            <a:ext cx="3090672" cy="658368"/>
          </a:xfrm>
          <a:prstGeom prst="rect">
            <a:avLst/>
          </a:prstGeom>
          <a:noFill/>
        </p:spPr>
        <p:txBody>
          <a:bodyPr wrap="square" anchor="t">
            <a:spAutoFit/>
          </a:bodyPr>
          <a:lstStyle/>
          <a:p>
            <a:pPr algn="l">
              <a:lnSpc>
                <a:spcPct val="105000"/>
              </a:lnSpc>
            </a:pPr>
            <a:r>
              <a:rPr sz="1050" b="0" i="1">
                <a:solidFill>
                  <a:srgbClr val="5A5A5A"/>
                </a:solidFill>
                <a:latin typeface="Calibri"/>
              </a:rPr>
              <a:t>Rebalancing follows the shock, so flows identify which shock hit.</a:t>
            </a:r>
          </a:p>
          <a:p>
            <a:pPr algn="l">
              <a:spcBef>
                <a:spcPts val="700"/>
              </a:spcBef>
            </a:pPr>
            <a:r>
              <a:rPr sz="1200" b="1" i="0">
                <a:solidFill>
                  <a:srgbClr val="BF8F00"/>
                </a:solidFill>
                <a:latin typeface="Calibri"/>
              </a:rPr>
              <a:t>Tests: H5 · H6 (Model 6B)</a:t>
            </a:r>
          </a:p>
        </p:txBody>
      </p:sp>
      <p:sp>
        <p:nvSpPr>
          <p:cNvPr id="23" name="Rounded Rectangle 22"/>
          <p:cNvSpPr/>
          <p:nvPr/>
        </p:nvSpPr>
        <p:spPr>
          <a:xfrm>
            <a:off x="685800" y="5230368"/>
            <a:ext cx="10844784" cy="713232"/>
          </a:xfrm>
          <a:prstGeom prst="roundRect">
            <a:avLst>
              <a:gd name="adj" fmla="val 10000"/>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wrap="square" lIns="164592" anchor="ctr"/>
          <a:lstStyle/>
          <a:p>
            <a:pPr algn="ctr"/>
            <a:r>
              <a:rPr sz="1250" b="1">
                <a:solidFill>
                  <a:srgbClr val="CC0033"/>
                </a:solidFill>
                <a:latin typeface="Calibri"/>
              </a:rPr>
              <a:t>Part 1 (H1–H3)  </a:t>
            </a:r>
            <a:r>
              <a:rPr sz="1250" b="0">
                <a:solidFill>
                  <a:srgbClr val="262626"/>
                </a:solidFill>
                <a:latin typeface="Calibri"/>
              </a:rPr>
              <a:t>What the words convey — Words Beyond the Rate</a:t>
            </a:r>
            <a:r>
              <a:rPr sz="1250" b="1">
                <a:solidFill>
                  <a:srgbClr val="5A5A5A"/>
                </a:solidFill>
                <a:latin typeface="Calibri"/>
              </a:rPr>
              <a:t>      →      </a:t>
            </a:r>
            <a:r>
              <a:rPr sz="1250" b="1">
                <a:solidFill>
                  <a:srgbClr val="1F4E79"/>
                </a:solidFill>
                <a:latin typeface="Calibri"/>
              </a:rPr>
              <a:t>Part 2 (H4–H6)  </a:t>
            </a:r>
            <a:r>
              <a:rPr sz="1250" b="0">
                <a:solidFill>
                  <a:srgbClr val="262626"/>
                </a:solidFill>
                <a:latin typeface="Calibri"/>
              </a:rPr>
              <a:t>How investors respond — Information vs. Action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b="1" dirty="0">
                <a:solidFill>
                  <a:schemeClr val="bg1"/>
                </a:solidFill>
                <a:latin typeface="Calibri"/>
              </a:rPr>
              <a:t>Hypotheses : Part 1 H1- H3</a:t>
            </a:r>
          </a:p>
        </p:txBody>
      </p:sp>
      <p:sp>
        <p:nvSpPr>
          <p:cNvPr id="5" name="TextBox 4"/>
          <p:cNvSpPr txBox="1"/>
          <p:nvPr/>
        </p:nvSpPr>
        <p:spPr>
          <a:xfrm>
            <a:off x="662939" y="988858"/>
            <a:ext cx="10972800" cy="369332"/>
          </a:xfrm>
          <a:prstGeom prst="rect">
            <a:avLst/>
          </a:prstGeom>
          <a:noFill/>
        </p:spPr>
        <p:txBody>
          <a:bodyPr wrap="square" anchor="t">
            <a:spAutoFit/>
          </a:bodyPr>
          <a:lstStyle/>
          <a:p>
            <a:pPr algn="l"/>
            <a:r>
              <a:rPr b="1" i="1" dirty="0">
                <a:solidFill>
                  <a:srgbClr val="5A5A5A"/>
                </a:solidFill>
                <a:latin typeface="Calibri"/>
              </a:rPr>
              <a:t>Words Beyond the Rate</a:t>
            </a:r>
          </a:p>
        </p:txBody>
      </p:sp>
      <p:sp>
        <p:nvSpPr>
          <p:cNvPr id="6" name="Rounded Rectangle 5"/>
          <p:cNvSpPr/>
          <p:nvPr/>
        </p:nvSpPr>
        <p:spPr>
          <a:xfrm>
            <a:off x="685800" y="1508760"/>
            <a:ext cx="3474720" cy="4160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73152" cy="416052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655063"/>
            <a:ext cx="3154679" cy="369332"/>
          </a:xfrm>
          <a:prstGeom prst="rect">
            <a:avLst/>
          </a:prstGeom>
          <a:noFill/>
        </p:spPr>
        <p:txBody>
          <a:bodyPr wrap="square" anchor="t">
            <a:spAutoFit/>
          </a:bodyPr>
          <a:lstStyle/>
          <a:p>
            <a:pPr algn="l"/>
            <a:r>
              <a:rPr sz="1800" b="1" i="0" dirty="0">
                <a:solidFill>
                  <a:srgbClr val="CC0033"/>
                </a:solidFill>
                <a:latin typeface="Calibri"/>
              </a:rPr>
              <a:t>H1</a:t>
            </a:r>
            <a:r>
              <a:rPr lang="en-US" sz="1800" b="1" i="0" dirty="0">
                <a:solidFill>
                  <a:srgbClr val="CC0033"/>
                </a:solidFill>
                <a:latin typeface="Calibri"/>
              </a:rPr>
              <a:t>: </a:t>
            </a:r>
            <a:r>
              <a:rPr sz="1800" b="1" i="0" dirty="0">
                <a:solidFill>
                  <a:srgbClr val="CC0033"/>
                </a:solidFill>
                <a:latin typeface="Calibri"/>
              </a:rPr>
              <a:t>Statement language</a:t>
            </a:r>
          </a:p>
        </p:txBody>
      </p:sp>
      <p:sp>
        <p:nvSpPr>
          <p:cNvPr id="9" name="TextBox 8"/>
          <p:cNvSpPr txBox="1"/>
          <p:nvPr/>
        </p:nvSpPr>
        <p:spPr>
          <a:xfrm>
            <a:off x="886968" y="2075688"/>
            <a:ext cx="3154679" cy="3216265"/>
          </a:xfrm>
          <a:prstGeom prst="rect">
            <a:avLst/>
          </a:prstGeom>
          <a:noFill/>
        </p:spPr>
        <p:txBody>
          <a:bodyPr wrap="square" anchor="t">
            <a:spAutoFit/>
          </a:bodyPr>
          <a:lstStyle/>
          <a:p>
            <a:pPr>
              <a:lnSpc>
                <a:spcPct val="104000"/>
              </a:lnSpc>
            </a:pPr>
            <a:r>
              <a:rPr sz="1350" b="1" i="0">
                <a:solidFill>
                  <a:srgbClr val="262626"/>
                </a:solidFill>
                <a:latin typeface="Calibri"/>
              </a:rPr>
              <a:t>Hypothesis: </a:t>
            </a:r>
            <a:r>
              <a:rPr sz="1350" b="0" i="0">
                <a:solidFill>
                  <a:srgbClr val="262626"/>
                </a:solidFill>
                <a:latin typeface="Calibri"/>
              </a:rPr>
              <a:t>FOMC statement sentiment is more closely associated with the Target surprise than with the Path surprise.</a:t>
            </a:r>
          </a:p>
          <a:p>
            <a:pPr>
              <a:lnSpc>
                <a:spcPct val="104000"/>
              </a:lnSpc>
              <a:spcBef>
                <a:spcPts val="600"/>
              </a:spcBef>
            </a:pPr>
            <a:r>
              <a:rPr sz="1350" b="1" i="0">
                <a:solidFill>
                  <a:srgbClr val="262626"/>
                </a:solidFill>
                <a:latin typeface="Calibri"/>
              </a:rPr>
              <a:t>Model 1: </a:t>
            </a:r>
            <a:r>
              <a:rPr sz="1350" b="0" i="0">
                <a:solidFill>
                  <a:srgbClr val="262626"/>
                </a:solidFill>
                <a:latin typeface="Calibri"/>
              </a:rPr>
              <a:t>Sentiment = α + β₁·Target + β₂·Path + ε   (Wald: β₁ = β₂)</a:t>
            </a:r>
          </a:p>
          <a:p>
            <a:pPr>
              <a:lnSpc>
                <a:spcPct val="104000"/>
              </a:lnSpc>
              <a:spcBef>
                <a:spcPts val="600"/>
              </a:spcBef>
            </a:pPr>
            <a:r>
              <a:rPr sz="1350" b="1" i="0">
                <a:solidFill>
                  <a:srgbClr val="262626"/>
                </a:solidFill>
                <a:latin typeface="Calibri"/>
              </a:rPr>
              <a:t>H1b (secondary): </a:t>
            </a:r>
            <a:r>
              <a:rPr sz="1350" b="0" i="0">
                <a:solidFill>
                  <a:srgbClr val="262626"/>
                </a:solidFill>
                <a:latin typeface="Calibri"/>
              </a:rPr>
              <a:t>sentiment does not distinguish MP from CBI shocks (F-test β_MP = β_CBI).</a:t>
            </a:r>
          </a:p>
          <a:p>
            <a:pPr>
              <a:lnSpc>
                <a:spcPct val="104000"/>
              </a:lnSpc>
            </a:pPr>
            <a:r>
              <a:rPr sz="1350" b="0" i="1">
                <a:solidFill>
                  <a:srgbClr val="5A5A5A"/>
                </a:solidFill>
                <a:latin typeface="Calibri"/>
              </a:rPr>
              <a:t>Theory anchor: GSS (2005) target/path decomposition; Bauer–Swanson (2023) target dominance.</a:t>
            </a:r>
          </a:p>
        </p:txBody>
      </p:sp>
      <p:sp>
        <p:nvSpPr>
          <p:cNvPr id="10" name="Rounded Rectangle 9"/>
          <p:cNvSpPr/>
          <p:nvPr/>
        </p:nvSpPr>
        <p:spPr>
          <a:xfrm>
            <a:off x="4370832" y="1508760"/>
            <a:ext cx="3474720" cy="4160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0832" y="1508760"/>
            <a:ext cx="73152" cy="4160520"/>
          </a:xfrm>
          <a:prstGeom prst="rect">
            <a:avLst/>
          </a:prstGeom>
          <a:solidFill>
            <a:srgbClr val="426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655063"/>
            <a:ext cx="3154679" cy="369332"/>
          </a:xfrm>
          <a:prstGeom prst="rect">
            <a:avLst/>
          </a:prstGeom>
          <a:noFill/>
        </p:spPr>
        <p:txBody>
          <a:bodyPr wrap="square" anchor="t">
            <a:spAutoFit/>
          </a:bodyPr>
          <a:lstStyle/>
          <a:p>
            <a:pPr algn="l"/>
            <a:r>
              <a:rPr sz="1800" b="1" i="0" dirty="0">
                <a:solidFill>
                  <a:srgbClr val="4267B2"/>
                </a:solidFill>
                <a:latin typeface="Calibri"/>
              </a:rPr>
              <a:t>H2</a:t>
            </a:r>
            <a:r>
              <a:rPr lang="en-US" sz="1800" b="1" i="0" dirty="0">
                <a:solidFill>
                  <a:srgbClr val="4267B2"/>
                </a:solidFill>
                <a:latin typeface="Calibri"/>
              </a:rPr>
              <a:t>:</a:t>
            </a:r>
            <a:r>
              <a:rPr sz="1800" b="1" i="0" dirty="0">
                <a:solidFill>
                  <a:srgbClr val="4267B2"/>
                </a:solidFill>
                <a:latin typeface="Calibri"/>
              </a:rPr>
              <a:t> Incremental information</a:t>
            </a:r>
          </a:p>
        </p:txBody>
      </p:sp>
      <mc:AlternateContent xmlns:mc="http://schemas.openxmlformats.org/markup-compatibility/2006">
        <mc:Choice xmlns:a14="http://schemas.microsoft.com/office/drawing/2010/main" Requires="a14">
          <p:sp>
            <p:nvSpPr>
              <p:cNvPr id="13" name="TextBox 12"/>
              <p:cNvSpPr txBox="1"/>
              <p:nvPr/>
            </p:nvSpPr>
            <p:spPr>
              <a:xfrm>
                <a:off x="4572000" y="2075688"/>
                <a:ext cx="3154679" cy="3237489"/>
              </a:xfrm>
              <a:prstGeom prst="rect">
                <a:avLst/>
              </a:prstGeom>
              <a:noFill/>
            </p:spPr>
            <p:txBody>
              <a:bodyPr wrap="square" anchor="t">
                <a:spAutoFit/>
              </a:bodyPr>
              <a:lstStyle/>
              <a:p>
                <a:r>
                  <a:rPr lang="en-US" sz="1400" b="1" dirty="0"/>
                  <a:t>Hypothesis : </a:t>
                </a:r>
                <a:r>
                  <a:rPr lang="en-US" sz="1400" dirty="0"/>
                  <a:t>Statement sentiment explains asset-price responses beyond Target and Path surprises.</a:t>
                </a:r>
                <a:r>
                  <a:rPr sz="1400" b="0" i="0" dirty="0">
                    <a:solidFill>
                      <a:srgbClr val="191919"/>
                    </a:solidFill>
                    <a:latin typeface="Calibri"/>
                  </a:rPr>
                  <a:t>
</a:t>
                </a:r>
                <a:r>
                  <a:rPr lang="en-US" sz="1400" b="1" i="0" dirty="0">
                    <a:solidFill>
                      <a:srgbClr val="191919"/>
                    </a:solidFill>
                    <a:latin typeface="Calibri"/>
                  </a:rPr>
                  <a:t>Model 2: </a:t>
                </a:r>
              </a:p>
              <a:p>
                <a:r>
                  <a:rPr sz="1400" b="0" i="0" dirty="0">
                    <a:solidFill>
                      <a:srgbClr val="191919"/>
                    </a:solidFill>
                    <a:latin typeface="Calibri"/>
                  </a:rPr>
                  <a:t>Return = α + β₁Target + β₂Path + β₃Sentiment + ε</a:t>
                </a:r>
                <a:endParaRPr lang="en-US" sz="1400" b="0" i="0" dirty="0">
                  <a:solidFill>
                    <a:srgbClr val="191919"/>
                  </a:solidFill>
                  <a:latin typeface="Calibri"/>
                </a:endParaRPr>
              </a:p>
              <a:p>
                <a:endParaRPr lang="en-US" sz="1400" dirty="0">
                  <a:solidFill>
                    <a:srgbClr val="191919"/>
                  </a:solidFill>
                  <a:latin typeface="Calibri"/>
                </a:endParaRPr>
              </a:p>
              <a:p>
                <a:r>
                  <a:rPr lang="en-US" sz="1400" dirty="0"/>
                  <a:t>where </a:t>
                </a:r>
                <a14:m>
                  <m:oMath xmlns:m="http://schemas.openxmlformats.org/officeDocument/2006/math">
                    <m:sSub>
                      <m:sSubPr>
                        <m:ctrlPr>
                          <a:rPr lang="en-US" i="1"/>
                        </m:ctrlPr>
                      </m:sSubPr>
                      <m:e>
                        <m:r>
                          <a:rPr lang="en-US" i="1"/>
                          <m:t>𝑅</m:t>
                        </m:r>
                      </m:e>
                      <m:sub>
                        <m:r>
                          <a:rPr lang="en-US" i="1"/>
                          <m:t>𝑖</m:t>
                        </m:r>
                        <m:r>
                          <a:rPr lang="en-US"/>
                          <m:t>,</m:t>
                        </m:r>
                        <m:r>
                          <a:rPr lang="en-US" i="1"/>
                          <m:t>𝑡</m:t>
                        </m:r>
                      </m:sub>
                    </m:sSub>
                  </m:oMath>
                </a14:m>
                <a:r>
                  <a:rPr lang="en-US" sz="1400" dirty="0"/>
                  <a:t>is the return or yield change for asset </a:t>
                </a:r>
                <a14:m>
                  <m:oMath xmlns:m="http://schemas.openxmlformats.org/officeDocument/2006/math">
                    <m:r>
                      <a:rPr lang="en-US" i="1"/>
                      <m:t>𝑖</m:t>
                    </m:r>
                  </m:oMath>
                </a14:m>
                <a:r>
                  <a:rPr lang="en-US" sz="1400" dirty="0"/>
                  <a:t>.</a:t>
                </a:r>
              </a:p>
              <a:p>
                <a:endParaRPr lang="en-US" sz="1400" b="0" i="0" dirty="0">
                  <a:solidFill>
                    <a:srgbClr val="191919"/>
                  </a:solidFill>
                  <a:latin typeface="Calibri"/>
                </a:endParaRPr>
              </a:p>
              <a:p>
                <a:r>
                  <a:rPr lang="en-US" sz="1400" dirty="0"/>
                  <a:t>Q: After controlling for the conventional monetary-policy surprises, </a:t>
                </a:r>
                <a:r>
                  <a:rPr lang="en-US" sz="1400" b="1" dirty="0"/>
                  <a:t>do the words still matter?</a:t>
                </a:r>
                <a:endParaRPr sz="1400" b="0" i="0" dirty="0">
                  <a:solidFill>
                    <a:srgbClr val="191919"/>
                  </a:solidFill>
                  <a:latin typeface="Calibri"/>
                </a:endParaRPr>
              </a:p>
            </p:txBody>
          </p:sp>
        </mc:Choice>
        <mc:Fallback>
          <p:sp>
            <p:nvSpPr>
              <p:cNvPr id="13" name="TextBox 12"/>
              <p:cNvSpPr txBox="1">
                <a:spLocks noRot="1" noChangeAspect="1" noMove="1" noResize="1" noEditPoints="1" noAdjustHandles="1" noChangeArrowheads="1" noChangeShapeType="1" noTextEdit="1"/>
              </p:cNvSpPr>
              <p:nvPr/>
            </p:nvSpPr>
            <p:spPr>
              <a:xfrm>
                <a:off x="4572000" y="2075688"/>
                <a:ext cx="3154679" cy="3237489"/>
              </a:xfrm>
              <a:prstGeom prst="rect">
                <a:avLst/>
              </a:prstGeom>
              <a:blipFill>
                <a:blip r:embed="rId2"/>
                <a:stretch>
                  <a:fillRect l="-580" t="-377" r="-580" b="-942"/>
                </a:stretch>
              </a:blipFill>
            </p:spPr>
            <p:txBody>
              <a:bodyPr/>
              <a:lstStyle/>
              <a:p>
                <a:r>
                  <a:rPr lang="en-US">
                    <a:noFill/>
                  </a:rPr>
                  <a:t> </a:t>
                </a:r>
              </a:p>
            </p:txBody>
          </p:sp>
        </mc:Fallback>
      </mc:AlternateContent>
      <p:sp>
        <p:nvSpPr>
          <p:cNvPr id="14" name="Rounded Rectangle 13"/>
          <p:cNvSpPr/>
          <p:nvPr/>
        </p:nvSpPr>
        <p:spPr>
          <a:xfrm>
            <a:off x="8055864" y="1508760"/>
            <a:ext cx="3474720" cy="4160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55864" y="1508760"/>
            <a:ext cx="73152" cy="4160520"/>
          </a:xfrm>
          <a:prstGeom prst="rect">
            <a:avLst/>
          </a:prstGeom>
          <a:solidFill>
            <a:srgbClr val="BA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7032" y="1655063"/>
            <a:ext cx="3154679" cy="369332"/>
          </a:xfrm>
          <a:prstGeom prst="rect">
            <a:avLst/>
          </a:prstGeom>
          <a:noFill/>
        </p:spPr>
        <p:txBody>
          <a:bodyPr wrap="square" anchor="t">
            <a:spAutoFit/>
          </a:bodyPr>
          <a:lstStyle/>
          <a:p>
            <a:pPr algn="l"/>
            <a:r>
              <a:rPr sz="1800" b="1" i="0" dirty="0">
                <a:solidFill>
                  <a:srgbClr val="BA8B2A"/>
                </a:solidFill>
                <a:latin typeface="Calibri"/>
              </a:rPr>
              <a:t>H3</a:t>
            </a:r>
            <a:r>
              <a:rPr lang="en-US" sz="1800" b="1" i="0" dirty="0">
                <a:solidFill>
                  <a:srgbClr val="BA8B2A"/>
                </a:solidFill>
                <a:latin typeface="Calibri"/>
              </a:rPr>
              <a:t>: </a:t>
            </a:r>
            <a:r>
              <a:rPr sz="1800" b="1" i="0" dirty="0">
                <a:solidFill>
                  <a:srgbClr val="BA8B2A"/>
                </a:solidFill>
                <a:latin typeface="Calibri"/>
              </a:rPr>
              <a:t>State dependence</a:t>
            </a:r>
          </a:p>
        </p:txBody>
      </p:sp>
      <p:sp>
        <p:nvSpPr>
          <p:cNvPr id="17" name="TextBox 16"/>
          <p:cNvSpPr txBox="1"/>
          <p:nvPr/>
        </p:nvSpPr>
        <p:spPr>
          <a:xfrm>
            <a:off x="8257032" y="2075688"/>
            <a:ext cx="3154679" cy="3252172"/>
          </a:xfrm>
          <a:prstGeom prst="rect">
            <a:avLst/>
          </a:prstGeom>
          <a:noFill/>
        </p:spPr>
        <p:txBody>
          <a:bodyPr wrap="square" anchor="t">
            <a:spAutoFit/>
          </a:bodyPr>
          <a:lstStyle/>
          <a:p>
            <a:r>
              <a:rPr lang="en-US" sz="1400" b="1" dirty="0"/>
              <a:t>Hypothesis:</a:t>
            </a:r>
            <a:r>
              <a:rPr lang="en-US" sz="1400" dirty="0"/>
              <a:t> The incremental effect of statement sentiment varies across monetary-policy regimes, particularly during the forward-guidance/ZLB period.</a:t>
            </a:r>
          </a:p>
          <a:p>
            <a:r>
              <a:rPr lang="en-US" sz="1400" b="1" dirty="0">
                <a:solidFill>
                  <a:srgbClr val="191919"/>
                </a:solidFill>
                <a:latin typeface="Calibri"/>
              </a:rPr>
              <a:t>Model 3: </a:t>
            </a:r>
            <a:endParaRPr lang="en-US" sz="1400" b="1" i="0" dirty="0">
              <a:solidFill>
                <a:srgbClr val="191919"/>
              </a:solidFill>
              <a:latin typeface="Calibri"/>
            </a:endParaRPr>
          </a:p>
          <a:p>
            <a:pPr>
              <a:spcAft>
                <a:spcPts val="400"/>
              </a:spcAft>
            </a:pPr>
            <a:r>
              <a:rPr lang="en-US" sz="1200" dirty="0" err="1"/>
              <a:t>Ri,t</a:t>
            </a:r>
            <a:r>
              <a:rPr lang="en-US" sz="1200" dirty="0"/>
              <a:t>​</a:t>
            </a:r>
            <a:r>
              <a:rPr lang="en-US" sz="1200" dirty="0">
                <a:solidFill>
                  <a:srgbClr val="1F2A44"/>
                </a:solidFill>
              </a:rPr>
              <a:t>= </a:t>
            </a:r>
            <a:r>
              <a:rPr lang="el-GR" sz="1200" dirty="0">
                <a:solidFill>
                  <a:srgbClr val="1F2A44"/>
                </a:solidFill>
              </a:rPr>
              <a:t>α + β₁ · </a:t>
            </a:r>
            <a:r>
              <a:rPr lang="en-US" sz="1200" dirty="0">
                <a:solidFill>
                  <a:srgbClr val="1F2A44"/>
                </a:solidFill>
              </a:rPr>
              <a:t>Targetₜ + </a:t>
            </a:r>
            <a:r>
              <a:rPr lang="el-GR" sz="1200" dirty="0">
                <a:solidFill>
                  <a:srgbClr val="1F2A44"/>
                </a:solidFill>
              </a:rPr>
              <a:t>β₂ · </a:t>
            </a:r>
            <a:r>
              <a:rPr lang="en-US" sz="1200" dirty="0">
                <a:solidFill>
                  <a:srgbClr val="1F2A44"/>
                </a:solidFill>
              </a:rPr>
              <a:t>Pathₜ + </a:t>
            </a:r>
            <a:r>
              <a:rPr lang="el-GR" sz="1200" dirty="0">
                <a:solidFill>
                  <a:srgbClr val="1F2A44"/>
                </a:solidFill>
              </a:rPr>
              <a:t>β₃ · </a:t>
            </a:r>
            <a:r>
              <a:rPr lang="en-US" sz="1200" dirty="0">
                <a:solidFill>
                  <a:srgbClr val="1F2A44"/>
                </a:solidFill>
              </a:rPr>
              <a:t>Sentimentₜ +</a:t>
            </a:r>
            <a:r>
              <a:rPr lang="en-US" sz="1200" dirty="0"/>
              <a:t>β4​(</a:t>
            </a:r>
            <a:r>
              <a:rPr lang="en-US" sz="1200" dirty="0" err="1"/>
              <a:t>Sentimentt</a:t>
            </a:r>
            <a:r>
              <a:rPr lang="en-US" sz="1200" dirty="0"/>
              <a:t>​×</a:t>
            </a:r>
            <a:r>
              <a:rPr lang="en-US" sz="1200" dirty="0" err="1"/>
              <a:t>FGt</a:t>
            </a:r>
            <a:r>
              <a:rPr lang="en-US" sz="1200" dirty="0"/>
              <a:t>​) </a:t>
            </a:r>
            <a:r>
              <a:rPr lang="en-US" sz="1200" dirty="0">
                <a:solidFill>
                  <a:srgbClr val="1F2A44"/>
                </a:solidFill>
              </a:rPr>
              <a:t>+ </a:t>
            </a:r>
            <a:r>
              <a:rPr lang="el-GR" sz="1200" dirty="0">
                <a:solidFill>
                  <a:srgbClr val="1F2A44"/>
                </a:solidFill>
              </a:rPr>
              <a:t>ε</a:t>
            </a:r>
            <a:r>
              <a:rPr lang="en-US" sz="1200" dirty="0">
                <a:solidFill>
                  <a:srgbClr val="1F2A44"/>
                </a:solidFill>
              </a:rPr>
              <a:t>ₜ where </a:t>
            </a:r>
            <a:r>
              <a:rPr lang="en-US" sz="1200" dirty="0" err="1"/>
              <a:t>FGt</a:t>
            </a:r>
            <a:r>
              <a:rPr lang="en-US" sz="1200" dirty="0"/>
              <a:t>​=1, during the forward-guidance/ZLB period and 0 otherwise.</a:t>
            </a:r>
            <a:endParaRPr lang="en-US" sz="1200" dirty="0">
              <a:solidFill>
                <a:srgbClr val="1F2A44"/>
              </a:solidFill>
            </a:endParaRPr>
          </a:p>
          <a:p>
            <a:r>
              <a:rPr lang="en-US" sz="1400" dirty="0"/>
              <a:t>Q: Does the market respond differently to FOMC language when the policy rate is constrained and communication becomes relatively more important?</a:t>
            </a:r>
            <a:endParaRPr sz="1400" b="0" i="0" dirty="0">
              <a:solidFill>
                <a:srgbClr val="191919"/>
              </a:solidFill>
              <a:latin typeface="Calibri"/>
            </a:endParaRPr>
          </a:p>
          <a:p>
            <a:pPr>
              <a:lnSpc>
                <a:spcPct val="104000"/>
              </a:lnSpc>
              <a:spcBef>
                <a:spcPts val="600"/>
              </a:spcBef>
            </a:pPr>
            <a:r>
              <a:rPr lang="en-US" sz="1050" i="1" dirty="0">
                <a:solidFill>
                  <a:srgbClr val="5A5A5A"/>
                </a:solidFill>
                <a:latin typeface="Calibri"/>
              </a:rPr>
              <a:t>Theory anchor: Eggertsson &amp; Woodford (2003); Swanson (2021) — communication substitutes for action at the ZLB.</a:t>
            </a:r>
          </a:p>
        </p:txBody>
      </p:sp>
      <p:sp>
        <p:nvSpPr>
          <p:cNvPr id="18" name="TextBox 17"/>
          <p:cNvSpPr txBox="1"/>
          <p:nvPr/>
        </p:nvSpPr>
        <p:spPr>
          <a:xfrm>
            <a:off x="4572000" y="5303520"/>
            <a:ext cx="3154680" cy="365760"/>
          </a:xfrm>
          <a:prstGeom prst="rect">
            <a:avLst/>
          </a:prstGeom>
          <a:noFill/>
        </p:spPr>
        <p:txBody>
          <a:bodyPr wrap="square" lIns="0" rIns="0" tIns="0" bIns="0">
            <a:spAutoFit/>
          </a:bodyPr>
          <a:lstStyle/>
          <a:p>
            <a:r>
              <a:rPr sz="1000" i="1">
                <a:solidFill>
                  <a:srgbClr val="5A5A5A"/>
                </a:solidFill>
                <a:latin typeface="Calibri"/>
              </a:rPr>
              <a:t>Theory anchor: Romer &amp; Romer (2000); Nakamura &amp; Steinsson (2018).</a:t>
            </a:r>
          </a:p>
        </p:txBody>
      </p:sp>
    </p:spTree>
    <p:extLst>
      <p:ext uri="{BB962C8B-B14F-4D97-AF65-F5344CB8AC3E}">
        <p14:creationId xmlns:p14="http://schemas.microsoft.com/office/powerpoint/2010/main" val="145089489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93111" y="97125"/>
            <a:ext cx="4920554" cy="400110"/>
          </a:xfrm>
          <a:prstGeom prst="rect">
            <a:avLst/>
          </a:prstGeom>
          <a:noFill/>
        </p:spPr>
        <p:txBody>
          <a:bodyPr wrap="square" anchor="t">
            <a:spAutoFit/>
          </a:bodyPr>
          <a:lstStyle/>
          <a:p>
            <a:r>
              <a:rPr lang="en-US" sz="2000" b="1" dirty="0">
                <a:solidFill>
                  <a:schemeClr val="bg1"/>
                </a:solidFill>
                <a:latin typeface="Calibri"/>
              </a:rPr>
              <a:t>Hypotheses : Part 2 H4-H6</a:t>
            </a:r>
          </a:p>
        </p:txBody>
      </p:sp>
      <p:sp>
        <p:nvSpPr>
          <p:cNvPr id="5" name="TextBox 4"/>
          <p:cNvSpPr txBox="1"/>
          <p:nvPr/>
        </p:nvSpPr>
        <p:spPr>
          <a:xfrm>
            <a:off x="758952" y="883702"/>
            <a:ext cx="10972800" cy="369332"/>
          </a:xfrm>
          <a:prstGeom prst="rect">
            <a:avLst/>
          </a:prstGeom>
          <a:noFill/>
        </p:spPr>
        <p:txBody>
          <a:bodyPr wrap="square" anchor="t">
            <a:spAutoFit/>
          </a:bodyPr>
          <a:lstStyle/>
          <a:p>
            <a:pPr algn="l"/>
            <a:r>
              <a:rPr b="1" i="1" dirty="0">
                <a:solidFill>
                  <a:srgbClr val="5A5A5A"/>
                </a:solidFill>
                <a:latin typeface="Calibri"/>
              </a:rPr>
              <a:t>Information vs. Action</a:t>
            </a:r>
          </a:p>
        </p:txBody>
      </p:sp>
      <p:sp>
        <p:nvSpPr>
          <p:cNvPr id="6" name="Rounded Rectangle 5"/>
          <p:cNvSpPr/>
          <p:nvPr/>
        </p:nvSpPr>
        <p:spPr>
          <a:xfrm>
            <a:off x="685800" y="1508760"/>
            <a:ext cx="3474720" cy="4160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685800" y="1508760"/>
            <a:ext cx="73152" cy="416052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86968" y="1655063"/>
            <a:ext cx="3154679" cy="369332"/>
          </a:xfrm>
          <a:prstGeom prst="rect">
            <a:avLst/>
          </a:prstGeom>
          <a:noFill/>
        </p:spPr>
        <p:txBody>
          <a:bodyPr wrap="square" anchor="t">
            <a:spAutoFit/>
          </a:bodyPr>
          <a:lstStyle/>
          <a:p>
            <a:pPr algn="l"/>
            <a:r>
              <a:rPr sz="1800" b="1" i="0" dirty="0">
                <a:solidFill>
                  <a:srgbClr val="CC0033"/>
                </a:solidFill>
                <a:latin typeface="Calibri"/>
              </a:rPr>
              <a:t>H4 </a:t>
            </a:r>
            <a:r>
              <a:rPr lang="en-US" b="1" dirty="0">
                <a:solidFill>
                  <a:srgbClr val="CC0033"/>
                </a:solidFill>
                <a:latin typeface="Calibri"/>
              </a:rPr>
              <a:t>: </a:t>
            </a:r>
            <a:r>
              <a:rPr sz="1800" b="1" i="0" dirty="0">
                <a:solidFill>
                  <a:srgbClr val="CC0033"/>
                </a:solidFill>
                <a:latin typeface="Calibri"/>
              </a:rPr>
              <a:t>MP vs. CBI</a:t>
            </a:r>
          </a:p>
        </p:txBody>
      </p:sp>
      <p:sp>
        <p:nvSpPr>
          <p:cNvPr id="9" name="TextBox 8"/>
          <p:cNvSpPr txBox="1"/>
          <p:nvPr/>
        </p:nvSpPr>
        <p:spPr>
          <a:xfrm>
            <a:off x="886968" y="2075688"/>
            <a:ext cx="3154679" cy="4596130"/>
          </a:xfrm>
          <a:prstGeom prst="rect">
            <a:avLst/>
          </a:prstGeom>
          <a:noFill/>
        </p:spPr>
        <p:txBody>
          <a:bodyPr wrap="square" anchor="t">
            <a:spAutoFit/>
          </a:bodyPr>
          <a:lstStyle/>
          <a:p>
            <a:pPr>
              <a:lnSpc>
                <a:spcPct val="104000"/>
              </a:lnSpc>
            </a:pPr>
            <a:r>
              <a:rPr sz="1200" b="1" i="0">
                <a:solidFill>
                  <a:srgbClr val="262626"/>
                </a:solidFill>
                <a:latin typeface="Calibri"/>
              </a:rPr>
              <a:t>Hypothesis: </a:t>
            </a:r>
            <a:r>
              <a:rPr sz="1200" b="0" i="0">
                <a:solidFill>
                  <a:srgbClr val="262626"/>
                </a:solidFill>
                <a:latin typeface="Calibri"/>
              </a:rPr>
              <a:t>Monetary-policy shocks and central-bank-information shocks generate different mutual-fund flow responses.</a:t>
            </a:r>
          </a:p>
          <a:p>
            <a:pPr>
              <a:lnSpc>
                <a:spcPct val="104000"/>
              </a:lnSpc>
              <a:spcBef>
                <a:spcPts val="500"/>
              </a:spcBef>
            </a:pPr>
            <a:r>
              <a:rPr sz="1200" b="1" i="0">
                <a:solidFill>
                  <a:srgbClr val="262626"/>
                </a:solidFill>
                <a:latin typeface="Calibri"/>
              </a:rPr>
              <a:t>Model 4: </a:t>
            </a:r>
            <a:r>
              <a:rPr sz="1200" b="0" i="0">
                <a:solidFill>
                  <a:srgbClr val="262626"/>
                </a:solidFill>
                <a:latin typeface="Calibri"/>
              </a:rPr>
              <a:t>Flow(c, t→t+1) = α + β₁·MPₜ + β₂·CBIₜ + γ′Controls(i,t) + ε</a:t>
            </a:r>
          </a:p>
          <a:p>
            <a:pPr>
              <a:lnSpc>
                <a:spcPct val="104000"/>
              </a:lnSpc>
            </a:pPr>
            <a:r>
              <a:rPr sz="1200" b="0" i="0">
                <a:solidFill>
                  <a:srgbClr val="262626"/>
                </a:solidFill>
                <a:latin typeface="Calibri"/>
              </a:rPr>
              <a:t>Wald test: β₁ = β₂ within each asset class; across seven classes (gov bonds … small-cap equity). Controls: log TNA, flow volatility, lagged return, expense ratio.</a:t>
            </a:r>
          </a:p>
          <a:p>
            <a:pPr>
              <a:lnSpc>
                <a:spcPct val="104000"/>
              </a:lnSpc>
              <a:spcBef>
                <a:spcPts val="500"/>
              </a:spcBef>
            </a:pPr>
            <a:r>
              <a:rPr sz="1200" b="1" i="0">
                <a:solidFill>
                  <a:srgbClr val="262626"/>
                </a:solidFill>
                <a:latin typeface="Calibri"/>
              </a:rPr>
              <a:t>H4b (secondary): </a:t>
            </a:r>
            <a:r>
              <a:rPr sz="1200" b="0" i="0">
                <a:solidFill>
                  <a:srgbClr val="262626"/>
                </a:solidFill>
                <a:latin typeface="Calibri"/>
              </a:rPr>
              <a:t>at the ZLB, MP effects are amplified for corporate-bond flows.</a:t>
            </a:r>
          </a:p>
          <a:p>
            <a:pPr>
              <a:lnSpc>
                <a:spcPct val="104000"/>
              </a:lnSpc>
            </a:pPr>
            <a:r>
              <a:rPr sz="1200" b="1" i="0">
                <a:solidFill>
                  <a:srgbClr val="262626"/>
                </a:solidFill>
                <a:latin typeface="Calibri"/>
              </a:rPr>
              <a:t>Q: </a:t>
            </a:r>
            <a:r>
              <a:rPr sz="1200" b="0" i="0">
                <a:solidFill>
                  <a:srgbClr val="262626"/>
                </a:solidFill>
                <a:latin typeface="Calibri"/>
              </a:rPr>
              <a:t>do investors respond differently to a </a:t>
            </a:r>
            <a:r>
              <a:rPr sz="1200" b="1" i="0">
                <a:solidFill>
                  <a:srgbClr val="262626"/>
                </a:solidFill>
                <a:latin typeface="Calibri"/>
              </a:rPr>
              <a:t>pure policy shock</a:t>
            </a:r>
            <a:r>
              <a:rPr sz="1200" b="0" i="0">
                <a:solidFill>
                  <a:srgbClr val="262626"/>
                </a:solidFill>
                <a:latin typeface="Calibri"/>
              </a:rPr>
              <a:t> versus information revealed by the central bank?</a:t>
            </a:r>
          </a:p>
          <a:p>
            <a:pPr>
              <a:lnSpc>
                <a:spcPct val="104000"/>
              </a:lnSpc>
            </a:pPr>
            <a:r>
              <a:rPr sz="1200" b="0" i="1">
                <a:solidFill>
                  <a:srgbClr val="5A5A5A"/>
                </a:solidFill>
                <a:latin typeface="Calibri"/>
              </a:rPr>
              <a:t>Theory anchor: Jarociński &amp; Karadi (2020) sign restriction; Koijen &amp; Yogo (2019) fund demand; Froot et al. (2001).</a:t>
            </a:r>
          </a:p>
        </p:txBody>
      </p:sp>
      <p:sp>
        <p:nvSpPr>
          <p:cNvPr id="10" name="Rounded Rectangle 9"/>
          <p:cNvSpPr/>
          <p:nvPr/>
        </p:nvSpPr>
        <p:spPr>
          <a:xfrm>
            <a:off x="4370832" y="1508760"/>
            <a:ext cx="3474720" cy="4160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4370832" y="1508760"/>
            <a:ext cx="73152" cy="4160520"/>
          </a:xfrm>
          <a:prstGeom prst="rect">
            <a:avLst/>
          </a:prstGeom>
          <a:solidFill>
            <a:srgbClr val="426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572000" y="1655063"/>
            <a:ext cx="3154679" cy="369332"/>
          </a:xfrm>
          <a:prstGeom prst="rect">
            <a:avLst/>
          </a:prstGeom>
          <a:noFill/>
        </p:spPr>
        <p:txBody>
          <a:bodyPr wrap="square" anchor="t">
            <a:spAutoFit/>
          </a:bodyPr>
          <a:lstStyle/>
          <a:p>
            <a:pPr algn="l"/>
            <a:r>
              <a:rPr sz="1800" b="1" i="0" dirty="0">
                <a:solidFill>
                  <a:srgbClr val="4267B2"/>
                </a:solidFill>
                <a:latin typeface="Calibri"/>
              </a:rPr>
              <a:t>H5 </a:t>
            </a:r>
            <a:r>
              <a:rPr lang="en-US" b="1" dirty="0">
                <a:solidFill>
                  <a:srgbClr val="4267B2"/>
                </a:solidFill>
                <a:latin typeface="Calibri"/>
              </a:rPr>
              <a:t>: </a:t>
            </a:r>
            <a:r>
              <a:rPr sz="1800" b="1" i="0" dirty="0">
                <a:solidFill>
                  <a:srgbClr val="4267B2"/>
                </a:solidFill>
                <a:latin typeface="Calibri"/>
              </a:rPr>
              <a:t>Risk ladder</a:t>
            </a:r>
          </a:p>
        </p:txBody>
      </p:sp>
      <mc:AlternateContent xmlns:mc="http://schemas.openxmlformats.org/markup-compatibility/2006">
        <mc:Choice xmlns:a14="http://schemas.microsoft.com/office/drawing/2010/main" Requires="a14">
          <p:sp>
            <p:nvSpPr>
              <p:cNvPr id="13" name="TextBox 12"/>
              <p:cNvSpPr txBox="1"/>
              <p:nvPr/>
            </p:nvSpPr>
            <p:spPr>
              <a:xfrm>
                <a:off x="4572000" y="2075688"/>
                <a:ext cx="3154679" cy="4826962"/>
              </a:xfrm>
              <a:prstGeom prst="rect">
                <a:avLst/>
              </a:prstGeom>
              <a:noFill/>
            </p:spPr>
            <p:txBody>
              <a:bodyPr wrap="square" anchor="t">
                <a:spAutoFit/>
              </a:bodyPr>
              <a:lstStyle/>
              <a:p>
                <a:r>
                  <a:rPr lang="en-US" sz="1400" b="1" dirty="0"/>
                  <a:t>Hypothesis:</a:t>
                </a:r>
                <a:r>
                  <a:rPr lang="en-US" sz="1400" dirty="0"/>
                  <a:t> MP and CBI shocks produce systematically different reallocations across asset classes ordered by risk.</a:t>
                </a:r>
              </a:p>
              <a:p>
                <a:pPr>
                  <a:spcAft>
                    <a:spcPts val="400"/>
                  </a:spcAft>
                </a:pPr>
                <a:r>
                  <a:rPr lang="en-US" sz="1400" b="1" dirty="0">
                    <a:solidFill>
                      <a:srgbClr val="1F2A44"/>
                    </a:solidFill>
                  </a:rPr>
                  <a:t>Model 5</a:t>
                </a:r>
              </a:p>
              <a:p>
                <a:pPr>
                  <a:spcAft>
                    <a:spcPts val="400"/>
                  </a:spcAft>
                </a:pPr>
                <a:r>
                  <a:rPr lang="en-US" sz="1400" dirty="0">
                    <a:solidFill>
                      <a:srgbClr val="1F2A44"/>
                    </a:solidFill>
                  </a:rPr>
                  <a:t>Flow(c, t→t+1) = </a:t>
                </a:r>
                <a:r>
                  <a:rPr lang="el-GR" sz="1400" dirty="0">
                    <a:solidFill>
                      <a:srgbClr val="1F2A44"/>
                    </a:solidFill>
                  </a:rPr>
                  <a:t>α + β₃·(</a:t>
                </a:r>
                <a:r>
                  <a:rPr lang="en-US" sz="1400" dirty="0" err="1">
                    <a:solidFill>
                      <a:srgbClr val="1F2A44"/>
                    </a:solidFill>
                  </a:rPr>
                  <a:t>Risk_c</a:t>
                </a:r>
                <a:r>
                  <a:rPr lang="en-US" sz="1400" dirty="0">
                    <a:solidFill>
                      <a:srgbClr val="1F2A44"/>
                    </a:solidFill>
                  </a:rPr>
                  <a:t> × MPₜ) + </a:t>
                </a:r>
                <a:r>
                  <a:rPr lang="el-GR" sz="1400" dirty="0">
                    <a:solidFill>
                      <a:srgbClr val="1F2A44"/>
                    </a:solidFill>
                  </a:rPr>
                  <a:t>β₄·(</a:t>
                </a:r>
                <a:r>
                  <a:rPr lang="en-US" sz="1400" dirty="0" err="1">
                    <a:solidFill>
                      <a:srgbClr val="1F2A44"/>
                    </a:solidFill>
                  </a:rPr>
                  <a:t>Risk_c</a:t>
                </a:r>
                <a:r>
                  <a:rPr lang="en-US" sz="1400" dirty="0">
                    <a:solidFill>
                      <a:srgbClr val="1F2A44"/>
                    </a:solidFill>
                  </a:rPr>
                  <a:t> × CBIₜ) + </a:t>
                </a:r>
                <a:r>
                  <a:rPr lang="el-GR" sz="1400" dirty="0">
                    <a:solidFill>
                      <a:srgbClr val="1F2A44"/>
                    </a:solidFill>
                  </a:rPr>
                  <a:t>β₁·</a:t>
                </a:r>
                <a:r>
                  <a:rPr lang="en-US" sz="1400" dirty="0">
                    <a:solidFill>
                      <a:srgbClr val="1F2A44"/>
                    </a:solidFill>
                  </a:rPr>
                  <a:t>MPₜ + </a:t>
                </a:r>
                <a:r>
                  <a:rPr lang="el-GR" sz="1400" dirty="0">
                    <a:solidFill>
                      <a:srgbClr val="1F2A44"/>
                    </a:solidFill>
                  </a:rPr>
                  <a:t>β₂·</a:t>
                </a:r>
                <a:r>
                  <a:rPr lang="en-US" sz="1400" dirty="0">
                    <a:solidFill>
                      <a:srgbClr val="1F2A44"/>
                    </a:solidFill>
                  </a:rPr>
                  <a:t>CBIₜ + </a:t>
                </a:r>
                <a:r>
                  <a:rPr lang="el-GR" sz="1400" dirty="0">
                    <a:solidFill>
                      <a:srgbClr val="1F2A44"/>
                    </a:solidFill>
                  </a:rPr>
                  <a:t>γ′</a:t>
                </a:r>
                <a:r>
                  <a:rPr lang="en-US" sz="1400" dirty="0">
                    <a:solidFill>
                      <a:srgbClr val="1F2A44"/>
                    </a:solidFill>
                  </a:rPr>
                  <a:t>Controls + </a:t>
                </a:r>
                <a:r>
                  <a:rPr lang="el-GR" sz="1400" dirty="0">
                    <a:solidFill>
                      <a:srgbClr val="1F2A44"/>
                    </a:solidFill>
                  </a:rPr>
                  <a:t>ε</a:t>
                </a:r>
              </a:p>
              <a:p>
                <a:pPr>
                  <a:spcAft>
                    <a:spcPts val="1400"/>
                  </a:spcAft>
                </a:pPr>
                <a:r>
                  <a:rPr lang="en-US" sz="1400" dirty="0">
                    <a:solidFill>
                      <a:srgbClr val="3D4859"/>
                    </a:solidFill>
                  </a:rPr>
                  <a:t>H1 predicts </a:t>
                </a:r>
                <a:r>
                  <a:rPr lang="el-GR" sz="1400" dirty="0">
                    <a:solidFill>
                      <a:srgbClr val="3D4859"/>
                    </a:solidFill>
                  </a:rPr>
                  <a:t>β₃ &lt; 0 (</a:t>
                </a:r>
                <a:r>
                  <a:rPr lang="en-US" sz="1400" dirty="0">
                    <a:solidFill>
                      <a:srgbClr val="3D4859"/>
                    </a:solidFill>
                  </a:rPr>
                  <a:t>tightening pushes flows down the risk ladder); H2 predicts </a:t>
                </a:r>
                <a:r>
                  <a:rPr lang="el-GR" sz="1400" dirty="0">
                    <a:solidFill>
                      <a:srgbClr val="3D4859"/>
                    </a:solidFill>
                  </a:rPr>
                  <a:t>β₄ &gt; 0 (</a:t>
                </a:r>
                <a:r>
                  <a:rPr lang="en-US" sz="1400" dirty="0">
                    <a:solidFill>
                      <a:srgbClr val="3D4859"/>
                    </a:solidFill>
                  </a:rPr>
                  <a:t>information-driven CBI pushes flows down the ladder — de-risking, as found in the Oct 2026 re-run).</a:t>
                </a:r>
              </a:p>
              <a:p>
                <a:pPr>
                  <a:spcAft>
                    <a:spcPts val="1400"/>
                  </a:spcAft>
                </a:pPr>
                <a:r>
                  <a:rPr lang="en-US" sz="1400" b="1" dirty="0"/>
                  <a:t>Key tests:</a:t>
                </a:r>
                <a:r>
                  <a:rPr lang="en-US" sz="1400" dirty="0"/>
                  <a:t> </a:t>
                </a:r>
                <a14:m>
                  <m:oMath xmlns:m="http://schemas.openxmlformats.org/officeDocument/2006/math">
                    <m:sSub>
                      <m:sSubPr>
                        <m:ctrlPr>
                          <a:rPr lang="en-US" sz="1400" i="1"/>
                        </m:ctrlPr>
                      </m:sSubPr>
                      <m:e>
                        <m:r>
                          <a:rPr lang="en-US" sz="1400" i="1"/>
                          <m:t>𝛽</m:t>
                        </m:r>
                      </m:e>
                      <m:sub>
                        <m:r>
                          <a:rPr lang="en-US" sz="1400"/>
                          <m:t>3</m:t>
                        </m:r>
                      </m:sub>
                    </m:sSub>
                    <m:r>
                      <a:rPr lang="en-US" sz="1400"/>
                      <m:t>&lt;0</m:t>
                    </m:r>
                  </m:oMath>
                </a14:m>
                <a:r>
                  <a:rPr lang="en-US" sz="1400" dirty="0"/>
                  <a:t> Contractionary MP shock → flows move </a:t>
                </a:r>
                <a:r>
                  <a:rPr lang="en-US" sz="1400" b="1" dirty="0"/>
                  <a:t>down the risk ladder</a:t>
                </a:r>
                <a:r>
                  <a:rPr lang="en-US" sz="1400" dirty="0"/>
                  <a:t>. </a:t>
                </a:r>
                <a14:m>
                  <m:oMath xmlns:m="http://schemas.openxmlformats.org/officeDocument/2006/math">
                    <m:sSub>
                      <m:sSubPr>
                        <m:ctrlPr>
                          <a:rPr lang="en-US" sz="1400" i="1"/>
                        </m:ctrlPr>
                      </m:sSubPr>
                      <m:e>
                        <m:r>
                          <a:rPr lang="en-US" sz="1400" i="1"/>
                          <m:t>𝛽</m:t>
                        </m:r>
                      </m:e>
                      <m:sub>
                        <m:r>
                          <a:rPr lang="en-US" sz="1400"/>
                          <m:t>4</m:t>
                        </m:r>
                      </m:sub>
                    </m:sSub>
                    <m:r>
                      <a:rPr lang="en-US" sz="1400"/>
                      <m:t>&gt;0</m:t>
                    </m:r>
                  </m:oMath>
                </a14:m>
                <a:r>
                  <a:rPr lang="en-US" sz="1400" dirty="0"/>
                  <a:t> Positive CBI shock → flows move </a:t>
                </a:r>
                <a:r>
                  <a:rPr lang="en-US" sz="1400" b="1" dirty="0"/>
                  <a:t>up the risk ladder</a:t>
                </a:r>
                <a:r>
                  <a:rPr lang="en-US" sz="1400" dirty="0"/>
                  <a:t>.</a:t>
                </a:r>
              </a:p>
              <a:p>
                <a:pPr>
                  <a:spcAft>
                    <a:spcPts val="1400"/>
                  </a:spcAft>
                </a:pPr>
                <a:endParaRPr lang="en-US" sz="1400" dirty="0">
                  <a:solidFill>
                    <a:srgbClr val="3D4859"/>
                  </a:solidFill>
                </a:endParaRPr>
              </a:p>
              <a:p>
                <a:endParaRPr lang="en-US" sz="1400" dirty="0"/>
              </a:p>
              <a:p>
                <a:endParaRPr lang="en-US" sz="1400" b="0" i="0" dirty="0">
                  <a:solidFill>
                    <a:srgbClr val="191919"/>
                  </a:solidFill>
                  <a:latin typeface="Calibri"/>
                </a:endParaRPr>
              </a:p>
              <a:p>
                <a:endParaRPr sz="1400" b="0" i="0" dirty="0">
                  <a:solidFill>
                    <a:srgbClr val="191919"/>
                  </a:solidFill>
                  <a:latin typeface="Calibri"/>
                </a:endParaRPr>
              </a:p>
            </p:txBody>
          </p:sp>
        </mc:Choice>
        <mc:Fallback>
          <p:sp>
            <p:nvSpPr>
              <p:cNvPr id="13" name="TextBox 12"/>
              <p:cNvSpPr txBox="1">
                <a:spLocks noRot="1" noChangeAspect="1" noMove="1" noResize="1" noEditPoints="1" noAdjustHandles="1" noChangeArrowheads="1" noChangeShapeType="1" noTextEdit="1"/>
              </p:cNvSpPr>
              <p:nvPr/>
            </p:nvSpPr>
            <p:spPr>
              <a:xfrm>
                <a:off x="4572000" y="2075688"/>
                <a:ext cx="3154679" cy="4826962"/>
              </a:xfrm>
              <a:prstGeom prst="rect">
                <a:avLst/>
              </a:prstGeom>
              <a:blipFill>
                <a:blip r:embed="rId2"/>
                <a:stretch>
                  <a:fillRect l="-580" t="-253"/>
                </a:stretch>
              </a:blipFill>
            </p:spPr>
            <p:txBody>
              <a:bodyPr/>
              <a:lstStyle/>
              <a:p>
                <a:r>
                  <a:rPr lang="en-US">
                    <a:noFill/>
                  </a:rPr>
                  <a:t> </a:t>
                </a:r>
              </a:p>
            </p:txBody>
          </p:sp>
        </mc:Fallback>
      </mc:AlternateContent>
      <p:sp>
        <p:nvSpPr>
          <p:cNvPr id="14" name="Rounded Rectangle 13"/>
          <p:cNvSpPr/>
          <p:nvPr/>
        </p:nvSpPr>
        <p:spPr>
          <a:xfrm>
            <a:off x="8055864" y="1508760"/>
            <a:ext cx="3474720" cy="416052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8055864" y="1508760"/>
            <a:ext cx="73152" cy="4160520"/>
          </a:xfrm>
          <a:prstGeom prst="rect">
            <a:avLst/>
          </a:prstGeom>
          <a:solidFill>
            <a:srgbClr val="BA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257032" y="1655063"/>
            <a:ext cx="3154679" cy="369332"/>
          </a:xfrm>
          <a:prstGeom prst="rect">
            <a:avLst/>
          </a:prstGeom>
          <a:noFill/>
        </p:spPr>
        <p:txBody>
          <a:bodyPr wrap="square" anchor="t">
            <a:spAutoFit/>
          </a:bodyPr>
          <a:lstStyle/>
          <a:p>
            <a:r>
              <a:rPr sz="1800" b="1" i="0" dirty="0">
                <a:solidFill>
                  <a:srgbClr val="BA8B2A"/>
                </a:solidFill>
                <a:latin typeface="Calibri"/>
              </a:rPr>
              <a:t>H6 </a:t>
            </a:r>
            <a:r>
              <a:rPr lang="en-US" b="1" dirty="0">
                <a:solidFill>
                  <a:srgbClr val="BA8B2A"/>
                </a:solidFill>
                <a:latin typeface="Calibri"/>
              </a:rPr>
              <a:t>: </a:t>
            </a:r>
            <a:r>
              <a:rPr lang="en-US" dirty="0"/>
              <a:t>Transmission Timing</a:t>
            </a:r>
            <a:endParaRPr sz="1800" b="1" i="0" dirty="0">
              <a:solidFill>
                <a:srgbClr val="BA8B2A"/>
              </a:solidFill>
              <a:latin typeface="Calibri"/>
            </a:endParaRPr>
          </a:p>
        </p:txBody>
      </p:sp>
      <mc:AlternateContent xmlns:mc="http://schemas.openxmlformats.org/markup-compatibility/2006">
        <mc:Choice xmlns:a14="http://schemas.microsoft.com/office/drawing/2010/main" Requires="a14">
          <p:sp>
            <p:nvSpPr>
              <p:cNvPr id="17" name="TextBox 16"/>
              <p:cNvSpPr txBox="1"/>
              <p:nvPr/>
            </p:nvSpPr>
            <p:spPr>
              <a:xfrm>
                <a:off x="8257032" y="2075688"/>
                <a:ext cx="3154679" cy="4242893"/>
              </a:xfrm>
              <a:prstGeom prst="rect">
                <a:avLst/>
              </a:prstGeom>
              <a:noFill/>
            </p:spPr>
            <p:txBody>
              <a:bodyPr wrap="square" anchor="t">
                <a:spAutoFit/>
              </a:bodyPr>
              <a:lstStyle/>
              <a:p>
                <a:r>
                  <a:rPr lang="en-US" sz="1600" b="1" dirty="0"/>
                  <a:t>MP and CBI shocks move prices in opposite directions; prices adjust before portfolio reallocation — the CBI price effect fades before portfolio flows adjust.</a:t>
                </a:r>
              </a:p>
              <a:p>
                <a:endParaRPr lang="en-US" sz="1600" dirty="0"/>
              </a:p>
              <a:p>
                <a:r>
                  <a:rPr lang="en-US" sz="1600" b="1" dirty="0"/>
                  <a:t>Model 6A — Immediate price response</a:t>
                </a:r>
                <a:endParaRPr lang="en-US" sz="1600" dirty="0"/>
              </a:p>
              <a:p>
                <a14:m>
                  <m:oMathPara xmlns:m="http://schemas.openxmlformats.org/officeDocument/2006/math">
                    <m:oMath>
                      <m:sSubSup>
                        <m:sSubSupPr>
                          <m:ctrlPr>
                            <a:rPr lang="en-US" sz="1600" i="1"/>
                          </m:ctrlPr>
                        </m:sSubSupPr>
                        <m:e>
                          <m:r>
                            <a:rPr lang="en-US" sz="1600" i="1"/>
                            <m:t>𝑅</m:t>
                          </m:r>
                        </m:e>
                        <m:sub>
                          <m:r>
                            <a:rPr lang="en-US" sz="1600" i="1"/>
                            <m:t>𝑖</m:t>
                          </m:r>
                          <m:r>
                            <a:rPr lang="en-US" sz="1600"/>
                            <m:t>,</m:t>
                          </m:r>
                          <m:r>
                            <a:rPr lang="en-US" sz="1600" i="1"/>
                            <m:t>𝑡</m:t>
                          </m:r>
                        </m:sub>
                        <m:sup>
                          <m:r>
                            <a:rPr lang="en-US" sz="1600" i="1"/>
                            <m:t>𝑆𝑎𝑚𝑒𝐷𝑎𝑦</m:t>
                          </m:r>
                        </m:sup>
                      </m:sSubSup>
                      <m:r>
                        <a:rPr lang="en-US" sz="1600"/>
                        <m:t>=</m:t>
                      </m:r>
                      <m:r>
                        <a:rPr lang="en-US" sz="1600" i="1"/>
                        <m:t>𝛼</m:t>
                      </m:r>
                      <m:r>
                        <a:rPr lang="en-US" sz="1600"/>
                        <m:t>+</m:t>
                      </m:r>
                      <m:sSub>
                        <m:sSubPr>
                          <m:ctrlPr>
                            <a:rPr lang="en-US" sz="1600" i="1"/>
                          </m:ctrlPr>
                        </m:sSubPr>
                        <m:e>
                          <m:r>
                            <a:rPr lang="en-US" sz="1600" i="1"/>
                            <m:t>𝛽</m:t>
                          </m:r>
                        </m:e>
                        <m:sub>
                          <m:r>
                            <a:rPr lang="en-US" sz="1600"/>
                            <m:t>1</m:t>
                          </m:r>
                        </m:sub>
                      </m:sSub>
                      <m:r>
                        <a:rPr lang="en-US" sz="1600" i="1"/>
                        <m:t>𝑀</m:t>
                      </m:r>
                      <m:sSub>
                        <m:sSubPr>
                          <m:ctrlPr>
                            <a:rPr lang="en-US" sz="1600" i="1"/>
                          </m:ctrlPr>
                        </m:sSubPr>
                        <m:e>
                          <m:r>
                            <a:rPr lang="en-US" sz="1600" i="1"/>
                            <m:t>𝑃</m:t>
                          </m:r>
                        </m:e>
                        <m:sub>
                          <m:r>
                            <a:rPr lang="en-US" sz="1600" i="1"/>
                            <m:t>𝑡</m:t>
                          </m:r>
                        </m:sub>
                      </m:sSub>
                      <m:r>
                        <a:rPr lang="en-US" sz="1600"/>
                        <m:t>+</m:t>
                      </m:r>
                      <m:sSub>
                        <m:sSubPr>
                          <m:ctrlPr>
                            <a:rPr lang="en-US" sz="1600" i="1"/>
                          </m:ctrlPr>
                        </m:sSubPr>
                        <m:e>
                          <m:r>
                            <a:rPr lang="en-US" sz="1600" i="1"/>
                            <m:t>𝛽</m:t>
                          </m:r>
                        </m:e>
                        <m:sub>
                          <m:r>
                            <a:rPr lang="en-US" sz="1600"/>
                            <m:t>2</m:t>
                          </m:r>
                        </m:sub>
                      </m:sSub>
                      <m:r>
                        <a:rPr lang="en-US" sz="1600" i="1"/>
                        <m:t>𝐶𝐵</m:t>
                      </m:r>
                      <m:sSub>
                        <m:sSubPr>
                          <m:ctrlPr>
                            <a:rPr lang="en-US" sz="1600" i="1"/>
                          </m:ctrlPr>
                        </m:sSubPr>
                        <m:e>
                          <m:r>
                            <a:rPr lang="en-US" sz="1600" i="1"/>
                            <m:t>𝐼</m:t>
                          </m:r>
                        </m:e>
                        <m:sub>
                          <m:r>
                            <a:rPr lang="en-US" sz="1600" i="1"/>
                            <m:t>𝑡</m:t>
                          </m:r>
                        </m:sub>
                      </m:sSub>
                      <m:r>
                        <a:rPr lang="en-US" sz="1600"/>
                        <m:t>+</m:t>
                      </m:r>
                      <m:sSub>
                        <m:sSubPr>
                          <m:ctrlPr>
                            <a:rPr lang="en-US" sz="1600" i="1"/>
                          </m:ctrlPr>
                        </m:sSubPr>
                        <m:e>
                          <m:r>
                            <a:rPr lang="en-US" sz="1600" i="1"/>
                            <m:t>𝜀</m:t>
                          </m:r>
                        </m:e>
                        <m:sub>
                          <m:r>
                            <a:rPr lang="en-US" sz="1600" i="1"/>
                            <m:t>𝑖</m:t>
                          </m:r>
                          <m:r>
                            <a:rPr lang="en-US" sz="1600"/>
                            <m:t>,</m:t>
                          </m:r>
                          <m:r>
                            <a:rPr lang="en-US" sz="1600" i="1"/>
                            <m:t>𝑡</m:t>
                          </m:r>
                        </m:sub>
                      </m:sSub>
                    </m:oMath>
                  </m:oMathPara>
                </a14:m>
                <a:endParaRPr lang="en-US" sz="1600" dirty="0"/>
              </a:p>
              <a:p>
                <a:r>
                  <a:rPr lang="en-US" sz="1600" b="1" dirty="0"/>
                  <a:t>Model 6B — Subsequent portfolio response</a:t>
                </a:r>
                <a:endParaRPr lang="en-US" sz="1600" dirty="0"/>
              </a:p>
              <a:p>
                <a:r>
                  <a:rPr lang="en-US" sz="1600" dirty="0"/>
                  <a:t>Flowc,t→t+1​=α+γ1​</a:t>
                </a:r>
                <a:r>
                  <a:rPr lang="en-US" sz="1600" dirty="0" err="1"/>
                  <a:t>MPt</a:t>
                </a:r>
                <a:r>
                  <a:rPr lang="en-US" sz="1600" dirty="0"/>
                  <a:t>​+γ2​</a:t>
                </a:r>
                <a:r>
                  <a:rPr lang="en-US" sz="1600" dirty="0" err="1"/>
                  <a:t>CBIt</a:t>
                </a:r>
                <a:r>
                  <a:rPr lang="en-US" sz="1600" dirty="0"/>
                  <a:t>​+</a:t>
                </a:r>
                <a:r>
                  <a:rPr lang="en-US" sz="1600" dirty="0" err="1"/>
                  <a:t>δ′Controlsc,t</a:t>
                </a:r>
                <a:r>
                  <a:rPr lang="en-US" sz="1600" dirty="0"/>
                  <a:t>​+</a:t>
                </a:r>
                <a:r>
                  <a:rPr lang="en-US" sz="1600" dirty="0" err="1"/>
                  <a:t>εc,t</a:t>
                </a:r>
                <a:r>
                  <a:rPr lang="en-US" sz="1600" dirty="0"/>
                  <a:t>​</a:t>
                </a:r>
              </a:p>
              <a:p>
                <a:endParaRPr lang="en-US" sz="1600" b="0" i="0" dirty="0">
                  <a:solidFill>
                    <a:srgbClr val="191919"/>
                  </a:solidFill>
                  <a:latin typeface="Calibri"/>
                </a:endParaRPr>
              </a:p>
              <a:p>
                <a:endParaRPr sz="1600" b="0" i="0" dirty="0">
                  <a:solidFill>
                    <a:srgbClr val="191919"/>
                  </a:solidFill>
                  <a:latin typeface="Calibri"/>
                </a:endParaRPr>
              </a:p>
            </p:txBody>
          </p:sp>
        </mc:Choice>
        <mc:Fallback>
          <p:sp>
            <p:nvSpPr>
              <p:cNvPr id="17" name="TextBox 16"/>
              <p:cNvSpPr txBox="1">
                <a:spLocks noRot="1" noChangeAspect="1" noMove="1" noResize="1" noEditPoints="1" noAdjustHandles="1" noChangeArrowheads="1" noChangeShapeType="1" noTextEdit="1"/>
              </p:cNvSpPr>
              <p:nvPr/>
            </p:nvSpPr>
            <p:spPr>
              <a:xfrm>
                <a:off x="8257032" y="2075688"/>
                <a:ext cx="3154679" cy="4242893"/>
              </a:xfrm>
              <a:prstGeom prst="rect">
                <a:avLst/>
              </a:prstGeom>
              <a:blipFill>
                <a:blip r:embed="rId3"/>
                <a:stretch>
                  <a:fillRect l="-1161" t="-431" r="-193"/>
                </a:stretch>
              </a:blipFill>
            </p:spPr>
            <p:txBody>
              <a:bodyPr/>
              <a:lstStyle/>
              <a:p>
                <a:r>
                  <a:rPr lang="en-US">
                    <a:noFill/>
                  </a:rPr>
                  <a:t> </a:t>
                </a:r>
              </a:p>
            </p:txBody>
          </p:sp>
        </mc:Fallback>
      </mc:AlternateContent>
      <p:sp>
        <p:nvSpPr>
          <p:cNvPr id="18" name="TextBox 17"/>
          <p:cNvSpPr txBox="1"/>
          <p:nvPr/>
        </p:nvSpPr>
        <p:spPr>
          <a:xfrm>
            <a:off x="4572000" y="5577840"/>
            <a:ext cx="3154680" cy="109728"/>
          </a:xfrm>
          <a:prstGeom prst="rect">
            <a:avLst/>
          </a:prstGeom>
          <a:noFill/>
        </p:spPr>
        <p:txBody>
          <a:bodyPr wrap="square" lIns="0" rIns="0" tIns="0" bIns="0">
            <a:spAutoFit/>
          </a:bodyPr>
          <a:lstStyle/>
          <a:p>
            <a:r>
              <a:rPr sz="800" i="1">
                <a:solidFill>
                  <a:srgbClr val="5A5A5A"/>
                </a:solidFill>
                <a:latin typeface="Calibri"/>
              </a:rPr>
              <a:t>Theory anchor: Adrian &amp; Shin (2010); Borio &amp; Zhu (2012).</a:t>
            </a:r>
          </a:p>
        </p:txBody>
      </p:sp>
      <p:sp>
        <p:nvSpPr>
          <p:cNvPr id="19" name="TextBox 18"/>
          <p:cNvSpPr txBox="1"/>
          <p:nvPr/>
        </p:nvSpPr>
        <p:spPr>
          <a:xfrm>
            <a:off x="8257031" y="5715000"/>
            <a:ext cx="3154680" cy="109728"/>
          </a:xfrm>
          <a:prstGeom prst="rect">
            <a:avLst/>
          </a:prstGeom>
          <a:noFill/>
        </p:spPr>
        <p:txBody>
          <a:bodyPr wrap="square" lIns="0" rIns="0" tIns="0" bIns="0">
            <a:spAutoFit/>
          </a:bodyPr>
          <a:lstStyle/>
          <a:p>
            <a:r>
              <a:rPr sz="800" i="1">
                <a:solidFill>
                  <a:srgbClr val="5A5A5A"/>
                </a:solidFill>
                <a:latin typeface="Calibri"/>
              </a:rPr>
              <a:t>Theory anchor: Jarociński &amp; Karadi (2020) sign restrictions.</a:t>
            </a:r>
          </a:p>
        </p:txBody>
      </p:sp>
    </p:spTree>
    <p:extLst>
      <p:ext uri="{BB962C8B-B14F-4D97-AF65-F5344CB8AC3E}">
        <p14:creationId xmlns:p14="http://schemas.microsoft.com/office/powerpoint/2010/main" val="4280262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320040" y="109728"/>
            <a:ext cx="1554480" cy="400110"/>
          </a:xfrm>
          <a:prstGeom prst="rect">
            <a:avLst/>
          </a:prstGeom>
          <a:noFill/>
        </p:spPr>
        <p:txBody>
          <a:bodyPr wrap="square" anchor="t">
            <a:spAutoFit/>
          </a:bodyPr>
          <a:lstStyle/>
          <a:p>
            <a:r>
              <a:rPr lang="en-US" sz="2000" b="1" dirty="0">
                <a:solidFill>
                  <a:schemeClr val="bg1"/>
                </a:solidFill>
                <a:latin typeface="Calibri"/>
              </a:rPr>
              <a:t>Data</a:t>
            </a:r>
            <a:endParaRPr sz="2000" b="1" dirty="0">
              <a:solidFill>
                <a:schemeClr val="bg1"/>
              </a:solidFill>
              <a:latin typeface="Aptos"/>
            </a:endParaRPr>
          </a:p>
        </p:txBody>
      </p:sp>
      <p:sp>
        <p:nvSpPr>
          <p:cNvPr id="5" name="Rounded Rectangle 4"/>
          <p:cNvSpPr/>
          <p:nvPr/>
        </p:nvSpPr>
        <p:spPr>
          <a:xfrm>
            <a:off x="502920" y="1417320"/>
            <a:ext cx="2606040" cy="448056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502920" y="1417320"/>
            <a:ext cx="73152" cy="44805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04088" y="1563624"/>
            <a:ext cx="2286000" cy="347472"/>
          </a:xfrm>
          <a:prstGeom prst="rect">
            <a:avLst/>
          </a:prstGeom>
          <a:noFill/>
        </p:spPr>
        <p:txBody>
          <a:bodyPr wrap="square" anchor="t">
            <a:spAutoFit/>
          </a:bodyPr>
          <a:lstStyle/>
          <a:p>
            <a:pPr algn="l"/>
            <a:r>
              <a:rPr sz="1600" b="1" i="0">
                <a:solidFill>
                  <a:srgbClr val="CC0033"/>
                </a:solidFill>
                <a:latin typeface="Calibri"/>
              </a:rPr>
              <a:t>FOMC Communication</a:t>
            </a:r>
          </a:p>
        </p:txBody>
      </p:sp>
      <p:sp>
        <p:nvSpPr>
          <p:cNvPr id="8" name="TextBox 7"/>
          <p:cNvSpPr txBox="1"/>
          <p:nvPr/>
        </p:nvSpPr>
        <p:spPr>
          <a:xfrm>
            <a:off x="704088" y="1984248"/>
            <a:ext cx="2286000" cy="3293209"/>
          </a:xfrm>
          <a:prstGeom prst="rect">
            <a:avLst/>
          </a:prstGeom>
          <a:noFill/>
        </p:spPr>
        <p:txBody>
          <a:bodyPr wrap="square" anchor="t">
            <a:spAutoFit/>
          </a:bodyPr>
          <a:lstStyle/>
          <a:p>
            <a:pPr marL="285750" lvl="0" indent="-285750">
              <a:buFont typeface="Arial" panose="020B0604020202020204" pitchFamily="34" charset="0"/>
              <a:buChar char="•"/>
            </a:pPr>
            <a:r>
              <a:rPr lang="en-US" sz="1600" dirty="0"/>
              <a:t>161 FOMC meetings, 2006–2026 </a:t>
            </a:r>
          </a:p>
          <a:p>
            <a:pPr marL="285750" lvl="0" indent="-285750">
              <a:buFont typeface="Arial" panose="020B0604020202020204" pitchFamily="34" charset="0"/>
              <a:buChar char="•"/>
            </a:pPr>
            <a:r>
              <a:rPr lang="en-US" sz="1600" dirty="0"/>
              <a:t>FOMC statement text </a:t>
            </a:r>
          </a:p>
          <a:p>
            <a:pPr marL="285750" lvl="0" indent="-285750">
              <a:buFont typeface="Arial" panose="020B0604020202020204" pitchFamily="34" charset="0"/>
              <a:buChar char="•"/>
            </a:pPr>
            <a:r>
              <a:rPr lang="en-US" sz="1600" dirty="0"/>
              <a:t>Loughran–McDonald (LM) sentiment </a:t>
            </a:r>
          </a:p>
          <a:p>
            <a:pPr marL="285750" lvl="0" indent="-285750">
              <a:buFont typeface="Arial" panose="020B0604020202020204" pitchFamily="34" charset="0"/>
              <a:buChar char="•"/>
            </a:pPr>
            <a:r>
              <a:rPr lang="en-US" sz="1600" dirty="0"/>
              <a:t>Central-bank hawkish/dovish sentiment </a:t>
            </a:r>
          </a:p>
          <a:p>
            <a:pPr marL="285750" lvl="0" indent="-285750">
              <a:buFont typeface="Arial" panose="020B0604020202020204" pitchFamily="34" charset="0"/>
              <a:buChar char="•"/>
            </a:pPr>
            <a:r>
              <a:rPr lang="en-US" sz="1600" dirty="0"/>
              <a:t>Combined sentiment: 50% LM + 50% CB </a:t>
            </a:r>
          </a:p>
          <a:p>
            <a:pPr marL="285750" lvl="0" indent="-285750">
              <a:buFont typeface="Arial" panose="020B0604020202020204" pitchFamily="34" charset="0"/>
              <a:buChar char="•"/>
            </a:pPr>
            <a:r>
              <a:rPr lang="en-US" sz="1600" dirty="0"/>
              <a:t>LLM communication measure — robustness</a:t>
            </a:r>
          </a:p>
        </p:txBody>
      </p:sp>
      <p:sp>
        <p:nvSpPr>
          <p:cNvPr id="9" name="Rounded Rectangle 8"/>
          <p:cNvSpPr/>
          <p:nvPr/>
        </p:nvSpPr>
        <p:spPr>
          <a:xfrm>
            <a:off x="3383280" y="1417320"/>
            <a:ext cx="2606040" cy="448056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3383280" y="1417320"/>
            <a:ext cx="73152" cy="4480560"/>
          </a:xfrm>
          <a:prstGeom prst="rect">
            <a:avLst/>
          </a:prstGeom>
          <a:solidFill>
            <a:srgbClr val="1E2B4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84448" y="1563624"/>
            <a:ext cx="2286000" cy="1323439"/>
          </a:xfrm>
          <a:prstGeom prst="rect">
            <a:avLst/>
          </a:prstGeom>
          <a:noFill/>
        </p:spPr>
        <p:txBody>
          <a:bodyPr wrap="square" anchor="t">
            <a:spAutoFit/>
          </a:bodyPr>
          <a:lstStyle/>
          <a:p>
            <a:pPr algn="l"/>
            <a:r>
              <a:rPr lang="en-US" sz="1600" b="1" i="0" dirty="0">
                <a:solidFill>
                  <a:schemeClr val="accent3">
                    <a:lumMod val="75000"/>
                  </a:schemeClr>
                </a:solidFill>
                <a:latin typeface="Calibri"/>
              </a:rPr>
              <a:t>High-Frequency shocks </a:t>
            </a:r>
          </a:p>
          <a:p>
            <a:pPr algn="l"/>
            <a:endParaRPr lang="en-US" sz="1600" b="1" dirty="0">
              <a:solidFill>
                <a:srgbClr val="1E2B43"/>
              </a:solidFill>
              <a:latin typeface="Aptos"/>
            </a:endParaRPr>
          </a:p>
          <a:p>
            <a:pPr algn="l"/>
            <a:endParaRPr lang="en-US" sz="1600" b="1" i="0" dirty="0">
              <a:solidFill>
                <a:srgbClr val="1E2B43"/>
              </a:solidFill>
              <a:latin typeface="Aptos"/>
            </a:endParaRPr>
          </a:p>
          <a:p>
            <a:pPr algn="l"/>
            <a:endParaRPr lang="en-US" sz="1600" b="1" dirty="0">
              <a:solidFill>
                <a:srgbClr val="1E2B43"/>
              </a:solidFill>
              <a:latin typeface="Aptos"/>
            </a:endParaRPr>
          </a:p>
          <a:p>
            <a:pPr algn="l"/>
            <a:endParaRPr lang="en-US" sz="1600" b="1" i="0" dirty="0">
              <a:solidFill>
                <a:srgbClr val="1E2B43"/>
              </a:solidFill>
              <a:latin typeface="Aptos"/>
            </a:endParaRPr>
          </a:p>
        </p:txBody>
      </p:sp>
      <p:sp>
        <p:nvSpPr>
          <p:cNvPr id="12" name="TextBox 11"/>
          <p:cNvSpPr txBox="1"/>
          <p:nvPr/>
        </p:nvSpPr>
        <p:spPr>
          <a:xfrm>
            <a:off x="3584448" y="1984248"/>
            <a:ext cx="2286000" cy="3293209"/>
          </a:xfrm>
          <a:prstGeom prst="rect">
            <a:avLst/>
          </a:prstGeom>
          <a:noFill/>
        </p:spPr>
        <p:txBody>
          <a:bodyPr wrap="square" anchor="t">
            <a:spAutoFit/>
          </a:bodyPr>
          <a:lstStyle/>
          <a:p>
            <a:pPr marL="285750" lvl="0" indent="-285750">
              <a:buFont typeface="Arial" panose="020B0604020202020204" pitchFamily="34" charset="0"/>
              <a:buChar char="•"/>
            </a:pPr>
            <a:r>
              <a:rPr lang="en-US" sz="1600" dirty="0"/>
              <a:t>GSS Target &amp; Path shocks </a:t>
            </a:r>
          </a:p>
          <a:p>
            <a:pPr marL="285750" lvl="0" indent="-285750">
              <a:buFont typeface="Arial" panose="020B0604020202020204" pitchFamily="34" charset="0"/>
              <a:buChar char="•"/>
            </a:pPr>
            <a:r>
              <a:rPr lang="en-US" sz="1600" dirty="0"/>
              <a:t>Target: current policy-rate surprise </a:t>
            </a:r>
          </a:p>
          <a:p>
            <a:pPr marL="285750" lvl="0" indent="-285750">
              <a:buFont typeface="Arial" panose="020B0604020202020204" pitchFamily="34" charset="0"/>
              <a:buChar char="•"/>
            </a:pPr>
            <a:r>
              <a:rPr lang="en-US" sz="1600" dirty="0"/>
              <a:t>Path: expected future policy-path surprise </a:t>
            </a:r>
          </a:p>
          <a:p>
            <a:pPr marL="285750" lvl="0" indent="-285750">
              <a:buFont typeface="Arial" panose="020B0604020202020204" pitchFamily="34" charset="0"/>
              <a:buChar char="•"/>
            </a:pPr>
            <a:r>
              <a:rPr lang="en-US" sz="1600" dirty="0"/>
              <a:t>JK-style MP / CBI decomposition </a:t>
            </a:r>
          </a:p>
          <a:p>
            <a:pPr marL="285750" lvl="0" indent="-285750">
              <a:buFont typeface="Arial" panose="020B0604020202020204" pitchFamily="34" charset="0"/>
              <a:buChar char="•"/>
            </a:pPr>
            <a:r>
              <a:rPr lang="en-US" sz="1600" dirty="0"/>
              <a:t>91 MP / 60 CBI meetings </a:t>
            </a:r>
          </a:p>
          <a:p>
            <a:pPr marL="285750" lvl="0" indent="-285750">
              <a:buFont typeface="Arial" panose="020B0604020202020204" pitchFamily="34" charset="0"/>
              <a:buChar char="•"/>
            </a:pPr>
            <a:r>
              <a:rPr lang="en-US" sz="1600" dirty="0"/>
              <a:t>Bauer–Swanson orthogonalization — robustness</a:t>
            </a:r>
          </a:p>
        </p:txBody>
      </p:sp>
      <p:sp>
        <p:nvSpPr>
          <p:cNvPr id="13" name="Rounded Rectangle 12"/>
          <p:cNvSpPr/>
          <p:nvPr/>
        </p:nvSpPr>
        <p:spPr>
          <a:xfrm>
            <a:off x="6263640" y="1417320"/>
            <a:ext cx="2606040" cy="448056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6263640" y="1417320"/>
            <a:ext cx="73152" cy="4480560"/>
          </a:xfrm>
          <a:prstGeom prst="rect">
            <a:avLst/>
          </a:prstGeom>
          <a:solidFill>
            <a:srgbClr val="4267B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64807" y="1563624"/>
            <a:ext cx="2286000" cy="347472"/>
          </a:xfrm>
          <a:prstGeom prst="rect">
            <a:avLst/>
          </a:prstGeom>
          <a:noFill/>
        </p:spPr>
        <p:txBody>
          <a:bodyPr wrap="square" anchor="t">
            <a:spAutoFit/>
          </a:bodyPr>
          <a:lstStyle/>
          <a:p>
            <a:pPr algn="l"/>
            <a:r>
              <a:rPr sz="1600" b="1" i="0">
                <a:solidFill>
                  <a:srgbClr val="4267B2"/>
                </a:solidFill>
                <a:latin typeface="Calibri"/>
              </a:rPr>
              <a:t>Asset Prices</a:t>
            </a:r>
          </a:p>
        </p:txBody>
      </p:sp>
      <p:sp>
        <p:nvSpPr>
          <p:cNvPr id="16" name="TextBox 15"/>
          <p:cNvSpPr txBox="1"/>
          <p:nvPr/>
        </p:nvSpPr>
        <p:spPr>
          <a:xfrm>
            <a:off x="6464807" y="1984248"/>
            <a:ext cx="2286000" cy="2369880"/>
          </a:xfrm>
          <a:prstGeom prst="rect">
            <a:avLst/>
          </a:prstGeom>
          <a:noFill/>
        </p:spPr>
        <p:txBody>
          <a:bodyPr wrap="square" anchor="t">
            <a:spAutoFit/>
          </a:bodyPr>
          <a:lstStyle/>
          <a:p>
            <a:pPr marL="285750" lvl="0" indent="-285750">
              <a:buFont typeface="Arial" panose="020B0604020202020204" pitchFamily="34" charset="0"/>
              <a:buChar char="•"/>
            </a:pPr>
            <a:r>
              <a:rPr lang="en-US" sz="1600" dirty="0"/>
              <a:t>CRSP value-weighted &amp; equal-weighted returns </a:t>
            </a:r>
          </a:p>
          <a:p>
            <a:pPr marL="285750" lvl="0" indent="-285750">
              <a:buFont typeface="Arial" panose="020B0604020202020204" pitchFamily="34" charset="0"/>
              <a:buChar char="•"/>
            </a:pPr>
            <a:r>
              <a:rPr lang="en-US" sz="1600" dirty="0"/>
              <a:t>S&amp;P 500 </a:t>
            </a:r>
          </a:p>
          <a:p>
            <a:pPr marL="285750" lvl="0" indent="-285750">
              <a:buFont typeface="Arial" panose="020B0604020202020204" pitchFamily="34" charset="0"/>
              <a:buChar char="•"/>
            </a:pPr>
            <a:r>
              <a:rPr lang="en-US" sz="1600" dirty="0"/>
              <a:t>NASDAQ </a:t>
            </a:r>
          </a:p>
          <a:p>
            <a:pPr marL="285750" lvl="0" indent="-285750">
              <a:buFont typeface="Arial" panose="020B0604020202020204" pitchFamily="34" charset="0"/>
              <a:buChar char="•"/>
            </a:pPr>
            <a:r>
              <a:rPr lang="en-US" sz="1600" dirty="0"/>
              <a:t>Gold </a:t>
            </a:r>
          </a:p>
          <a:p>
            <a:pPr marL="285750" lvl="0" indent="-285750">
              <a:buFont typeface="Arial" panose="020B0604020202020204" pitchFamily="34" charset="0"/>
              <a:buChar char="•"/>
            </a:pPr>
            <a:r>
              <a:rPr lang="en-US" sz="1600" dirty="0"/>
              <a:t>10-year Treasury yield </a:t>
            </a:r>
          </a:p>
          <a:p>
            <a:pPr marL="285750" lvl="0" indent="-285750">
              <a:buFont typeface="Arial" panose="020B0604020202020204" pitchFamily="34" charset="0"/>
              <a:buChar char="•"/>
            </a:pPr>
            <a:r>
              <a:rPr lang="en-US" sz="1600" dirty="0"/>
              <a:t>13-week T-bill yield </a:t>
            </a:r>
          </a:p>
          <a:p>
            <a:pPr marL="285750" lvl="0" indent="-285750">
              <a:buFont typeface="Arial" panose="020B0604020202020204" pitchFamily="34" charset="0"/>
              <a:buChar char="•"/>
            </a:pPr>
            <a:r>
              <a:rPr lang="en-US" sz="1600" dirty="0"/>
              <a:t>Daily market data</a:t>
            </a:r>
          </a:p>
        </p:txBody>
      </p:sp>
      <p:sp>
        <p:nvSpPr>
          <p:cNvPr id="17" name="Rounded Rectangle 16"/>
          <p:cNvSpPr/>
          <p:nvPr/>
        </p:nvSpPr>
        <p:spPr>
          <a:xfrm>
            <a:off x="9144000" y="1417320"/>
            <a:ext cx="2606040" cy="4480560"/>
          </a:xfrm>
          <a:prstGeom prst="roundRect">
            <a:avLst/>
          </a:prstGeom>
          <a:solidFill>
            <a:srgbClr val="FFFFFF"/>
          </a:solidFill>
          <a:ln>
            <a:solidFill>
              <a:srgbClr val="D2D2D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9144000" y="1417320"/>
            <a:ext cx="73152" cy="4480560"/>
          </a:xfrm>
          <a:prstGeom prst="rect">
            <a:avLst/>
          </a:prstGeom>
          <a:solidFill>
            <a:srgbClr val="BA8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45168" y="1563624"/>
            <a:ext cx="2286000" cy="347472"/>
          </a:xfrm>
          <a:prstGeom prst="rect">
            <a:avLst/>
          </a:prstGeom>
          <a:noFill/>
        </p:spPr>
        <p:txBody>
          <a:bodyPr wrap="square" anchor="t">
            <a:spAutoFit/>
          </a:bodyPr>
          <a:lstStyle/>
          <a:p>
            <a:pPr algn="l"/>
            <a:r>
              <a:rPr sz="1600" b="1" i="0">
                <a:solidFill>
                  <a:srgbClr val="BA8B2A"/>
                </a:solidFill>
                <a:latin typeface="Calibri"/>
              </a:rPr>
              <a:t>Portfolio Flows</a:t>
            </a:r>
          </a:p>
        </p:txBody>
      </p:sp>
      <p:sp>
        <p:nvSpPr>
          <p:cNvPr id="20" name="TextBox 19"/>
          <p:cNvSpPr txBox="1"/>
          <p:nvPr/>
        </p:nvSpPr>
        <p:spPr>
          <a:xfrm>
            <a:off x="9345168" y="1984248"/>
            <a:ext cx="2286000" cy="3108543"/>
          </a:xfrm>
          <a:prstGeom prst="rect">
            <a:avLst/>
          </a:prstGeom>
          <a:noFill/>
        </p:spPr>
        <p:txBody>
          <a:bodyPr wrap="square" anchor="t">
            <a:spAutoFit/>
          </a:bodyPr>
          <a:lstStyle/>
          <a:p>
            <a:pPr marL="285750" lvl="0" indent="-285750">
              <a:buFont typeface="Arial" panose="020B0604020202020204" pitchFamily="34" charset="0"/>
              <a:buChar char="•"/>
            </a:pPr>
            <a:r>
              <a:rPr lang="en-US" sz="1600" dirty="0"/>
              <a:t>CRSP U.S. Mutual Fund Database </a:t>
            </a:r>
          </a:p>
          <a:p>
            <a:pPr marL="285750" lvl="0" indent="-285750">
              <a:buFont typeface="Arial" panose="020B0604020202020204" pitchFamily="34" charset="0"/>
              <a:buChar char="•"/>
            </a:pPr>
            <a:r>
              <a:rPr lang="en-US" sz="1600" dirty="0"/>
              <a:t>7 asset classes, risk rank 1–7 </a:t>
            </a:r>
          </a:p>
          <a:p>
            <a:pPr marL="285750" lvl="0" indent="-285750">
              <a:buFont typeface="Arial" panose="020B0604020202020204" pitchFamily="34" charset="0"/>
              <a:buChar char="•"/>
            </a:pPr>
            <a:r>
              <a:rPr lang="en-US" sz="1600" dirty="0"/>
              <a:t>Government bonds → small-cap equity </a:t>
            </a:r>
          </a:p>
          <a:p>
            <a:pPr marL="285750" lvl="0" indent="-285750">
              <a:buFont typeface="Arial" panose="020B0604020202020204" pitchFamily="34" charset="0"/>
              <a:buChar char="•"/>
            </a:pPr>
            <a:r>
              <a:rPr lang="en-US" sz="1600" dirty="0"/>
              <a:t>Monthly mutual-fund flows </a:t>
            </a:r>
          </a:p>
          <a:p>
            <a:pPr marL="285750" lvl="0" indent="-285750">
              <a:buFont typeface="Arial" panose="020B0604020202020204" pitchFamily="34" charset="0"/>
              <a:buChar char="•"/>
            </a:pPr>
            <a:r>
              <a:rPr lang="en-US" sz="1600" dirty="0"/>
              <a:t>Lagged-TNA-weighted aggregation </a:t>
            </a:r>
          </a:p>
          <a:p>
            <a:pPr marL="285750" lvl="0" indent="-285750">
              <a:buFont typeface="Arial" panose="020B0604020202020204" pitchFamily="34" charset="0"/>
              <a:buChar char="•"/>
            </a:pPr>
            <a:r>
              <a:rPr lang="en-US" sz="1600" dirty="0"/>
              <a:t>Same / Post / Diff FOMC windows</a:t>
            </a:r>
          </a:p>
        </p:txBody>
      </p:sp>
    </p:spTree>
    <p:extLst>
      <p:ext uri="{BB962C8B-B14F-4D97-AF65-F5344CB8AC3E}">
        <p14:creationId xmlns:p14="http://schemas.microsoft.com/office/powerpoint/2010/main" val="34820744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85AB4DF-7614-15DA-CACB-8179D8E33701}"/>
              </a:ext>
            </a:extLst>
          </p:cNvPr>
          <p:cNvGraphicFramePr>
            <a:graphicFrameLocks noGrp="1"/>
          </p:cNvGraphicFramePr>
          <p:nvPr>
            <p:extLst>
              <p:ext uri="{D42A27DB-BD31-4B8C-83A1-F6EECF244321}">
                <p14:modId xmlns:p14="http://schemas.microsoft.com/office/powerpoint/2010/main" val="3050753409"/>
              </p:ext>
            </p:extLst>
          </p:nvPr>
        </p:nvGraphicFramePr>
        <p:xfrm>
          <a:off x="1846437" y="1166327"/>
          <a:ext cx="8856960" cy="5595319"/>
        </p:xfrm>
        <a:graphic>
          <a:graphicData uri="http://schemas.openxmlformats.org/drawingml/2006/table">
            <a:tbl>
              <a:tblPr>
                <a:tableStyleId>{5C22544A-7EE6-4342-B048-85BDC9FD1C3A}</a:tableStyleId>
              </a:tblPr>
              <a:tblGrid>
                <a:gridCol w="2214240">
                  <a:extLst>
                    <a:ext uri="{9D8B030D-6E8A-4147-A177-3AD203B41FA5}">
                      <a16:colId xmlns:a16="http://schemas.microsoft.com/office/drawing/2014/main" val="4141299138"/>
                    </a:ext>
                  </a:extLst>
                </a:gridCol>
                <a:gridCol w="2214240">
                  <a:extLst>
                    <a:ext uri="{9D8B030D-6E8A-4147-A177-3AD203B41FA5}">
                      <a16:colId xmlns:a16="http://schemas.microsoft.com/office/drawing/2014/main" val="2385400509"/>
                    </a:ext>
                  </a:extLst>
                </a:gridCol>
                <a:gridCol w="2214240">
                  <a:extLst>
                    <a:ext uri="{9D8B030D-6E8A-4147-A177-3AD203B41FA5}">
                      <a16:colId xmlns:a16="http://schemas.microsoft.com/office/drawing/2014/main" val="326790635"/>
                    </a:ext>
                  </a:extLst>
                </a:gridCol>
                <a:gridCol w="2214240">
                  <a:extLst>
                    <a:ext uri="{9D8B030D-6E8A-4147-A177-3AD203B41FA5}">
                      <a16:colId xmlns:a16="http://schemas.microsoft.com/office/drawing/2014/main" val="2297314194"/>
                    </a:ext>
                  </a:extLst>
                </a:gridCol>
              </a:tblGrid>
              <a:tr h="491097">
                <a:tc>
                  <a:txBody>
                    <a:bodyPr/>
                    <a:lstStyle/>
                    <a:p>
                      <a:pPr>
                        <a:buNone/>
                      </a:pPr>
                      <a:r>
                        <a:rPr lang="en-US" sz="1600" dirty="0">
                          <a:latin typeface="Calibri"/>
                        </a:rPr>
                        <a:t>#</a:t>
                      </a:r>
                    </a:p>
                  </a:txBody>
                  <a:tcPr marL="57291" marR="57291" marT="28645" marB="28645" anchor="ctr"/>
                </a:tc>
                <a:tc>
                  <a:txBody>
                    <a:bodyPr/>
                    <a:lstStyle/>
                    <a:p>
                      <a:pPr>
                        <a:buNone/>
                      </a:pPr>
                      <a:r>
                        <a:rPr lang="en-US" sz="1600">
                          <a:latin typeface="Calibri"/>
                        </a:rPr>
                        <a:t>Variable</a:t>
                      </a:r>
                    </a:p>
                  </a:txBody>
                  <a:tcPr marL="57291" marR="57291" marT="28645" marB="28645" anchor="ctr"/>
                </a:tc>
                <a:tc>
                  <a:txBody>
                    <a:bodyPr/>
                    <a:lstStyle/>
                    <a:p>
                      <a:pPr>
                        <a:buNone/>
                      </a:pPr>
                      <a:r>
                        <a:rPr lang="en-US" sz="1600">
                          <a:latin typeface="Calibri"/>
                        </a:rPr>
                        <a:t>Role</a:t>
                      </a:r>
                    </a:p>
                  </a:txBody>
                  <a:tcPr marL="57291" marR="57291" marT="28645" marB="28645" anchor="ctr"/>
                </a:tc>
                <a:tc>
                  <a:txBody>
                    <a:bodyPr/>
                    <a:lstStyle/>
                    <a:p>
                      <a:pPr>
                        <a:buNone/>
                      </a:pPr>
                      <a:r>
                        <a:rPr lang="en-US" sz="1600">
                          <a:latin typeface="Calibri"/>
                        </a:rPr>
                        <a:t>Source / construction</a:t>
                      </a:r>
                    </a:p>
                  </a:txBody>
                  <a:tcPr marL="57291" marR="57291" marT="28645" marB="28645" anchor="ctr"/>
                </a:tc>
                <a:extLst>
                  <a:ext uri="{0D108BD9-81ED-4DB2-BD59-A6C34878D82A}">
                    <a16:rowId xmlns:a16="http://schemas.microsoft.com/office/drawing/2014/main" val="3224313532"/>
                  </a:ext>
                </a:extLst>
              </a:tr>
              <a:tr h="572592">
                <a:tc>
                  <a:txBody>
                    <a:bodyPr/>
                    <a:lstStyle/>
                    <a:p>
                      <a:pPr>
                        <a:buNone/>
                      </a:pPr>
                      <a:r>
                        <a:rPr lang="en-US" sz="1600" dirty="0">
                          <a:latin typeface="Calibri"/>
                        </a:rPr>
                        <a:t>1</a:t>
                      </a:r>
                    </a:p>
                  </a:txBody>
                  <a:tcPr marL="57291" marR="57291" marT="28645" marB="28645" anchor="ctr"/>
                </a:tc>
                <a:tc>
                  <a:txBody>
                    <a:bodyPr/>
                    <a:lstStyle/>
                    <a:p>
                      <a:pPr>
                        <a:buNone/>
                      </a:pPr>
                      <a:r>
                        <a:rPr lang="en-US" sz="1600" dirty="0">
                          <a:latin typeface="Calibri"/>
                        </a:rPr>
                        <a:t>Target shock</a:t>
                      </a:r>
                    </a:p>
                  </a:txBody>
                  <a:tcPr marL="57291" marR="57291" marT="28645" marB="28645" anchor="ctr"/>
                </a:tc>
                <a:tc>
                  <a:txBody>
                    <a:bodyPr/>
                    <a:lstStyle/>
                    <a:p>
                      <a:pPr>
                        <a:buNone/>
                      </a:pPr>
                      <a:r>
                        <a:rPr lang="en-US" sz="1600" dirty="0">
                          <a:latin typeface="Calibri"/>
                        </a:rPr>
                        <a:t>X</a:t>
                      </a:r>
                    </a:p>
                  </a:txBody>
                  <a:tcPr marL="57291" marR="57291" marT="28645" marB="28645" anchor="ctr"/>
                </a:tc>
                <a:tc>
                  <a:txBody>
                    <a:bodyPr/>
                    <a:lstStyle/>
                    <a:p>
                      <a:pPr>
                        <a:buNone/>
                      </a:pPr>
                      <a:r>
                        <a:rPr lang="en-US" sz="1600" dirty="0">
                          <a:latin typeface="Calibri"/>
                        </a:rPr>
                        <a:t>Established GSS current-policy surprise</a:t>
                      </a:r>
                    </a:p>
                  </a:txBody>
                  <a:tcPr marL="57291" marR="57291" marT="28645" marB="28645" anchor="ctr"/>
                </a:tc>
                <a:extLst>
                  <a:ext uri="{0D108BD9-81ED-4DB2-BD59-A6C34878D82A}">
                    <a16:rowId xmlns:a16="http://schemas.microsoft.com/office/drawing/2014/main" val="1152871633"/>
                  </a:ext>
                </a:extLst>
              </a:tr>
              <a:tr h="245991">
                <a:tc>
                  <a:txBody>
                    <a:bodyPr/>
                    <a:lstStyle/>
                    <a:p>
                      <a:pPr>
                        <a:buNone/>
                      </a:pPr>
                      <a:r>
                        <a:rPr lang="en-US" sz="1600" dirty="0">
                          <a:latin typeface="Calibri"/>
                        </a:rPr>
                        <a:t>2</a:t>
                      </a:r>
                    </a:p>
                  </a:txBody>
                  <a:tcPr marL="57291" marR="57291" marT="28645" marB="28645" anchor="ctr"/>
                </a:tc>
                <a:tc>
                  <a:txBody>
                    <a:bodyPr/>
                    <a:lstStyle/>
                    <a:p>
                      <a:pPr>
                        <a:buNone/>
                      </a:pPr>
                      <a:r>
                        <a:rPr lang="en-US" sz="1600" dirty="0">
                          <a:latin typeface="Calibri"/>
                        </a:rPr>
                        <a:t>Path shock</a:t>
                      </a:r>
                    </a:p>
                  </a:txBody>
                  <a:tcPr marL="57291" marR="57291" marT="28645" marB="28645" anchor="ctr"/>
                </a:tc>
                <a:tc>
                  <a:txBody>
                    <a:bodyPr/>
                    <a:lstStyle/>
                    <a:p>
                      <a:pPr>
                        <a:buNone/>
                      </a:pPr>
                      <a:r>
                        <a:rPr lang="en-US" sz="1600" dirty="0">
                          <a:latin typeface="Calibri"/>
                        </a:rPr>
                        <a:t>X</a:t>
                      </a:r>
                    </a:p>
                  </a:txBody>
                  <a:tcPr marL="57291" marR="57291" marT="28645" marB="28645" anchor="ctr"/>
                </a:tc>
                <a:tc>
                  <a:txBody>
                    <a:bodyPr/>
                    <a:lstStyle/>
                    <a:p>
                      <a:pPr>
                        <a:buNone/>
                      </a:pPr>
                      <a:r>
                        <a:rPr lang="en-US" sz="1600" dirty="0">
                          <a:latin typeface="Calibri"/>
                        </a:rPr>
                        <a:t>Established GSS future-policy-path surprise</a:t>
                      </a:r>
                    </a:p>
                  </a:txBody>
                  <a:tcPr marL="57291" marR="57291" marT="28645" marB="28645" anchor="ctr"/>
                </a:tc>
                <a:extLst>
                  <a:ext uri="{0D108BD9-81ED-4DB2-BD59-A6C34878D82A}">
                    <a16:rowId xmlns:a16="http://schemas.microsoft.com/office/drawing/2014/main" val="3191931107"/>
                  </a:ext>
                </a:extLst>
              </a:tr>
              <a:tr h="491097">
                <a:tc>
                  <a:txBody>
                    <a:bodyPr/>
                    <a:lstStyle/>
                    <a:p>
                      <a:pPr>
                        <a:buNone/>
                      </a:pPr>
                      <a:r>
                        <a:rPr lang="en-US" sz="1600" dirty="0">
                          <a:latin typeface="Calibri"/>
                        </a:rPr>
                        <a:t>3</a:t>
                      </a:r>
                    </a:p>
                  </a:txBody>
                  <a:tcPr marL="57291" marR="57291" marT="28645" marB="28645" anchor="ctr"/>
                </a:tc>
                <a:tc>
                  <a:txBody>
                    <a:bodyPr/>
                    <a:lstStyle/>
                    <a:p>
                      <a:pPr>
                        <a:buNone/>
                      </a:pPr>
                      <a:r>
                        <a:rPr lang="en-US" sz="1600">
                          <a:latin typeface="Calibri"/>
                        </a:rPr>
                        <a:t>FOMC Statement Sentiment</a:t>
                      </a:r>
                    </a:p>
                  </a:txBody>
                  <a:tcPr marL="57291" marR="57291" marT="28645" marB="28645" anchor="ctr"/>
                </a:tc>
                <a:tc>
                  <a:txBody>
                    <a:bodyPr/>
                    <a:lstStyle/>
                    <a:p>
                      <a:pPr>
                        <a:buNone/>
                      </a:pPr>
                      <a:r>
                        <a:rPr lang="en-US" sz="1600" dirty="0">
                          <a:latin typeface="Calibri"/>
                        </a:rPr>
                        <a:t>Y or X</a:t>
                      </a:r>
                    </a:p>
                  </a:txBody>
                  <a:tcPr marL="57291" marR="57291" marT="28645" marB="28645" anchor="ctr"/>
                </a:tc>
                <a:tc>
                  <a:txBody>
                    <a:bodyPr/>
                    <a:lstStyle/>
                    <a:p>
                      <a:pPr>
                        <a:buNone/>
                      </a:pPr>
                      <a:r>
                        <a:rPr lang="en-US" sz="1600" dirty="0">
                          <a:latin typeface="Calibri"/>
                        </a:rPr>
                        <a:t> text measure</a:t>
                      </a:r>
                    </a:p>
                  </a:txBody>
                  <a:tcPr marL="57291" marR="57291" marT="28645" marB="28645" anchor="ctr"/>
                </a:tc>
                <a:extLst>
                  <a:ext uri="{0D108BD9-81ED-4DB2-BD59-A6C34878D82A}">
                    <a16:rowId xmlns:a16="http://schemas.microsoft.com/office/drawing/2014/main" val="1640638933"/>
                  </a:ext>
                </a:extLst>
              </a:tr>
              <a:tr h="280627">
                <a:tc>
                  <a:txBody>
                    <a:bodyPr/>
                    <a:lstStyle/>
                    <a:p>
                      <a:pPr>
                        <a:buNone/>
                      </a:pPr>
                      <a:r>
                        <a:rPr lang="en-US" sz="1600">
                          <a:latin typeface="Calibri"/>
                        </a:rPr>
                        <a:t>4</a:t>
                      </a:r>
                    </a:p>
                  </a:txBody>
                  <a:tcPr marL="57291" marR="57291" marT="28645" marB="28645" anchor="ctr"/>
                </a:tc>
                <a:tc>
                  <a:txBody>
                    <a:bodyPr/>
                    <a:lstStyle/>
                    <a:p>
                      <a:pPr>
                        <a:buNone/>
                      </a:pPr>
                      <a:r>
                        <a:rPr lang="en-US" sz="1600">
                          <a:latin typeface="Calibri"/>
                        </a:rPr>
                        <a:t>CRSP VW return</a:t>
                      </a:r>
                    </a:p>
                  </a:txBody>
                  <a:tcPr marL="57291" marR="57291" marT="28645" marB="28645" anchor="ctr"/>
                </a:tc>
                <a:tc>
                  <a:txBody>
                    <a:bodyPr/>
                    <a:lstStyle/>
                    <a:p>
                      <a:pPr>
                        <a:buNone/>
                      </a:pPr>
                      <a:r>
                        <a:rPr lang="en-US" sz="1600">
                          <a:latin typeface="Calibri"/>
                        </a:rPr>
                        <a:t>Y</a:t>
                      </a:r>
                    </a:p>
                  </a:txBody>
                  <a:tcPr marL="57291" marR="57291" marT="28645" marB="28645" anchor="ctr"/>
                </a:tc>
                <a:tc>
                  <a:txBody>
                    <a:bodyPr/>
                    <a:lstStyle/>
                    <a:p>
                      <a:pPr>
                        <a:buNone/>
                      </a:pPr>
                      <a:r>
                        <a:rPr lang="en-US" sz="1600">
                          <a:latin typeface="Calibri"/>
                        </a:rPr>
                        <a:t>Market data</a:t>
                      </a:r>
                    </a:p>
                  </a:txBody>
                  <a:tcPr marL="57291" marR="57291" marT="28645" marB="28645" anchor="ctr"/>
                </a:tc>
                <a:extLst>
                  <a:ext uri="{0D108BD9-81ED-4DB2-BD59-A6C34878D82A}">
                    <a16:rowId xmlns:a16="http://schemas.microsoft.com/office/drawing/2014/main" val="4177716225"/>
                  </a:ext>
                </a:extLst>
              </a:tr>
              <a:tr h="280627">
                <a:tc>
                  <a:txBody>
                    <a:bodyPr/>
                    <a:lstStyle/>
                    <a:p>
                      <a:pPr>
                        <a:buNone/>
                      </a:pPr>
                      <a:r>
                        <a:rPr lang="en-US" sz="1600">
                          <a:latin typeface="Calibri"/>
                        </a:rPr>
                        <a:t>5</a:t>
                      </a:r>
                    </a:p>
                  </a:txBody>
                  <a:tcPr marL="57291" marR="57291" marT="28645" marB="28645" anchor="ctr"/>
                </a:tc>
                <a:tc>
                  <a:txBody>
                    <a:bodyPr/>
                    <a:lstStyle/>
                    <a:p>
                      <a:pPr>
                        <a:buNone/>
                      </a:pPr>
                      <a:r>
                        <a:rPr lang="en-US" sz="1600" dirty="0">
                          <a:latin typeface="Calibri"/>
                        </a:rPr>
                        <a:t>CRSP EW return</a:t>
                      </a:r>
                    </a:p>
                  </a:txBody>
                  <a:tcPr marL="57291" marR="57291" marT="28645" marB="28645" anchor="ctr"/>
                </a:tc>
                <a:tc>
                  <a:txBody>
                    <a:bodyPr/>
                    <a:lstStyle/>
                    <a:p>
                      <a:pPr>
                        <a:buNone/>
                      </a:pPr>
                      <a:r>
                        <a:rPr lang="en-US" sz="1600">
                          <a:latin typeface="Calibri"/>
                        </a:rPr>
                        <a:t>Y</a:t>
                      </a:r>
                    </a:p>
                  </a:txBody>
                  <a:tcPr marL="57291" marR="57291" marT="28645" marB="28645" anchor="ctr"/>
                </a:tc>
                <a:tc>
                  <a:txBody>
                    <a:bodyPr/>
                    <a:lstStyle/>
                    <a:p>
                      <a:pPr>
                        <a:buNone/>
                      </a:pPr>
                      <a:r>
                        <a:rPr lang="en-US" sz="1600">
                          <a:latin typeface="Calibri"/>
                        </a:rPr>
                        <a:t>Market data</a:t>
                      </a:r>
                    </a:p>
                  </a:txBody>
                  <a:tcPr marL="57291" marR="57291" marT="28645" marB="28645" anchor="ctr"/>
                </a:tc>
                <a:extLst>
                  <a:ext uri="{0D108BD9-81ED-4DB2-BD59-A6C34878D82A}">
                    <a16:rowId xmlns:a16="http://schemas.microsoft.com/office/drawing/2014/main" val="1683885333"/>
                  </a:ext>
                </a:extLst>
              </a:tr>
              <a:tr h="280627">
                <a:tc>
                  <a:txBody>
                    <a:bodyPr/>
                    <a:lstStyle/>
                    <a:p>
                      <a:pPr>
                        <a:buNone/>
                      </a:pPr>
                      <a:r>
                        <a:rPr lang="en-US" sz="1600">
                          <a:latin typeface="Calibri"/>
                        </a:rPr>
                        <a:t>6</a:t>
                      </a:r>
                    </a:p>
                  </a:txBody>
                  <a:tcPr marL="57291" marR="57291" marT="28645" marB="28645" anchor="ctr"/>
                </a:tc>
                <a:tc>
                  <a:txBody>
                    <a:bodyPr/>
                    <a:lstStyle/>
                    <a:p>
                      <a:pPr>
                        <a:buNone/>
                      </a:pPr>
                      <a:r>
                        <a:rPr lang="en-US" sz="1600">
                          <a:latin typeface="Calibri"/>
                        </a:rPr>
                        <a:t>S&amp;P 500 return</a:t>
                      </a:r>
                    </a:p>
                  </a:txBody>
                  <a:tcPr marL="57291" marR="57291" marT="28645" marB="28645" anchor="ctr"/>
                </a:tc>
                <a:tc>
                  <a:txBody>
                    <a:bodyPr/>
                    <a:lstStyle/>
                    <a:p>
                      <a:pPr>
                        <a:buNone/>
                      </a:pPr>
                      <a:r>
                        <a:rPr lang="en-US" sz="1600">
                          <a:latin typeface="Calibri"/>
                        </a:rPr>
                        <a:t>Y</a:t>
                      </a:r>
                    </a:p>
                  </a:txBody>
                  <a:tcPr marL="57291" marR="57291" marT="28645" marB="28645" anchor="ctr"/>
                </a:tc>
                <a:tc>
                  <a:txBody>
                    <a:bodyPr/>
                    <a:lstStyle/>
                    <a:p>
                      <a:pPr>
                        <a:buNone/>
                      </a:pPr>
                      <a:r>
                        <a:rPr lang="en-US" sz="1600">
                          <a:latin typeface="Calibri"/>
                        </a:rPr>
                        <a:t>Market data</a:t>
                      </a:r>
                    </a:p>
                  </a:txBody>
                  <a:tcPr marL="57291" marR="57291" marT="28645" marB="28645" anchor="ctr"/>
                </a:tc>
                <a:extLst>
                  <a:ext uri="{0D108BD9-81ED-4DB2-BD59-A6C34878D82A}">
                    <a16:rowId xmlns:a16="http://schemas.microsoft.com/office/drawing/2014/main" val="1892734734"/>
                  </a:ext>
                </a:extLst>
              </a:tr>
              <a:tr h="280627">
                <a:tc>
                  <a:txBody>
                    <a:bodyPr/>
                    <a:lstStyle/>
                    <a:p>
                      <a:pPr>
                        <a:buNone/>
                      </a:pPr>
                      <a:r>
                        <a:rPr lang="en-US" sz="1600">
                          <a:latin typeface="Calibri"/>
                        </a:rPr>
                        <a:t>7</a:t>
                      </a:r>
                    </a:p>
                  </a:txBody>
                  <a:tcPr marL="57291" marR="57291" marT="28645" marB="28645" anchor="ctr"/>
                </a:tc>
                <a:tc>
                  <a:txBody>
                    <a:bodyPr/>
                    <a:lstStyle/>
                    <a:p>
                      <a:pPr>
                        <a:buNone/>
                      </a:pPr>
                      <a:r>
                        <a:rPr lang="en-US" sz="1600">
                          <a:latin typeface="Calibri"/>
                        </a:rPr>
                        <a:t>NASDAQ return</a:t>
                      </a:r>
                    </a:p>
                  </a:txBody>
                  <a:tcPr marL="57291" marR="57291" marT="28645" marB="28645" anchor="ctr"/>
                </a:tc>
                <a:tc>
                  <a:txBody>
                    <a:bodyPr/>
                    <a:lstStyle/>
                    <a:p>
                      <a:pPr>
                        <a:buNone/>
                      </a:pPr>
                      <a:r>
                        <a:rPr lang="en-US" sz="1600" dirty="0">
                          <a:latin typeface="Calibri"/>
                        </a:rPr>
                        <a:t>Y</a:t>
                      </a:r>
                    </a:p>
                  </a:txBody>
                  <a:tcPr marL="57291" marR="57291" marT="28645" marB="28645" anchor="ctr"/>
                </a:tc>
                <a:tc>
                  <a:txBody>
                    <a:bodyPr/>
                    <a:lstStyle/>
                    <a:p>
                      <a:pPr>
                        <a:buNone/>
                      </a:pPr>
                      <a:r>
                        <a:rPr lang="en-US" sz="1600">
                          <a:latin typeface="Calibri"/>
                        </a:rPr>
                        <a:t>Market data</a:t>
                      </a:r>
                    </a:p>
                  </a:txBody>
                  <a:tcPr marL="57291" marR="57291" marT="28645" marB="28645" anchor="ctr"/>
                </a:tc>
                <a:extLst>
                  <a:ext uri="{0D108BD9-81ED-4DB2-BD59-A6C34878D82A}">
                    <a16:rowId xmlns:a16="http://schemas.microsoft.com/office/drawing/2014/main" val="133820028"/>
                  </a:ext>
                </a:extLst>
              </a:tr>
              <a:tr h="491097">
                <a:tc>
                  <a:txBody>
                    <a:bodyPr/>
                    <a:lstStyle/>
                    <a:p>
                      <a:pPr>
                        <a:buNone/>
                      </a:pPr>
                      <a:r>
                        <a:rPr lang="en-US" sz="1600">
                          <a:latin typeface="Calibri"/>
                        </a:rPr>
                        <a:t>8</a:t>
                      </a:r>
                    </a:p>
                  </a:txBody>
                  <a:tcPr marL="57291" marR="57291" marT="28645" marB="28645" anchor="ctr"/>
                </a:tc>
                <a:tc>
                  <a:txBody>
                    <a:bodyPr/>
                    <a:lstStyle/>
                    <a:p>
                      <a:pPr>
                        <a:buNone/>
                      </a:pPr>
                      <a:r>
                        <a:rPr lang="en-US" sz="1600" dirty="0">
                          <a:latin typeface="Calibri"/>
                        </a:rPr>
                        <a:t>10-Year Treasury response</a:t>
                      </a:r>
                    </a:p>
                  </a:txBody>
                  <a:tcPr marL="57291" marR="57291" marT="28645" marB="28645" anchor="ctr"/>
                </a:tc>
                <a:tc>
                  <a:txBody>
                    <a:bodyPr/>
                    <a:lstStyle/>
                    <a:p>
                      <a:pPr>
                        <a:buNone/>
                      </a:pPr>
                      <a:r>
                        <a:rPr lang="en-US" sz="1600">
                          <a:latin typeface="Calibri"/>
                        </a:rPr>
                        <a:t>Y</a:t>
                      </a:r>
                    </a:p>
                  </a:txBody>
                  <a:tcPr marL="57291" marR="57291" marT="28645" marB="28645" anchor="ctr"/>
                </a:tc>
                <a:tc>
                  <a:txBody>
                    <a:bodyPr/>
                    <a:lstStyle/>
                    <a:p>
                      <a:pPr>
                        <a:buNone/>
                      </a:pPr>
                      <a:r>
                        <a:rPr lang="en-US" sz="1600">
                          <a:latin typeface="Calibri"/>
                        </a:rPr>
                        <a:t>Market data</a:t>
                      </a:r>
                    </a:p>
                  </a:txBody>
                  <a:tcPr marL="57291" marR="57291" marT="28645" marB="28645" anchor="ctr"/>
                </a:tc>
                <a:extLst>
                  <a:ext uri="{0D108BD9-81ED-4DB2-BD59-A6C34878D82A}">
                    <a16:rowId xmlns:a16="http://schemas.microsoft.com/office/drawing/2014/main" val="3773111501"/>
                  </a:ext>
                </a:extLst>
              </a:tr>
              <a:tr h="491097">
                <a:tc>
                  <a:txBody>
                    <a:bodyPr/>
                    <a:lstStyle/>
                    <a:p>
                      <a:pPr>
                        <a:buNone/>
                      </a:pPr>
                      <a:r>
                        <a:rPr lang="en-US" sz="1600">
                          <a:latin typeface="Calibri"/>
                        </a:rPr>
                        <a:t>9</a:t>
                      </a:r>
                    </a:p>
                  </a:txBody>
                  <a:tcPr marL="57291" marR="57291" marT="28645" marB="28645" anchor="ctr"/>
                </a:tc>
                <a:tc>
                  <a:txBody>
                    <a:bodyPr/>
                    <a:lstStyle/>
                    <a:p>
                      <a:pPr>
                        <a:buNone/>
                      </a:pPr>
                      <a:r>
                        <a:rPr lang="en-US" sz="1600">
                          <a:latin typeface="Calibri"/>
                        </a:rPr>
                        <a:t>13-Week Treasury response</a:t>
                      </a:r>
                    </a:p>
                  </a:txBody>
                  <a:tcPr marL="57291" marR="57291" marT="28645" marB="28645" anchor="ctr"/>
                </a:tc>
                <a:tc>
                  <a:txBody>
                    <a:bodyPr/>
                    <a:lstStyle/>
                    <a:p>
                      <a:pPr>
                        <a:buNone/>
                      </a:pPr>
                      <a:r>
                        <a:rPr lang="en-US" sz="1600">
                          <a:latin typeface="Calibri"/>
                        </a:rPr>
                        <a:t>Y</a:t>
                      </a:r>
                    </a:p>
                  </a:txBody>
                  <a:tcPr marL="57291" marR="57291" marT="28645" marB="28645" anchor="ctr"/>
                </a:tc>
                <a:tc>
                  <a:txBody>
                    <a:bodyPr/>
                    <a:lstStyle/>
                    <a:p>
                      <a:pPr>
                        <a:buNone/>
                      </a:pPr>
                      <a:r>
                        <a:rPr lang="en-US" sz="1600">
                          <a:latin typeface="Calibri"/>
                        </a:rPr>
                        <a:t>Market data</a:t>
                      </a:r>
                    </a:p>
                  </a:txBody>
                  <a:tcPr marL="57291" marR="57291" marT="28645" marB="28645" anchor="ctr"/>
                </a:tc>
                <a:extLst>
                  <a:ext uri="{0D108BD9-81ED-4DB2-BD59-A6C34878D82A}">
                    <a16:rowId xmlns:a16="http://schemas.microsoft.com/office/drawing/2014/main" val="2093476318"/>
                  </a:ext>
                </a:extLst>
              </a:tr>
              <a:tr h="280627">
                <a:tc>
                  <a:txBody>
                    <a:bodyPr/>
                    <a:lstStyle/>
                    <a:p>
                      <a:pPr>
                        <a:buNone/>
                      </a:pPr>
                      <a:r>
                        <a:rPr lang="en-US" sz="1600">
                          <a:latin typeface="Calibri"/>
                        </a:rPr>
                        <a:t>10</a:t>
                      </a:r>
                    </a:p>
                  </a:txBody>
                  <a:tcPr marL="57291" marR="57291" marT="28645" marB="28645" anchor="ctr"/>
                </a:tc>
                <a:tc>
                  <a:txBody>
                    <a:bodyPr/>
                    <a:lstStyle/>
                    <a:p>
                      <a:pPr>
                        <a:buNone/>
                      </a:pPr>
                      <a:r>
                        <a:rPr lang="en-US" sz="1600">
                          <a:latin typeface="Calibri"/>
                        </a:rPr>
                        <a:t>Gold return</a:t>
                      </a:r>
                    </a:p>
                  </a:txBody>
                  <a:tcPr marL="57291" marR="57291" marT="28645" marB="28645" anchor="ctr"/>
                </a:tc>
                <a:tc>
                  <a:txBody>
                    <a:bodyPr/>
                    <a:lstStyle/>
                    <a:p>
                      <a:pPr>
                        <a:buNone/>
                      </a:pPr>
                      <a:r>
                        <a:rPr lang="en-US" sz="1600">
                          <a:latin typeface="Calibri"/>
                        </a:rPr>
                        <a:t>Y</a:t>
                      </a:r>
                    </a:p>
                  </a:txBody>
                  <a:tcPr marL="57291" marR="57291" marT="28645" marB="28645" anchor="ctr"/>
                </a:tc>
                <a:tc>
                  <a:txBody>
                    <a:bodyPr/>
                    <a:lstStyle/>
                    <a:p>
                      <a:pPr>
                        <a:buNone/>
                      </a:pPr>
                      <a:r>
                        <a:rPr lang="en-US" sz="1600">
                          <a:latin typeface="Calibri"/>
                        </a:rPr>
                        <a:t>Market data</a:t>
                      </a:r>
                    </a:p>
                  </a:txBody>
                  <a:tcPr marL="57291" marR="57291" marT="28645" marB="28645" anchor="ctr"/>
                </a:tc>
                <a:extLst>
                  <a:ext uri="{0D108BD9-81ED-4DB2-BD59-A6C34878D82A}">
                    <a16:rowId xmlns:a16="http://schemas.microsoft.com/office/drawing/2014/main" val="3377466559"/>
                  </a:ext>
                </a:extLst>
              </a:tr>
              <a:tr h="491097">
                <a:tc>
                  <a:txBody>
                    <a:bodyPr/>
                    <a:lstStyle/>
                    <a:p>
                      <a:pPr>
                        <a:buNone/>
                      </a:pPr>
                      <a:r>
                        <a:rPr lang="en-US" sz="1600">
                          <a:latin typeface="Calibri"/>
                        </a:rPr>
                        <a:t>11</a:t>
                      </a:r>
                    </a:p>
                  </a:txBody>
                  <a:tcPr marL="57291" marR="57291" marT="28645" marB="28645" anchor="ctr"/>
                </a:tc>
                <a:tc>
                  <a:txBody>
                    <a:bodyPr/>
                    <a:lstStyle/>
                    <a:p>
                      <a:pPr>
                        <a:buNone/>
                      </a:pPr>
                      <a:r>
                        <a:rPr lang="en-US" sz="1600" dirty="0">
                          <a:latin typeface="Calibri"/>
                        </a:rPr>
                        <a:t>Forward-Guidance (FG) dummy</a:t>
                      </a:r>
                    </a:p>
                  </a:txBody>
                  <a:tcPr marL="57291" marR="57291" marT="28645" marB="28645" anchor="ctr"/>
                </a:tc>
                <a:tc>
                  <a:txBody>
                    <a:bodyPr/>
                    <a:lstStyle/>
                    <a:p>
                      <a:pPr>
                        <a:buNone/>
                      </a:pPr>
                      <a:r>
                        <a:rPr lang="en-US" sz="1600">
                          <a:latin typeface="Calibri"/>
                        </a:rPr>
                        <a:t>Moderator</a:t>
                      </a:r>
                    </a:p>
                  </a:txBody>
                  <a:tcPr marL="57291" marR="57291" marT="28645" marB="28645" anchor="ctr"/>
                </a:tc>
                <a:tc>
                  <a:txBody>
                    <a:bodyPr/>
                    <a:lstStyle/>
                    <a:p>
                      <a:pPr>
                        <a:buNone/>
                      </a:pPr>
                      <a:r>
                        <a:rPr lang="en-US" sz="1600" dirty="0">
                          <a:latin typeface="Calibri"/>
                        </a:rPr>
                        <a:t> define from policy regime</a:t>
                      </a:r>
                    </a:p>
                  </a:txBody>
                  <a:tcPr marL="57291" marR="57291" marT="28645" marB="28645" anchor="ctr"/>
                </a:tc>
                <a:extLst>
                  <a:ext uri="{0D108BD9-81ED-4DB2-BD59-A6C34878D82A}">
                    <a16:rowId xmlns:a16="http://schemas.microsoft.com/office/drawing/2014/main" val="3620984329"/>
                  </a:ext>
                </a:extLst>
              </a:tr>
              <a:tr h="280627">
                <a:tc>
                  <a:txBody>
                    <a:bodyPr/>
                    <a:lstStyle/>
                    <a:p>
                      <a:pPr>
                        <a:buNone/>
                      </a:pPr>
                      <a:r>
                        <a:rPr lang="en-US" sz="1600" dirty="0">
                          <a:latin typeface="Calibri"/>
                        </a:rPr>
                        <a:t>12</a:t>
                      </a:r>
                    </a:p>
                  </a:txBody>
                  <a:tcPr marL="57291" marR="57291" marT="28645" marB="28645" anchor="ctr"/>
                </a:tc>
                <a:tc>
                  <a:txBody>
                    <a:bodyPr/>
                    <a:lstStyle/>
                    <a:p>
                      <a:pPr>
                        <a:buNone/>
                      </a:pPr>
                      <a:r>
                        <a:rPr lang="en-US" sz="1600">
                          <a:latin typeface="Calibri"/>
                        </a:rPr>
                        <a:t>Sentiment × FG</a:t>
                      </a:r>
                    </a:p>
                  </a:txBody>
                  <a:tcPr marL="57291" marR="57291" marT="28645" marB="28645" anchor="ctr"/>
                </a:tc>
                <a:tc>
                  <a:txBody>
                    <a:bodyPr/>
                    <a:lstStyle/>
                    <a:p>
                      <a:pPr>
                        <a:buNone/>
                      </a:pPr>
                      <a:r>
                        <a:rPr lang="en-US" sz="1600">
                          <a:latin typeface="Calibri"/>
                        </a:rPr>
                        <a:t>Interaction</a:t>
                      </a:r>
                    </a:p>
                  </a:txBody>
                  <a:tcPr marL="57291" marR="57291" marT="28645" marB="28645" anchor="ctr"/>
                </a:tc>
                <a:tc>
                  <a:txBody>
                    <a:bodyPr/>
                    <a:lstStyle/>
                    <a:p>
                      <a:pPr>
                        <a:buNone/>
                      </a:pPr>
                      <a:r>
                        <a:rPr lang="en-US" sz="1600" dirty="0">
                          <a:latin typeface="Calibri"/>
                        </a:rPr>
                        <a:t>construct</a:t>
                      </a:r>
                    </a:p>
                  </a:txBody>
                  <a:tcPr marL="57291" marR="57291" marT="28645" marB="28645" anchor="ctr"/>
                </a:tc>
                <a:extLst>
                  <a:ext uri="{0D108BD9-81ED-4DB2-BD59-A6C34878D82A}">
                    <a16:rowId xmlns:a16="http://schemas.microsoft.com/office/drawing/2014/main" val="248276899"/>
                  </a:ext>
                </a:extLst>
              </a:tr>
            </a:tbl>
          </a:graphicData>
        </a:graphic>
      </p:graphicFrame>
      <p:sp>
        <p:nvSpPr>
          <p:cNvPr id="4" name="TextBox 3">
            <a:extLst>
              <a:ext uri="{FF2B5EF4-FFF2-40B4-BE49-F238E27FC236}">
                <a16:creationId xmlns:a16="http://schemas.microsoft.com/office/drawing/2014/main" id="{5DA82FC5-F6CF-3424-7298-5A9031F5BAF3}"/>
              </a:ext>
            </a:extLst>
          </p:cNvPr>
          <p:cNvSpPr txBox="1"/>
          <p:nvPr/>
        </p:nvSpPr>
        <p:spPr>
          <a:xfrm>
            <a:off x="2103951" y="852808"/>
            <a:ext cx="6744928" cy="646331"/>
          </a:xfrm>
          <a:prstGeom prst="rect">
            <a:avLst/>
          </a:prstGeom>
          <a:noFill/>
        </p:spPr>
        <p:txBody>
          <a:bodyPr wrap="square" rtlCol="0">
            <a:spAutoFit/>
          </a:bodyPr>
          <a:lstStyle/>
          <a:p>
            <a:r>
              <a:rPr lang="en-US" dirty="0">
                <a:latin typeface="Calibri"/>
              </a:rPr>
              <a:t>Part 1 : Sentiment and two shocks : Variables and construction </a:t>
            </a:r>
          </a:p>
          <a:p>
            <a:endParaRPr lang="en-US" dirty="0"/>
          </a:p>
        </p:txBody>
      </p:sp>
      <p:sp>
        <p:nvSpPr>
          <p:cNvPr id="5" name="Rectangle 4">
            <a:extLst>
              <a:ext uri="{FF2B5EF4-FFF2-40B4-BE49-F238E27FC236}">
                <a16:creationId xmlns:a16="http://schemas.microsoft.com/office/drawing/2014/main" id="{FD1ED92F-7CBF-271F-94F8-452A9C57CDCE}"/>
              </a:ext>
            </a:extLst>
          </p:cNvPr>
          <p:cNvSpPr/>
          <p:nvPr/>
        </p:nvSpPr>
        <p:spPr>
          <a:xfrm>
            <a:off x="98323" y="34451"/>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b="1" dirty="0">
                <a:solidFill>
                  <a:schemeClr val="bg1"/>
                </a:solidFill>
                <a:latin typeface="Calibri"/>
              </a:rPr>
              <a:t>Variables </a:t>
            </a:r>
          </a:p>
        </p:txBody>
      </p:sp>
    </p:spTree>
    <p:extLst>
      <p:ext uri="{BB962C8B-B14F-4D97-AF65-F5344CB8AC3E}">
        <p14:creationId xmlns:p14="http://schemas.microsoft.com/office/powerpoint/2010/main" val="10538329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93CE50DD-94E3-6598-4165-D71522FF8B32}"/>
              </a:ext>
            </a:extLst>
          </p:cNvPr>
          <p:cNvGraphicFramePr>
            <a:graphicFrameLocks noGrp="1"/>
          </p:cNvGraphicFramePr>
          <p:nvPr>
            <p:extLst>
              <p:ext uri="{D42A27DB-BD31-4B8C-83A1-F6EECF244321}">
                <p14:modId xmlns:p14="http://schemas.microsoft.com/office/powerpoint/2010/main" val="3702734303"/>
              </p:ext>
            </p:extLst>
          </p:nvPr>
        </p:nvGraphicFramePr>
        <p:xfrm>
          <a:off x="1892154" y="1555854"/>
          <a:ext cx="8105288" cy="5259875"/>
        </p:xfrm>
        <a:graphic>
          <a:graphicData uri="http://schemas.openxmlformats.org/drawingml/2006/table">
            <a:tbl>
              <a:tblPr>
                <a:tableStyleId>{5C22544A-7EE6-4342-B048-85BDC9FD1C3A}</a:tableStyleId>
              </a:tblPr>
              <a:tblGrid>
                <a:gridCol w="2026322">
                  <a:extLst>
                    <a:ext uri="{9D8B030D-6E8A-4147-A177-3AD203B41FA5}">
                      <a16:colId xmlns:a16="http://schemas.microsoft.com/office/drawing/2014/main" val="1727925894"/>
                    </a:ext>
                  </a:extLst>
                </a:gridCol>
                <a:gridCol w="2026322">
                  <a:extLst>
                    <a:ext uri="{9D8B030D-6E8A-4147-A177-3AD203B41FA5}">
                      <a16:colId xmlns:a16="http://schemas.microsoft.com/office/drawing/2014/main" val="1521866744"/>
                    </a:ext>
                  </a:extLst>
                </a:gridCol>
                <a:gridCol w="2026322">
                  <a:extLst>
                    <a:ext uri="{9D8B030D-6E8A-4147-A177-3AD203B41FA5}">
                      <a16:colId xmlns:a16="http://schemas.microsoft.com/office/drawing/2014/main" val="2765474145"/>
                    </a:ext>
                  </a:extLst>
                </a:gridCol>
                <a:gridCol w="2026322">
                  <a:extLst>
                    <a:ext uri="{9D8B030D-6E8A-4147-A177-3AD203B41FA5}">
                      <a16:colId xmlns:a16="http://schemas.microsoft.com/office/drawing/2014/main" val="762911772"/>
                    </a:ext>
                  </a:extLst>
                </a:gridCol>
              </a:tblGrid>
              <a:tr h="416865">
                <a:tc>
                  <a:txBody>
                    <a:bodyPr/>
                    <a:lstStyle/>
                    <a:p>
                      <a:pPr>
                        <a:buNone/>
                      </a:pPr>
                      <a:r>
                        <a:rPr lang="en-US" sz="1400">
                          <a:latin typeface="Calibri"/>
                        </a:rPr>
                        <a:t>#</a:t>
                      </a:r>
                    </a:p>
                  </a:txBody>
                  <a:tcPr marL="59552" marR="59552" marT="29776" marB="29776" anchor="ctr"/>
                </a:tc>
                <a:tc>
                  <a:txBody>
                    <a:bodyPr/>
                    <a:lstStyle/>
                    <a:p>
                      <a:pPr>
                        <a:buNone/>
                      </a:pPr>
                      <a:r>
                        <a:rPr lang="en-US" sz="1400">
                          <a:latin typeface="Calibri"/>
                        </a:rPr>
                        <a:t>Variable</a:t>
                      </a:r>
                    </a:p>
                  </a:txBody>
                  <a:tcPr marL="59552" marR="59552" marT="29776" marB="29776" anchor="ctr"/>
                </a:tc>
                <a:tc>
                  <a:txBody>
                    <a:bodyPr/>
                    <a:lstStyle/>
                    <a:p>
                      <a:pPr>
                        <a:buNone/>
                      </a:pPr>
                      <a:r>
                        <a:rPr lang="en-US" sz="1400">
                          <a:latin typeface="Calibri"/>
                        </a:rPr>
                        <a:t>Role</a:t>
                      </a:r>
                    </a:p>
                  </a:txBody>
                  <a:tcPr marL="59552" marR="59552" marT="29776" marB="29776" anchor="ctr"/>
                </a:tc>
                <a:tc>
                  <a:txBody>
                    <a:bodyPr/>
                    <a:lstStyle/>
                    <a:p>
                      <a:pPr>
                        <a:buNone/>
                      </a:pPr>
                      <a:r>
                        <a:rPr lang="en-US" sz="1400">
                          <a:latin typeface="Calibri"/>
                        </a:rPr>
                        <a:t>Source / construction</a:t>
                      </a:r>
                    </a:p>
                  </a:txBody>
                  <a:tcPr marL="59552" marR="59552" marT="29776" marB="29776" anchor="ctr"/>
                </a:tc>
                <a:extLst>
                  <a:ext uri="{0D108BD9-81ED-4DB2-BD59-A6C34878D82A}">
                    <a16:rowId xmlns:a16="http://schemas.microsoft.com/office/drawing/2014/main" val="4060406189"/>
                  </a:ext>
                </a:extLst>
              </a:tr>
              <a:tr h="416865">
                <a:tc>
                  <a:txBody>
                    <a:bodyPr/>
                    <a:lstStyle/>
                    <a:p>
                      <a:pPr>
                        <a:buNone/>
                      </a:pPr>
                      <a:r>
                        <a:rPr lang="en-US" sz="1400" dirty="0">
                          <a:latin typeface="Calibri"/>
                        </a:rPr>
                        <a:t>1</a:t>
                      </a:r>
                    </a:p>
                  </a:txBody>
                  <a:tcPr marL="59552" marR="59552" marT="29776" marB="29776" anchor="ctr"/>
                </a:tc>
                <a:tc>
                  <a:txBody>
                    <a:bodyPr/>
                    <a:lstStyle/>
                    <a:p>
                      <a:pPr>
                        <a:buNone/>
                      </a:pPr>
                      <a:r>
                        <a:rPr lang="en-US" sz="1400">
                          <a:latin typeface="Calibri"/>
                        </a:rPr>
                        <a:t>MP shock</a:t>
                      </a:r>
                    </a:p>
                  </a:txBody>
                  <a:tcPr marL="59552" marR="59552" marT="29776" marB="29776" anchor="ctr"/>
                </a:tc>
                <a:tc>
                  <a:txBody>
                    <a:bodyPr/>
                    <a:lstStyle/>
                    <a:p>
                      <a:pPr>
                        <a:buNone/>
                      </a:pPr>
                      <a:r>
                        <a:rPr lang="en-US" sz="1400">
                          <a:latin typeface="Calibri"/>
                        </a:rPr>
                        <a:t>X</a:t>
                      </a:r>
                    </a:p>
                  </a:txBody>
                  <a:tcPr marL="59552" marR="59552" marT="29776" marB="29776" anchor="ctr"/>
                </a:tc>
                <a:tc>
                  <a:txBody>
                    <a:bodyPr/>
                    <a:lstStyle/>
                    <a:p>
                      <a:pPr>
                        <a:buNone/>
                      </a:pPr>
                      <a:r>
                        <a:rPr lang="en-US" sz="1400">
                          <a:latin typeface="Calibri"/>
                        </a:rPr>
                        <a:t>Jarociński (2024) official index — market-based sign restriction</a:t>
                      </a:r>
                    </a:p>
                  </a:txBody>
                  <a:tcPr marL="59552" marR="59552" marT="29776" marB="29776" anchor="ctr"/>
                </a:tc>
                <a:extLst>
                  <a:ext uri="{0D108BD9-81ED-4DB2-BD59-A6C34878D82A}">
                    <a16:rowId xmlns:a16="http://schemas.microsoft.com/office/drawing/2014/main" val="2070648422"/>
                  </a:ext>
                </a:extLst>
              </a:tr>
              <a:tr h="595521">
                <a:tc>
                  <a:txBody>
                    <a:bodyPr/>
                    <a:lstStyle/>
                    <a:p>
                      <a:pPr>
                        <a:buNone/>
                      </a:pPr>
                      <a:r>
                        <a:rPr lang="en-US" sz="1400" dirty="0">
                          <a:latin typeface="Calibri"/>
                        </a:rPr>
                        <a:t>2</a:t>
                      </a:r>
                    </a:p>
                  </a:txBody>
                  <a:tcPr marL="59552" marR="59552" marT="29776" marB="29776" anchor="ctr"/>
                </a:tc>
                <a:tc>
                  <a:txBody>
                    <a:bodyPr/>
                    <a:lstStyle/>
                    <a:p>
                      <a:pPr>
                        <a:buNone/>
                      </a:pPr>
                      <a:r>
                        <a:rPr lang="en-US" sz="1400">
                          <a:latin typeface="Calibri"/>
                        </a:rPr>
                        <a:t>CBI shock</a:t>
                      </a:r>
                    </a:p>
                  </a:txBody>
                  <a:tcPr marL="59552" marR="59552" marT="29776" marB="29776" anchor="ctr"/>
                </a:tc>
                <a:tc>
                  <a:txBody>
                    <a:bodyPr/>
                    <a:lstStyle/>
                    <a:p>
                      <a:pPr>
                        <a:buNone/>
                      </a:pPr>
                      <a:r>
                        <a:rPr lang="en-US" sz="1400">
                          <a:latin typeface="Calibri"/>
                        </a:rPr>
                        <a:t>X</a:t>
                      </a:r>
                    </a:p>
                  </a:txBody>
                  <a:tcPr marL="59552" marR="59552" marT="29776" marB="29776" anchor="ctr"/>
                </a:tc>
                <a:tc>
                  <a:txBody>
                    <a:bodyPr/>
                    <a:lstStyle/>
                    <a:p>
                      <a:pPr>
                        <a:buNone/>
                      </a:pPr>
                      <a:r>
                        <a:rPr lang="en-US" sz="1400">
                          <a:latin typeface="Calibri"/>
                        </a:rPr>
                        <a:t>Jarociński (2024) official index — market-based sign restriction</a:t>
                      </a:r>
                    </a:p>
                  </a:txBody>
                  <a:tcPr marL="59552" marR="59552" marT="29776" marB="29776" anchor="ctr"/>
                </a:tc>
                <a:extLst>
                  <a:ext uri="{0D108BD9-81ED-4DB2-BD59-A6C34878D82A}">
                    <a16:rowId xmlns:a16="http://schemas.microsoft.com/office/drawing/2014/main" val="974856515"/>
                  </a:ext>
                </a:extLst>
              </a:tr>
              <a:tr h="416865">
                <a:tc>
                  <a:txBody>
                    <a:bodyPr/>
                    <a:lstStyle/>
                    <a:p>
                      <a:pPr>
                        <a:buNone/>
                      </a:pPr>
                      <a:r>
                        <a:rPr lang="en-US" sz="1400" dirty="0">
                          <a:latin typeface="Calibri"/>
                        </a:rPr>
                        <a:t>3</a:t>
                      </a:r>
                    </a:p>
                  </a:txBody>
                  <a:tcPr marL="59552" marR="59552" marT="29776" marB="29776" anchor="ctr"/>
                </a:tc>
                <a:tc>
                  <a:txBody>
                    <a:bodyPr/>
                    <a:lstStyle/>
                    <a:p>
                      <a:pPr>
                        <a:buNone/>
                      </a:pPr>
                      <a:r>
                        <a:rPr lang="en-US" sz="1400" dirty="0">
                          <a:latin typeface="Calibri"/>
                        </a:rPr>
                        <a:t>Mutual-fund flow</a:t>
                      </a:r>
                    </a:p>
                  </a:txBody>
                  <a:tcPr marL="59552" marR="59552" marT="29776" marB="29776" anchor="ctr"/>
                </a:tc>
                <a:tc>
                  <a:txBody>
                    <a:bodyPr/>
                    <a:lstStyle/>
                    <a:p>
                      <a:pPr>
                        <a:buNone/>
                      </a:pPr>
                      <a:r>
                        <a:rPr lang="en-US" sz="1400">
                          <a:latin typeface="Calibri"/>
                        </a:rPr>
                        <a:t>Y</a:t>
                      </a:r>
                    </a:p>
                  </a:txBody>
                  <a:tcPr marL="59552" marR="59552" marT="29776" marB="29776" anchor="ctr"/>
                </a:tc>
                <a:tc>
                  <a:txBody>
                    <a:bodyPr/>
                    <a:lstStyle/>
                    <a:p>
                      <a:pPr>
                        <a:buNone/>
                      </a:pPr>
                      <a:r>
                        <a:rPr lang="en-US" sz="1400">
                          <a:latin typeface="Calibri"/>
                        </a:rPr>
                        <a:t>Calculated from CRSP fund data</a:t>
                      </a:r>
                    </a:p>
                  </a:txBody>
                  <a:tcPr marL="59552" marR="59552" marT="29776" marB="29776" anchor="ctr"/>
                </a:tc>
                <a:extLst>
                  <a:ext uri="{0D108BD9-81ED-4DB2-BD59-A6C34878D82A}">
                    <a16:rowId xmlns:a16="http://schemas.microsoft.com/office/drawing/2014/main" val="3522537056"/>
                  </a:ext>
                </a:extLst>
              </a:tr>
              <a:tr h="416865">
                <a:tc>
                  <a:txBody>
                    <a:bodyPr/>
                    <a:lstStyle/>
                    <a:p>
                      <a:pPr>
                        <a:buNone/>
                      </a:pPr>
                      <a:r>
                        <a:rPr lang="en-US" sz="1400">
                          <a:latin typeface="Calibri"/>
                        </a:rPr>
                        <a:t>4</a:t>
                      </a:r>
                    </a:p>
                  </a:txBody>
                  <a:tcPr marL="59552" marR="59552" marT="29776" marB="29776" anchor="ctr"/>
                </a:tc>
                <a:tc>
                  <a:txBody>
                    <a:bodyPr/>
                    <a:lstStyle/>
                    <a:p>
                      <a:pPr>
                        <a:buNone/>
                      </a:pPr>
                      <a:r>
                        <a:rPr lang="en-US" sz="1400">
                          <a:latin typeface="Calibri"/>
                        </a:rPr>
                        <a:t>Asset-class risk rank</a:t>
                      </a:r>
                    </a:p>
                  </a:txBody>
                  <a:tcPr marL="59552" marR="59552" marT="29776" marB="29776" anchor="ctr"/>
                </a:tc>
                <a:tc>
                  <a:txBody>
                    <a:bodyPr/>
                    <a:lstStyle/>
                    <a:p>
                      <a:pPr>
                        <a:buNone/>
                      </a:pPr>
                      <a:r>
                        <a:rPr lang="en-US" sz="1400">
                          <a:latin typeface="Calibri"/>
                        </a:rPr>
                        <a:t>X</a:t>
                      </a:r>
                    </a:p>
                  </a:txBody>
                  <a:tcPr marL="59552" marR="59552" marT="29776" marB="29776" anchor="ctr"/>
                </a:tc>
                <a:tc>
                  <a:txBody>
                    <a:bodyPr/>
                    <a:lstStyle/>
                    <a:p>
                      <a:pPr>
                        <a:buNone/>
                      </a:pPr>
                      <a:r>
                        <a:rPr lang="en-US" sz="1400" dirty="0">
                          <a:latin typeface="Calibri"/>
                        </a:rPr>
                        <a:t>1–7 classification</a:t>
                      </a:r>
                    </a:p>
                  </a:txBody>
                  <a:tcPr marL="59552" marR="59552" marT="29776" marB="29776" anchor="ctr"/>
                </a:tc>
                <a:extLst>
                  <a:ext uri="{0D108BD9-81ED-4DB2-BD59-A6C34878D82A}">
                    <a16:rowId xmlns:a16="http://schemas.microsoft.com/office/drawing/2014/main" val="2939067501"/>
                  </a:ext>
                </a:extLst>
              </a:tr>
              <a:tr h="238209">
                <a:tc>
                  <a:txBody>
                    <a:bodyPr/>
                    <a:lstStyle/>
                    <a:p>
                      <a:pPr>
                        <a:buNone/>
                      </a:pPr>
                      <a:r>
                        <a:rPr lang="en-US" sz="1400">
                          <a:latin typeface="Calibri"/>
                        </a:rPr>
                        <a:t>5</a:t>
                      </a:r>
                    </a:p>
                  </a:txBody>
                  <a:tcPr marL="59552" marR="59552" marT="29776" marB="29776" anchor="ctr"/>
                </a:tc>
                <a:tc>
                  <a:txBody>
                    <a:bodyPr/>
                    <a:lstStyle/>
                    <a:p>
                      <a:pPr>
                        <a:buNone/>
                      </a:pPr>
                      <a:r>
                        <a:rPr lang="en-US" sz="1400">
                          <a:latin typeface="Calibri"/>
                        </a:rPr>
                        <a:t>Risk × MP</a:t>
                      </a:r>
                    </a:p>
                  </a:txBody>
                  <a:tcPr marL="59552" marR="59552" marT="29776" marB="29776" anchor="ctr"/>
                </a:tc>
                <a:tc>
                  <a:txBody>
                    <a:bodyPr/>
                    <a:lstStyle/>
                    <a:p>
                      <a:pPr>
                        <a:buNone/>
                      </a:pPr>
                      <a:r>
                        <a:rPr lang="en-US" sz="1400">
                          <a:latin typeface="Calibri"/>
                        </a:rPr>
                        <a:t>Interaction</a:t>
                      </a:r>
                    </a:p>
                  </a:txBody>
                  <a:tcPr marL="59552" marR="59552" marT="29776" marB="29776" anchor="ctr"/>
                </a:tc>
                <a:tc>
                  <a:txBody>
                    <a:bodyPr/>
                    <a:lstStyle/>
                    <a:p>
                      <a:pPr>
                        <a:buNone/>
                      </a:pPr>
                      <a:r>
                        <a:rPr lang="en-US" sz="1400" dirty="0">
                          <a:latin typeface="Calibri"/>
                        </a:rPr>
                        <a:t>construct</a:t>
                      </a:r>
                    </a:p>
                  </a:txBody>
                  <a:tcPr marL="59552" marR="59552" marT="29776" marB="29776" anchor="ctr"/>
                </a:tc>
                <a:extLst>
                  <a:ext uri="{0D108BD9-81ED-4DB2-BD59-A6C34878D82A}">
                    <a16:rowId xmlns:a16="http://schemas.microsoft.com/office/drawing/2014/main" val="2396383012"/>
                  </a:ext>
                </a:extLst>
              </a:tr>
              <a:tr h="238209">
                <a:tc>
                  <a:txBody>
                    <a:bodyPr/>
                    <a:lstStyle/>
                    <a:p>
                      <a:pPr>
                        <a:buNone/>
                      </a:pPr>
                      <a:r>
                        <a:rPr lang="en-US" sz="1400">
                          <a:latin typeface="Calibri"/>
                        </a:rPr>
                        <a:t>6</a:t>
                      </a:r>
                    </a:p>
                  </a:txBody>
                  <a:tcPr marL="59552" marR="59552" marT="29776" marB="29776" anchor="ctr"/>
                </a:tc>
                <a:tc>
                  <a:txBody>
                    <a:bodyPr/>
                    <a:lstStyle/>
                    <a:p>
                      <a:pPr>
                        <a:buNone/>
                      </a:pPr>
                      <a:r>
                        <a:rPr lang="en-US" sz="1400">
                          <a:latin typeface="Calibri"/>
                        </a:rPr>
                        <a:t>Risk × CBI</a:t>
                      </a:r>
                    </a:p>
                  </a:txBody>
                  <a:tcPr marL="59552" marR="59552" marT="29776" marB="29776" anchor="ctr"/>
                </a:tc>
                <a:tc>
                  <a:txBody>
                    <a:bodyPr/>
                    <a:lstStyle/>
                    <a:p>
                      <a:pPr>
                        <a:buNone/>
                      </a:pPr>
                      <a:r>
                        <a:rPr lang="en-US" sz="1400">
                          <a:latin typeface="Calibri"/>
                        </a:rPr>
                        <a:t>Interaction</a:t>
                      </a:r>
                    </a:p>
                  </a:txBody>
                  <a:tcPr marL="59552" marR="59552" marT="29776" marB="29776" anchor="ctr"/>
                </a:tc>
                <a:tc>
                  <a:txBody>
                    <a:bodyPr/>
                    <a:lstStyle/>
                    <a:p>
                      <a:pPr>
                        <a:buNone/>
                      </a:pPr>
                      <a:r>
                        <a:rPr lang="en-US" sz="1400" dirty="0">
                          <a:latin typeface="Calibri"/>
                        </a:rPr>
                        <a:t>construct</a:t>
                      </a:r>
                    </a:p>
                  </a:txBody>
                  <a:tcPr marL="59552" marR="59552" marT="29776" marB="29776" anchor="ctr"/>
                </a:tc>
                <a:extLst>
                  <a:ext uri="{0D108BD9-81ED-4DB2-BD59-A6C34878D82A}">
                    <a16:rowId xmlns:a16="http://schemas.microsoft.com/office/drawing/2014/main" val="1982158901"/>
                  </a:ext>
                </a:extLst>
              </a:tr>
              <a:tr h="238209">
                <a:tc>
                  <a:txBody>
                    <a:bodyPr/>
                    <a:lstStyle/>
                    <a:p>
                      <a:pPr>
                        <a:buNone/>
                      </a:pPr>
                      <a:r>
                        <a:rPr lang="en-US" sz="1400">
                          <a:latin typeface="Calibri"/>
                        </a:rPr>
                        <a:t>7</a:t>
                      </a:r>
                    </a:p>
                  </a:txBody>
                  <a:tcPr marL="59552" marR="59552" marT="29776" marB="29776" anchor="ctr"/>
                </a:tc>
                <a:tc>
                  <a:txBody>
                    <a:bodyPr/>
                    <a:lstStyle/>
                    <a:p>
                      <a:pPr>
                        <a:buNone/>
                      </a:pPr>
                      <a:r>
                        <a:rPr lang="en-US" sz="1400">
                          <a:latin typeface="Calibri"/>
                        </a:rPr>
                        <a:t>Fund size / log TNA</a:t>
                      </a:r>
                    </a:p>
                  </a:txBody>
                  <a:tcPr marL="59552" marR="59552" marT="29776" marB="29776" anchor="ctr"/>
                </a:tc>
                <a:tc>
                  <a:txBody>
                    <a:bodyPr/>
                    <a:lstStyle/>
                    <a:p>
                      <a:pPr>
                        <a:buNone/>
                      </a:pPr>
                      <a:r>
                        <a:rPr lang="en-US" sz="1400">
                          <a:latin typeface="Calibri"/>
                        </a:rPr>
                        <a:t>Control</a:t>
                      </a:r>
                    </a:p>
                  </a:txBody>
                  <a:tcPr marL="59552" marR="59552" marT="29776" marB="29776" anchor="ctr"/>
                </a:tc>
                <a:tc>
                  <a:txBody>
                    <a:bodyPr/>
                    <a:lstStyle/>
                    <a:p>
                      <a:pPr>
                        <a:buNone/>
                      </a:pPr>
                      <a:r>
                        <a:rPr lang="en-US" sz="1400">
                          <a:latin typeface="Calibri"/>
                        </a:rPr>
                        <a:t>CRSP</a:t>
                      </a:r>
                    </a:p>
                  </a:txBody>
                  <a:tcPr marL="59552" marR="59552" marT="29776" marB="29776" anchor="ctr"/>
                </a:tc>
                <a:extLst>
                  <a:ext uri="{0D108BD9-81ED-4DB2-BD59-A6C34878D82A}">
                    <a16:rowId xmlns:a16="http://schemas.microsoft.com/office/drawing/2014/main" val="1995666801"/>
                  </a:ext>
                </a:extLst>
              </a:tr>
              <a:tr h="416865">
                <a:tc>
                  <a:txBody>
                    <a:bodyPr/>
                    <a:lstStyle/>
                    <a:p>
                      <a:pPr>
                        <a:buNone/>
                      </a:pPr>
                      <a:r>
                        <a:rPr lang="en-US" sz="1400">
                          <a:latin typeface="Calibri"/>
                        </a:rPr>
                        <a:t>8</a:t>
                      </a:r>
                    </a:p>
                  </a:txBody>
                  <a:tcPr marL="59552" marR="59552" marT="29776" marB="29776" anchor="ctr"/>
                </a:tc>
                <a:tc>
                  <a:txBody>
                    <a:bodyPr/>
                    <a:lstStyle/>
                    <a:p>
                      <a:pPr>
                        <a:buNone/>
                      </a:pPr>
                      <a:r>
                        <a:rPr lang="en-US" sz="1400">
                          <a:latin typeface="Calibri"/>
                        </a:rPr>
                        <a:t>Flow volatility</a:t>
                      </a:r>
                    </a:p>
                  </a:txBody>
                  <a:tcPr marL="59552" marR="59552" marT="29776" marB="29776" anchor="ctr"/>
                </a:tc>
                <a:tc>
                  <a:txBody>
                    <a:bodyPr/>
                    <a:lstStyle/>
                    <a:p>
                      <a:pPr>
                        <a:buNone/>
                      </a:pPr>
                      <a:r>
                        <a:rPr lang="en-US" sz="1400">
                          <a:latin typeface="Calibri"/>
                        </a:rPr>
                        <a:t>Control</a:t>
                      </a:r>
                    </a:p>
                  </a:txBody>
                  <a:tcPr marL="59552" marR="59552" marT="29776" marB="29776" anchor="ctr"/>
                </a:tc>
                <a:tc>
                  <a:txBody>
                    <a:bodyPr/>
                    <a:lstStyle/>
                    <a:p>
                      <a:pPr>
                        <a:buNone/>
                      </a:pPr>
                      <a:r>
                        <a:rPr lang="en-US" sz="1400">
                          <a:latin typeface="Calibri"/>
                        </a:rPr>
                        <a:t>Constructed from prior flows</a:t>
                      </a:r>
                    </a:p>
                  </a:txBody>
                  <a:tcPr marL="59552" marR="59552" marT="29776" marB="29776" anchor="ctr"/>
                </a:tc>
                <a:extLst>
                  <a:ext uri="{0D108BD9-81ED-4DB2-BD59-A6C34878D82A}">
                    <a16:rowId xmlns:a16="http://schemas.microsoft.com/office/drawing/2014/main" val="749830735"/>
                  </a:ext>
                </a:extLst>
              </a:tr>
              <a:tr h="238209">
                <a:tc>
                  <a:txBody>
                    <a:bodyPr/>
                    <a:lstStyle/>
                    <a:p>
                      <a:pPr>
                        <a:buNone/>
                      </a:pPr>
                      <a:r>
                        <a:rPr lang="en-US" sz="1400">
                          <a:latin typeface="Calibri"/>
                        </a:rPr>
                        <a:t>9</a:t>
                      </a:r>
                    </a:p>
                  </a:txBody>
                  <a:tcPr marL="59552" marR="59552" marT="29776" marB="29776" anchor="ctr"/>
                </a:tc>
                <a:tc>
                  <a:txBody>
                    <a:bodyPr/>
                    <a:lstStyle/>
                    <a:p>
                      <a:pPr>
                        <a:buNone/>
                      </a:pPr>
                      <a:r>
                        <a:rPr lang="en-US" sz="1400">
                          <a:latin typeface="Calibri"/>
                        </a:rPr>
                        <a:t>Lagged return</a:t>
                      </a:r>
                    </a:p>
                  </a:txBody>
                  <a:tcPr marL="59552" marR="59552" marT="29776" marB="29776" anchor="ctr"/>
                </a:tc>
                <a:tc>
                  <a:txBody>
                    <a:bodyPr/>
                    <a:lstStyle/>
                    <a:p>
                      <a:pPr>
                        <a:buNone/>
                      </a:pPr>
                      <a:r>
                        <a:rPr lang="en-US" sz="1400" dirty="0">
                          <a:latin typeface="Calibri"/>
                        </a:rPr>
                        <a:t>Control</a:t>
                      </a:r>
                    </a:p>
                  </a:txBody>
                  <a:tcPr marL="59552" marR="59552" marT="29776" marB="29776" anchor="ctr"/>
                </a:tc>
                <a:tc>
                  <a:txBody>
                    <a:bodyPr/>
                    <a:lstStyle/>
                    <a:p>
                      <a:pPr>
                        <a:buNone/>
                      </a:pPr>
                      <a:r>
                        <a:rPr lang="en-US" sz="1400">
                          <a:latin typeface="Calibri"/>
                        </a:rPr>
                        <a:t>CRSP</a:t>
                      </a:r>
                    </a:p>
                  </a:txBody>
                  <a:tcPr marL="59552" marR="59552" marT="29776" marB="29776" anchor="ctr"/>
                </a:tc>
                <a:extLst>
                  <a:ext uri="{0D108BD9-81ED-4DB2-BD59-A6C34878D82A}">
                    <a16:rowId xmlns:a16="http://schemas.microsoft.com/office/drawing/2014/main" val="1355895289"/>
                  </a:ext>
                </a:extLst>
              </a:tr>
              <a:tr h="238209">
                <a:tc>
                  <a:txBody>
                    <a:bodyPr/>
                    <a:lstStyle/>
                    <a:p>
                      <a:pPr>
                        <a:buNone/>
                      </a:pPr>
                      <a:r>
                        <a:rPr lang="en-US" sz="1400">
                          <a:latin typeface="Calibri"/>
                        </a:rPr>
                        <a:t>10</a:t>
                      </a:r>
                    </a:p>
                  </a:txBody>
                  <a:tcPr marL="59552" marR="59552" marT="29776" marB="29776" anchor="ctr"/>
                </a:tc>
                <a:tc>
                  <a:txBody>
                    <a:bodyPr/>
                    <a:lstStyle/>
                    <a:p>
                      <a:pPr>
                        <a:buNone/>
                      </a:pPr>
                      <a:r>
                        <a:rPr lang="en-US" sz="1400">
                          <a:latin typeface="Calibri"/>
                        </a:rPr>
                        <a:t>Expense ratio</a:t>
                      </a:r>
                    </a:p>
                  </a:txBody>
                  <a:tcPr marL="59552" marR="59552" marT="29776" marB="29776" anchor="ctr"/>
                </a:tc>
                <a:tc>
                  <a:txBody>
                    <a:bodyPr/>
                    <a:lstStyle/>
                    <a:p>
                      <a:pPr>
                        <a:buNone/>
                      </a:pPr>
                      <a:r>
                        <a:rPr lang="en-US" sz="1400">
                          <a:latin typeface="Calibri"/>
                        </a:rPr>
                        <a:t>Control</a:t>
                      </a:r>
                    </a:p>
                  </a:txBody>
                  <a:tcPr marL="59552" marR="59552" marT="29776" marB="29776" anchor="ctr"/>
                </a:tc>
                <a:tc>
                  <a:txBody>
                    <a:bodyPr/>
                    <a:lstStyle/>
                    <a:p>
                      <a:pPr>
                        <a:buNone/>
                      </a:pPr>
                      <a:r>
                        <a:rPr lang="en-US" sz="1400">
                          <a:latin typeface="Calibri"/>
                        </a:rPr>
                        <a:t>CRSP</a:t>
                      </a:r>
                    </a:p>
                  </a:txBody>
                  <a:tcPr marL="59552" marR="59552" marT="29776" marB="29776" anchor="ctr"/>
                </a:tc>
                <a:extLst>
                  <a:ext uri="{0D108BD9-81ED-4DB2-BD59-A6C34878D82A}">
                    <a16:rowId xmlns:a16="http://schemas.microsoft.com/office/drawing/2014/main" val="2841231966"/>
                  </a:ext>
                </a:extLst>
              </a:tr>
              <a:tr h="416865">
                <a:tc>
                  <a:txBody>
                    <a:bodyPr/>
                    <a:lstStyle/>
                    <a:p>
                      <a:pPr>
                        <a:buNone/>
                      </a:pPr>
                      <a:r>
                        <a:rPr lang="en-US" sz="1400">
                          <a:latin typeface="Calibri"/>
                        </a:rPr>
                        <a:t>11</a:t>
                      </a:r>
                    </a:p>
                  </a:txBody>
                  <a:tcPr marL="59552" marR="59552" marT="29776" marB="29776" anchor="ctr"/>
                </a:tc>
                <a:tc>
                  <a:txBody>
                    <a:bodyPr/>
                    <a:lstStyle/>
                    <a:p>
                      <a:pPr>
                        <a:buNone/>
                      </a:pPr>
                      <a:r>
                        <a:rPr lang="en-US" sz="1400">
                          <a:latin typeface="Calibri"/>
                        </a:rPr>
                        <a:t>ZLB indicator</a:t>
                      </a:r>
                    </a:p>
                  </a:txBody>
                  <a:tcPr marL="59552" marR="59552" marT="29776" marB="29776" anchor="ctr"/>
                </a:tc>
                <a:tc>
                  <a:txBody>
                    <a:bodyPr/>
                    <a:lstStyle/>
                    <a:p>
                      <a:pPr>
                        <a:buNone/>
                      </a:pPr>
                      <a:r>
                        <a:rPr lang="en-US" sz="1400">
                          <a:latin typeface="Calibri"/>
                        </a:rPr>
                        <a:t>Moderator</a:t>
                      </a:r>
                    </a:p>
                  </a:txBody>
                  <a:tcPr marL="59552" marR="59552" marT="29776" marB="29776" anchor="ctr"/>
                </a:tc>
                <a:tc>
                  <a:txBody>
                    <a:bodyPr/>
                    <a:lstStyle/>
                    <a:p>
                      <a:pPr>
                        <a:buNone/>
                      </a:pPr>
                      <a:r>
                        <a:rPr lang="en-US" sz="1400">
                          <a:latin typeface="Calibri"/>
                        </a:rPr>
                        <a:t>Policy-regime indicator</a:t>
                      </a:r>
                    </a:p>
                  </a:txBody>
                  <a:tcPr marL="59552" marR="59552" marT="29776" marB="29776" anchor="ctr"/>
                </a:tc>
                <a:extLst>
                  <a:ext uri="{0D108BD9-81ED-4DB2-BD59-A6C34878D82A}">
                    <a16:rowId xmlns:a16="http://schemas.microsoft.com/office/drawing/2014/main" val="2512947952"/>
                  </a:ext>
                </a:extLst>
              </a:tr>
              <a:tr h="238209">
                <a:tc>
                  <a:txBody>
                    <a:bodyPr/>
                    <a:lstStyle/>
                    <a:p>
                      <a:pPr>
                        <a:buNone/>
                      </a:pPr>
                      <a:r>
                        <a:rPr lang="en-US" sz="1400">
                          <a:latin typeface="Calibri"/>
                        </a:rPr>
                        <a:t>12</a:t>
                      </a:r>
                    </a:p>
                  </a:txBody>
                  <a:tcPr marL="59552" marR="59552" marT="29776" marB="29776" anchor="ctr"/>
                </a:tc>
                <a:tc>
                  <a:txBody>
                    <a:bodyPr/>
                    <a:lstStyle/>
                    <a:p>
                      <a:pPr>
                        <a:buNone/>
                      </a:pPr>
                      <a:r>
                        <a:rPr lang="en-US" sz="1400">
                          <a:latin typeface="Calibri"/>
                        </a:rPr>
                        <a:t>MP × ZLB</a:t>
                      </a:r>
                    </a:p>
                  </a:txBody>
                  <a:tcPr marL="59552" marR="59552" marT="29776" marB="29776" anchor="ctr"/>
                </a:tc>
                <a:tc>
                  <a:txBody>
                    <a:bodyPr/>
                    <a:lstStyle/>
                    <a:p>
                      <a:pPr>
                        <a:buNone/>
                      </a:pPr>
                      <a:r>
                        <a:rPr lang="en-US" sz="1400">
                          <a:latin typeface="Calibri"/>
                        </a:rPr>
                        <a:t>Interaction</a:t>
                      </a:r>
                    </a:p>
                  </a:txBody>
                  <a:tcPr marL="59552" marR="59552" marT="29776" marB="29776" anchor="ctr"/>
                </a:tc>
                <a:tc>
                  <a:txBody>
                    <a:bodyPr/>
                    <a:lstStyle/>
                    <a:p>
                      <a:pPr>
                        <a:buNone/>
                      </a:pPr>
                      <a:r>
                        <a:rPr lang="en-US" sz="1400" dirty="0">
                          <a:latin typeface="Calibri"/>
                        </a:rPr>
                        <a:t> construct</a:t>
                      </a:r>
                    </a:p>
                  </a:txBody>
                  <a:tcPr marL="59552" marR="59552" marT="29776" marB="29776" anchor="ctr"/>
                </a:tc>
                <a:extLst>
                  <a:ext uri="{0D108BD9-81ED-4DB2-BD59-A6C34878D82A}">
                    <a16:rowId xmlns:a16="http://schemas.microsoft.com/office/drawing/2014/main" val="1237799237"/>
                  </a:ext>
                </a:extLst>
              </a:tr>
            </a:tbl>
          </a:graphicData>
        </a:graphic>
      </p:graphicFrame>
      <p:sp>
        <p:nvSpPr>
          <p:cNvPr id="4" name="TextBox 3">
            <a:extLst>
              <a:ext uri="{FF2B5EF4-FFF2-40B4-BE49-F238E27FC236}">
                <a16:creationId xmlns:a16="http://schemas.microsoft.com/office/drawing/2014/main" id="{EAA87C11-CCBA-BB96-4940-BBE7B3967B6A}"/>
              </a:ext>
            </a:extLst>
          </p:cNvPr>
          <p:cNvSpPr txBox="1"/>
          <p:nvPr/>
        </p:nvSpPr>
        <p:spPr>
          <a:xfrm>
            <a:off x="2905432" y="648929"/>
            <a:ext cx="5619136" cy="369332"/>
          </a:xfrm>
          <a:prstGeom prst="rect">
            <a:avLst/>
          </a:prstGeom>
          <a:noFill/>
        </p:spPr>
        <p:txBody>
          <a:bodyPr wrap="square" rtlCol="0">
            <a:spAutoFit/>
          </a:bodyPr>
          <a:lstStyle/>
          <a:p>
            <a:r>
              <a:rPr lang="en-US" dirty="0">
                <a:latin typeface="Calibri"/>
              </a:rPr>
              <a:t>Part 2: Portfolio allocation: Variables and construction </a:t>
            </a:r>
          </a:p>
        </p:txBody>
      </p:sp>
      <p:sp>
        <p:nvSpPr>
          <p:cNvPr id="5" name="Rectangle 4">
            <a:extLst>
              <a:ext uri="{FF2B5EF4-FFF2-40B4-BE49-F238E27FC236}">
                <a16:creationId xmlns:a16="http://schemas.microsoft.com/office/drawing/2014/main" id="{047C3EE5-89CA-C742-D579-E73F2271F129}"/>
              </a:ext>
            </a:extLst>
          </p:cNvPr>
          <p:cNvSpPr/>
          <p:nvPr/>
        </p:nvSpPr>
        <p:spPr>
          <a:xfrm>
            <a:off x="98323" y="34451"/>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b="1" dirty="0">
                <a:solidFill>
                  <a:schemeClr val="bg1"/>
                </a:solidFill>
                <a:latin typeface="Calibri"/>
              </a:rPr>
              <a:t>Variables </a:t>
            </a:r>
          </a:p>
        </p:txBody>
      </p:sp>
    </p:spTree>
    <p:extLst>
      <p:ext uri="{BB962C8B-B14F-4D97-AF65-F5344CB8AC3E}">
        <p14:creationId xmlns:p14="http://schemas.microsoft.com/office/powerpoint/2010/main" val="32080259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5E859F53-4A9E-3E6B-9182-659AFF4114AF}"/>
              </a:ext>
            </a:extLst>
          </p:cNvPr>
          <p:cNvGraphicFramePr>
            <a:graphicFrameLocks noGrp="1"/>
          </p:cNvGraphicFramePr>
          <p:nvPr>
            <p:extLst>
              <p:ext uri="{D42A27DB-BD31-4B8C-83A1-F6EECF244321}">
                <p14:modId xmlns:p14="http://schemas.microsoft.com/office/powerpoint/2010/main" val="2302625651"/>
              </p:ext>
            </p:extLst>
          </p:nvPr>
        </p:nvGraphicFramePr>
        <p:xfrm>
          <a:off x="1465006" y="884903"/>
          <a:ext cx="9832259" cy="5578123"/>
        </p:xfrm>
        <a:graphic>
          <a:graphicData uri="http://schemas.openxmlformats.org/drawingml/2006/table">
            <a:tbl>
              <a:tblPr>
                <a:tableStyleId>{5C22544A-7EE6-4342-B048-85BDC9FD1C3A}</a:tableStyleId>
              </a:tblPr>
              <a:tblGrid>
                <a:gridCol w="2428568">
                  <a:extLst>
                    <a:ext uri="{9D8B030D-6E8A-4147-A177-3AD203B41FA5}">
                      <a16:colId xmlns:a16="http://schemas.microsoft.com/office/drawing/2014/main" val="2260736989"/>
                    </a:ext>
                  </a:extLst>
                </a:gridCol>
                <a:gridCol w="2467897">
                  <a:extLst>
                    <a:ext uri="{9D8B030D-6E8A-4147-A177-3AD203B41FA5}">
                      <a16:colId xmlns:a16="http://schemas.microsoft.com/office/drawing/2014/main" val="580859518"/>
                    </a:ext>
                  </a:extLst>
                </a:gridCol>
                <a:gridCol w="2467897">
                  <a:extLst>
                    <a:ext uri="{9D8B030D-6E8A-4147-A177-3AD203B41FA5}">
                      <a16:colId xmlns:a16="http://schemas.microsoft.com/office/drawing/2014/main" val="1664330225"/>
                    </a:ext>
                  </a:extLst>
                </a:gridCol>
                <a:gridCol w="2467897">
                  <a:extLst>
                    <a:ext uri="{9D8B030D-6E8A-4147-A177-3AD203B41FA5}">
                      <a16:colId xmlns:a16="http://schemas.microsoft.com/office/drawing/2014/main" val="1859299399"/>
                    </a:ext>
                  </a:extLst>
                </a:gridCol>
              </a:tblGrid>
              <a:tr h="306267">
                <a:tc>
                  <a:txBody>
                    <a:bodyPr/>
                    <a:lstStyle/>
                    <a:p>
                      <a:pPr>
                        <a:buNone/>
                      </a:pPr>
                      <a:r>
                        <a:rPr lang="en-US" sz="1400" b="1" dirty="0">
                          <a:latin typeface="Calibri"/>
                        </a:rPr>
                        <a:t>Source</a:t>
                      </a:r>
                    </a:p>
                  </a:txBody>
                  <a:tcPr marL="37098" marR="37098" marT="18549" marB="18549" anchor="ctr"/>
                </a:tc>
                <a:tc>
                  <a:txBody>
                    <a:bodyPr/>
                    <a:lstStyle/>
                    <a:p>
                      <a:pPr>
                        <a:buNone/>
                      </a:pPr>
                      <a:r>
                        <a:rPr lang="en-US" sz="1400" b="1">
                          <a:latin typeface="Calibri"/>
                        </a:rPr>
                        <a:t>Raw data obtained</a:t>
                      </a:r>
                    </a:p>
                  </a:txBody>
                  <a:tcPr marL="37098" marR="37098" marT="18549" marB="18549" anchor="ctr"/>
                </a:tc>
                <a:tc>
                  <a:txBody>
                    <a:bodyPr/>
                    <a:lstStyle/>
                    <a:p>
                      <a:pPr>
                        <a:buNone/>
                      </a:pPr>
                      <a:r>
                        <a:rPr lang="en-US" sz="1400" b="1">
                          <a:latin typeface="Calibri"/>
                        </a:rPr>
                        <a:t>Variables used/constructed</a:t>
                      </a:r>
                    </a:p>
                  </a:txBody>
                  <a:tcPr marL="37098" marR="37098" marT="18549" marB="18549" anchor="ctr"/>
                </a:tc>
                <a:tc>
                  <a:txBody>
                    <a:bodyPr/>
                    <a:lstStyle/>
                    <a:p>
                      <a:pPr>
                        <a:buNone/>
                      </a:pPr>
                      <a:r>
                        <a:rPr lang="en-US" sz="1400" b="1" dirty="0">
                          <a:latin typeface="Calibri"/>
                        </a:rPr>
                        <a:t>Parts</a:t>
                      </a:r>
                    </a:p>
                  </a:txBody>
                  <a:tcPr marL="37098" marR="37098" marT="18549" marB="18549" anchor="ctr"/>
                </a:tc>
                <a:extLst>
                  <a:ext uri="{0D108BD9-81ED-4DB2-BD59-A6C34878D82A}">
                    <a16:rowId xmlns:a16="http://schemas.microsoft.com/office/drawing/2014/main" val="1566007125"/>
                  </a:ext>
                </a:extLst>
              </a:tr>
              <a:tr h="300390">
                <a:tc>
                  <a:txBody>
                    <a:bodyPr/>
                    <a:lstStyle/>
                    <a:p>
                      <a:pPr>
                        <a:buNone/>
                      </a:pPr>
                      <a:r>
                        <a:rPr lang="en-US" sz="1400" dirty="0">
                          <a:latin typeface="Calibri"/>
                        </a:rPr>
                        <a:t>Acosta (2022)</a:t>
                      </a:r>
                    </a:p>
                  </a:txBody>
                  <a:tcPr marL="37098" marR="37098" marT="18549" marB="18549" anchor="ctr"/>
                </a:tc>
                <a:tc>
                  <a:txBody>
                    <a:bodyPr/>
                    <a:lstStyle/>
                    <a:p>
                      <a:pPr>
                        <a:buNone/>
                      </a:pPr>
                      <a:r>
                        <a:rPr lang="en-US" sz="1400">
                          <a:latin typeface="Calibri"/>
                        </a:rPr>
                        <a:t>Extended GSS high-frequency surprises</a:t>
                      </a:r>
                    </a:p>
                  </a:txBody>
                  <a:tcPr marL="37098" marR="37098" marT="18549" marB="18549" anchor="ctr"/>
                </a:tc>
                <a:tc>
                  <a:txBody>
                    <a:bodyPr/>
                    <a:lstStyle/>
                    <a:p>
                      <a:pPr>
                        <a:buNone/>
                      </a:pPr>
                      <a:r>
                        <a:rPr lang="en-US" sz="1400">
                          <a:latin typeface="Calibri"/>
                        </a:rPr>
                        <a:t>Target, Path</a:t>
                      </a:r>
                    </a:p>
                  </a:txBody>
                  <a:tcPr marL="37098" marR="37098" marT="18549" marB="18549" anchor="ctr"/>
                </a:tc>
                <a:tc>
                  <a:txBody>
                    <a:bodyPr/>
                    <a:lstStyle/>
                    <a:p>
                      <a:pPr>
                        <a:buNone/>
                      </a:pPr>
                      <a:r>
                        <a:rPr lang="en-US" sz="1400" dirty="0">
                          <a:latin typeface="Calibri"/>
                        </a:rPr>
                        <a:t>1</a:t>
                      </a:r>
                    </a:p>
                  </a:txBody>
                  <a:tcPr marL="37098" marR="37098" marT="18549" marB="18549" anchor="ctr"/>
                </a:tc>
                <a:extLst>
                  <a:ext uri="{0D108BD9-81ED-4DB2-BD59-A6C34878D82A}">
                    <a16:rowId xmlns:a16="http://schemas.microsoft.com/office/drawing/2014/main" val="4082672297"/>
                  </a:ext>
                </a:extLst>
              </a:tr>
              <a:tr h="300390">
                <a:tc>
                  <a:txBody>
                    <a:bodyPr/>
                    <a:lstStyle/>
                    <a:p>
                      <a:pPr>
                        <a:buNone/>
                      </a:pPr>
                      <a:r>
                        <a:rPr lang="en-US" sz="1400" dirty="0">
                          <a:latin typeface="Calibri"/>
                        </a:rPr>
                        <a:t>Federal Reserve</a:t>
                      </a:r>
                    </a:p>
                  </a:txBody>
                  <a:tcPr marL="37098" marR="37098" marT="18549" marB="18549" anchor="ctr"/>
                </a:tc>
                <a:tc>
                  <a:txBody>
                    <a:bodyPr/>
                    <a:lstStyle/>
                    <a:p>
                      <a:pPr>
                        <a:buNone/>
                      </a:pPr>
                      <a:r>
                        <a:rPr lang="en-US" sz="1400">
                          <a:latin typeface="Calibri"/>
                        </a:rPr>
                        <a:t>FOMC statement text</a:t>
                      </a:r>
                    </a:p>
                  </a:txBody>
                  <a:tcPr marL="37098" marR="37098" marT="18549" marB="18549" anchor="ctr"/>
                </a:tc>
                <a:tc>
                  <a:txBody>
                    <a:bodyPr/>
                    <a:lstStyle/>
                    <a:p>
                      <a:pPr>
                        <a:buNone/>
                      </a:pPr>
                      <a:r>
                        <a:rPr lang="en-US" sz="1400">
                          <a:latin typeface="Calibri"/>
                        </a:rPr>
                        <a:t>Statement corpus</a:t>
                      </a:r>
                    </a:p>
                  </a:txBody>
                  <a:tcPr marL="37098" marR="37098" marT="18549" marB="18549" anchor="ctr"/>
                </a:tc>
                <a:tc>
                  <a:txBody>
                    <a:bodyPr/>
                    <a:lstStyle/>
                    <a:p>
                      <a:pPr>
                        <a:buNone/>
                      </a:pPr>
                      <a:r>
                        <a:rPr lang="en-US" sz="1400">
                          <a:latin typeface="Calibri"/>
                        </a:rPr>
                        <a:t>1 &amp; robustness</a:t>
                      </a:r>
                    </a:p>
                  </a:txBody>
                  <a:tcPr marL="37098" marR="37098" marT="18549" marB="18549" anchor="ctr"/>
                </a:tc>
                <a:extLst>
                  <a:ext uri="{0D108BD9-81ED-4DB2-BD59-A6C34878D82A}">
                    <a16:rowId xmlns:a16="http://schemas.microsoft.com/office/drawing/2014/main" val="1210254843"/>
                  </a:ext>
                </a:extLst>
              </a:tr>
              <a:tr h="300390">
                <a:tc>
                  <a:txBody>
                    <a:bodyPr/>
                    <a:lstStyle/>
                    <a:p>
                      <a:pPr>
                        <a:buNone/>
                      </a:pPr>
                      <a:r>
                        <a:rPr lang="en-US" sz="1400">
                          <a:latin typeface="Calibri"/>
                        </a:rPr>
                        <a:t>Loughran–McDonald</a:t>
                      </a:r>
                    </a:p>
                  </a:txBody>
                  <a:tcPr marL="37098" marR="37098" marT="18549" marB="18549" anchor="ctr"/>
                </a:tc>
                <a:tc>
                  <a:txBody>
                    <a:bodyPr/>
                    <a:lstStyle/>
                    <a:p>
                      <a:pPr>
                        <a:buNone/>
                      </a:pPr>
                      <a:r>
                        <a:rPr lang="en-US" sz="1400" dirty="0">
                          <a:latin typeface="Calibri"/>
                        </a:rPr>
                        <a:t>Financial sentiment dictionary</a:t>
                      </a:r>
                    </a:p>
                  </a:txBody>
                  <a:tcPr marL="37098" marR="37098" marT="18549" marB="18549" anchor="ctr"/>
                </a:tc>
                <a:tc>
                  <a:txBody>
                    <a:bodyPr/>
                    <a:lstStyle/>
                    <a:p>
                      <a:pPr>
                        <a:buNone/>
                      </a:pPr>
                      <a:r>
                        <a:rPr lang="en-US" sz="1400">
                          <a:latin typeface="Calibri"/>
                        </a:rPr>
                        <a:t>LM sentiment</a:t>
                      </a:r>
                    </a:p>
                  </a:txBody>
                  <a:tcPr marL="37098" marR="37098" marT="18549" marB="18549" anchor="ctr"/>
                </a:tc>
                <a:tc>
                  <a:txBody>
                    <a:bodyPr/>
                    <a:lstStyle/>
                    <a:p>
                      <a:pPr>
                        <a:buNone/>
                      </a:pPr>
                      <a:r>
                        <a:rPr lang="en-US" sz="1400">
                          <a:latin typeface="Calibri"/>
                        </a:rPr>
                        <a:t>1 / 2 robustness</a:t>
                      </a:r>
                    </a:p>
                  </a:txBody>
                  <a:tcPr marL="37098" marR="37098" marT="18549" marB="18549" anchor="ctr"/>
                </a:tc>
                <a:extLst>
                  <a:ext uri="{0D108BD9-81ED-4DB2-BD59-A6C34878D82A}">
                    <a16:rowId xmlns:a16="http://schemas.microsoft.com/office/drawing/2014/main" val="466340890"/>
                  </a:ext>
                </a:extLst>
              </a:tr>
              <a:tr h="300390">
                <a:tc>
                  <a:txBody>
                    <a:bodyPr/>
                    <a:lstStyle/>
                    <a:p>
                      <a:pPr>
                        <a:buNone/>
                      </a:pPr>
                      <a:r>
                        <a:rPr lang="en-US" sz="1400">
                          <a:latin typeface="Calibri"/>
                        </a:rPr>
                        <a:t>Central-bank dictionary</a:t>
                      </a:r>
                    </a:p>
                  </a:txBody>
                  <a:tcPr marL="37098" marR="37098" marT="18549" marB="18549" anchor="ctr"/>
                </a:tc>
                <a:tc>
                  <a:txBody>
                    <a:bodyPr/>
                    <a:lstStyle/>
                    <a:p>
                      <a:pPr>
                        <a:buNone/>
                      </a:pPr>
                      <a:r>
                        <a:rPr lang="en-US" sz="1400">
                          <a:latin typeface="Calibri"/>
                        </a:rPr>
                        <a:t>Hawkish/dovish terms</a:t>
                      </a:r>
                    </a:p>
                  </a:txBody>
                  <a:tcPr marL="37098" marR="37098" marT="18549" marB="18549" anchor="ctr"/>
                </a:tc>
                <a:tc>
                  <a:txBody>
                    <a:bodyPr/>
                    <a:lstStyle/>
                    <a:p>
                      <a:pPr>
                        <a:buNone/>
                      </a:pPr>
                      <a:r>
                        <a:rPr lang="en-US" sz="1400">
                          <a:latin typeface="Calibri"/>
                        </a:rPr>
                        <a:t>CB sentiment</a:t>
                      </a:r>
                    </a:p>
                  </a:txBody>
                  <a:tcPr marL="37098" marR="37098" marT="18549" marB="18549" anchor="ctr"/>
                </a:tc>
                <a:tc>
                  <a:txBody>
                    <a:bodyPr/>
                    <a:lstStyle/>
                    <a:p>
                      <a:pPr>
                        <a:buNone/>
                      </a:pPr>
                      <a:r>
                        <a:rPr lang="en-US" sz="1400" dirty="0">
                          <a:latin typeface="Calibri"/>
                        </a:rPr>
                        <a:t>1</a:t>
                      </a:r>
                    </a:p>
                  </a:txBody>
                  <a:tcPr marL="37098" marR="37098" marT="18549" marB="18549" anchor="ctr"/>
                </a:tc>
                <a:extLst>
                  <a:ext uri="{0D108BD9-81ED-4DB2-BD59-A6C34878D82A}">
                    <a16:rowId xmlns:a16="http://schemas.microsoft.com/office/drawing/2014/main" val="1197830678"/>
                  </a:ext>
                </a:extLst>
              </a:tr>
              <a:tr h="429130">
                <a:tc>
                  <a:txBody>
                    <a:bodyPr/>
                    <a:lstStyle/>
                    <a:p>
                      <a:pPr>
                        <a:buNone/>
                      </a:pPr>
                      <a:r>
                        <a:rPr lang="en-US" sz="1400" dirty="0">
                          <a:latin typeface="Calibri"/>
                        </a:rPr>
                        <a:t>GLM-4.6</a:t>
                      </a:r>
                    </a:p>
                  </a:txBody>
                  <a:tcPr marL="37098" marR="37098" marT="18549" marB="18549" anchor="ctr"/>
                </a:tc>
                <a:tc>
                  <a:txBody>
                    <a:bodyPr/>
                    <a:lstStyle/>
                    <a:p>
                      <a:pPr>
                        <a:buNone/>
                      </a:pPr>
                      <a:r>
                        <a:rPr lang="en-US" sz="1400" dirty="0">
                          <a:latin typeface="Calibri"/>
                        </a:rPr>
                        <a:t>LLM sentiment robustness ONLY — never used to classify shocks</a:t>
                      </a:r>
                    </a:p>
                  </a:txBody>
                  <a:tcPr marL="37098" marR="37098" marT="18549" marB="18549" anchor="ctr"/>
                </a:tc>
                <a:tc>
                  <a:txBody>
                    <a:bodyPr/>
                    <a:lstStyle/>
                    <a:p>
                      <a:pPr>
                        <a:buNone/>
                      </a:pPr>
                      <a:r>
                        <a:rPr lang="en-US" sz="1400">
                          <a:latin typeface="Calibri"/>
                        </a:rPr>
                        <a:t>LLM hawkishness score</a:t>
                      </a:r>
                    </a:p>
                  </a:txBody>
                  <a:tcPr marL="37098" marR="37098" marT="18549" marB="18549" anchor="ctr"/>
                </a:tc>
                <a:tc>
                  <a:txBody>
                    <a:bodyPr/>
                    <a:lstStyle/>
                    <a:p>
                      <a:pPr>
                        <a:buNone/>
                      </a:pPr>
                      <a:r>
                        <a:rPr lang="en-US" sz="1400" dirty="0">
                          <a:latin typeface="Calibri"/>
                        </a:rPr>
                        <a:t>Robustness</a:t>
                      </a:r>
                    </a:p>
                  </a:txBody>
                  <a:tcPr marL="37098" marR="37098" marT="18549" marB="18549" anchor="ctr"/>
                </a:tc>
                <a:extLst>
                  <a:ext uri="{0D108BD9-81ED-4DB2-BD59-A6C34878D82A}">
                    <a16:rowId xmlns:a16="http://schemas.microsoft.com/office/drawing/2014/main" val="3409485578"/>
                  </a:ext>
                </a:extLst>
              </a:tr>
              <a:tr h="429130">
                <a:tc>
                  <a:txBody>
                    <a:bodyPr/>
                    <a:lstStyle/>
                    <a:p>
                      <a:pPr>
                        <a:buNone/>
                      </a:pPr>
                      <a:r>
                        <a:rPr lang="en-US" sz="1400" dirty="0">
                          <a:latin typeface="Calibri"/>
                        </a:rPr>
                        <a:t>CRSP/WRDS</a:t>
                      </a:r>
                    </a:p>
                  </a:txBody>
                  <a:tcPr marL="37098" marR="37098" marT="18549" marB="18549" anchor="ctr"/>
                </a:tc>
                <a:tc>
                  <a:txBody>
                    <a:bodyPr/>
                    <a:lstStyle/>
                    <a:p>
                      <a:pPr>
                        <a:buNone/>
                      </a:pPr>
                      <a:r>
                        <a:rPr lang="en-US" sz="1400" dirty="0">
                          <a:latin typeface="Calibri"/>
                        </a:rPr>
                        <a:t>Daily equity-market data</a:t>
                      </a:r>
                    </a:p>
                  </a:txBody>
                  <a:tcPr marL="37098" marR="37098" marT="18549" marB="18549" anchor="ctr"/>
                </a:tc>
                <a:tc>
                  <a:txBody>
                    <a:bodyPr/>
                    <a:lstStyle/>
                    <a:p>
                      <a:pPr>
                        <a:buNone/>
                      </a:pPr>
                      <a:r>
                        <a:rPr lang="en-US" sz="1400">
                          <a:latin typeface="Calibri"/>
                        </a:rPr>
                        <a:t>CRSP VW/EW and other equity returns</a:t>
                      </a:r>
                    </a:p>
                  </a:txBody>
                  <a:tcPr marL="37098" marR="37098" marT="18549" marB="18549" anchor="ctr"/>
                </a:tc>
                <a:tc>
                  <a:txBody>
                    <a:bodyPr/>
                    <a:lstStyle/>
                    <a:p>
                      <a:pPr>
                        <a:buNone/>
                      </a:pPr>
                      <a:r>
                        <a:rPr lang="en-US" sz="1400" dirty="0">
                          <a:latin typeface="Calibri"/>
                        </a:rPr>
                        <a:t>1 &amp; 2</a:t>
                      </a:r>
                    </a:p>
                  </a:txBody>
                  <a:tcPr marL="37098" marR="37098" marT="18549" marB="18549" anchor="ctr"/>
                </a:tc>
                <a:extLst>
                  <a:ext uri="{0D108BD9-81ED-4DB2-BD59-A6C34878D82A}">
                    <a16:rowId xmlns:a16="http://schemas.microsoft.com/office/drawing/2014/main" val="474763666"/>
                  </a:ext>
                </a:extLst>
              </a:tr>
              <a:tr h="429130">
                <a:tc>
                  <a:txBody>
                    <a:bodyPr/>
                    <a:lstStyle/>
                    <a:p>
                      <a:pPr>
                        <a:buNone/>
                      </a:pPr>
                      <a:r>
                        <a:rPr lang="en-US" sz="1400" dirty="0">
                          <a:latin typeface="Calibri"/>
                        </a:rPr>
                        <a:t>FRED</a:t>
                      </a:r>
                    </a:p>
                  </a:txBody>
                  <a:tcPr marL="37098" marR="37098" marT="18549" marB="18549" anchor="ctr"/>
                </a:tc>
                <a:tc>
                  <a:txBody>
                    <a:bodyPr/>
                    <a:lstStyle/>
                    <a:p>
                      <a:pPr>
                        <a:buNone/>
                      </a:pPr>
                      <a:r>
                        <a:rPr lang="en-US" sz="1400">
                          <a:latin typeface="Calibri"/>
                        </a:rPr>
                        <a:t>Treasury, gold, VIX and macro series in current materials</a:t>
                      </a:r>
                    </a:p>
                  </a:txBody>
                  <a:tcPr marL="37098" marR="37098" marT="18549" marB="18549" anchor="ctr"/>
                </a:tc>
                <a:tc>
                  <a:txBody>
                    <a:bodyPr/>
                    <a:lstStyle/>
                    <a:p>
                      <a:pPr>
                        <a:buNone/>
                      </a:pPr>
                      <a:r>
                        <a:rPr lang="en-US" sz="1400">
                          <a:latin typeface="Calibri"/>
                        </a:rPr>
                        <a:t>Market outcomes / controls</a:t>
                      </a:r>
                    </a:p>
                  </a:txBody>
                  <a:tcPr marL="37098" marR="37098" marT="18549" marB="18549" anchor="ctr"/>
                </a:tc>
                <a:tc>
                  <a:txBody>
                    <a:bodyPr/>
                    <a:lstStyle/>
                    <a:p>
                      <a:pPr>
                        <a:buNone/>
                      </a:pPr>
                      <a:r>
                        <a:rPr lang="en-US" sz="1400" dirty="0">
                          <a:latin typeface="Calibri"/>
                        </a:rPr>
                        <a:t>1 / robustness</a:t>
                      </a:r>
                    </a:p>
                  </a:txBody>
                  <a:tcPr marL="37098" marR="37098" marT="18549" marB="18549" anchor="ctr"/>
                </a:tc>
                <a:extLst>
                  <a:ext uri="{0D108BD9-81ED-4DB2-BD59-A6C34878D82A}">
                    <a16:rowId xmlns:a16="http://schemas.microsoft.com/office/drawing/2014/main" val="2589998792"/>
                  </a:ext>
                </a:extLst>
              </a:tr>
              <a:tr h="686608">
                <a:tc>
                  <a:txBody>
                    <a:bodyPr/>
                    <a:lstStyle/>
                    <a:p>
                      <a:pPr>
                        <a:buNone/>
                      </a:pPr>
                      <a:r>
                        <a:rPr lang="en-US" sz="1400">
                          <a:latin typeface="Calibri"/>
                        </a:rPr>
                        <a:t>Jarociński–Karadi / updated JK source</a:t>
                      </a:r>
                    </a:p>
                  </a:txBody>
                  <a:tcPr marL="37098" marR="37098" marT="18549" marB="18549" anchor="ctr"/>
                </a:tc>
                <a:tc>
                  <a:txBody>
                    <a:bodyPr/>
                    <a:lstStyle/>
                    <a:p>
                      <a:pPr>
                        <a:buNone/>
                      </a:pPr>
                      <a:r>
                        <a:rPr lang="en-US" sz="1400">
                          <a:latin typeface="Calibri"/>
                        </a:rPr>
                        <a:t>Official updated index — market-based sign restriction decomposed shocks</a:t>
                      </a:r>
                    </a:p>
                  </a:txBody>
                  <a:tcPr marL="37098" marR="37098" marT="18549" marB="18549" anchor="ctr"/>
                </a:tc>
                <a:tc>
                  <a:txBody>
                    <a:bodyPr/>
                    <a:lstStyle/>
                    <a:p>
                      <a:pPr>
                        <a:buNone/>
                      </a:pPr>
                      <a:r>
                        <a:rPr lang="en-US" sz="1400" dirty="0">
                          <a:latin typeface="Calibri"/>
                        </a:rPr>
                        <a:t>MP and CBI</a:t>
                      </a:r>
                    </a:p>
                  </a:txBody>
                  <a:tcPr marL="37098" marR="37098" marT="18549" marB="18549" anchor="ctr"/>
                </a:tc>
                <a:tc>
                  <a:txBody>
                    <a:bodyPr/>
                    <a:lstStyle/>
                    <a:p>
                      <a:pPr>
                        <a:buNone/>
                      </a:pPr>
                      <a:r>
                        <a:rPr lang="en-US" sz="1400" dirty="0">
                          <a:latin typeface="Calibri"/>
                        </a:rPr>
                        <a:t>2</a:t>
                      </a:r>
                    </a:p>
                  </a:txBody>
                  <a:tcPr marL="37098" marR="37098" marT="18549" marB="18549" anchor="ctr"/>
                </a:tc>
                <a:extLst>
                  <a:ext uri="{0D108BD9-81ED-4DB2-BD59-A6C34878D82A}">
                    <a16:rowId xmlns:a16="http://schemas.microsoft.com/office/drawing/2014/main" val="4254188952"/>
                  </a:ext>
                </a:extLst>
              </a:tr>
              <a:tr h="429130">
                <a:tc>
                  <a:txBody>
                    <a:bodyPr/>
                    <a:lstStyle/>
                    <a:p>
                      <a:pPr>
                        <a:buNone/>
                      </a:pPr>
                      <a:r>
                        <a:rPr lang="en-US" sz="1400">
                          <a:latin typeface="Calibri"/>
                        </a:rPr>
                        <a:t>Bauer–Swanson framework/data</a:t>
                      </a:r>
                    </a:p>
                  </a:txBody>
                  <a:tcPr marL="37098" marR="37098" marT="18549" marB="18549" anchor="ctr"/>
                </a:tc>
                <a:tc>
                  <a:txBody>
                    <a:bodyPr/>
                    <a:lstStyle/>
                    <a:p>
                      <a:pPr>
                        <a:buNone/>
                      </a:pPr>
                      <a:r>
                        <a:rPr lang="en-US" sz="1400">
                          <a:latin typeface="Calibri"/>
                        </a:rPr>
                        <a:t>Raw/orthogonalized HFI and pre-FOMC predictors</a:t>
                      </a:r>
                    </a:p>
                  </a:txBody>
                  <a:tcPr marL="37098" marR="37098" marT="18549" marB="18549" anchor="ctr"/>
                </a:tc>
                <a:tc>
                  <a:txBody>
                    <a:bodyPr/>
                    <a:lstStyle/>
                    <a:p>
                      <a:pPr>
                        <a:buNone/>
                      </a:pPr>
                      <a:r>
                        <a:rPr lang="en-US" sz="1400" dirty="0">
                          <a:latin typeface="Calibri"/>
                        </a:rPr>
                        <a:t>Orthogonalized shock robustness</a:t>
                      </a:r>
                    </a:p>
                  </a:txBody>
                  <a:tcPr marL="37098" marR="37098" marT="18549" marB="18549" anchor="ctr"/>
                </a:tc>
                <a:tc>
                  <a:txBody>
                    <a:bodyPr/>
                    <a:lstStyle/>
                    <a:p>
                      <a:pPr>
                        <a:buNone/>
                      </a:pPr>
                      <a:r>
                        <a:rPr lang="en-US" sz="1400" dirty="0">
                          <a:latin typeface="Calibri"/>
                        </a:rPr>
                        <a:t>1 &amp; 2</a:t>
                      </a:r>
                    </a:p>
                  </a:txBody>
                  <a:tcPr marL="37098" marR="37098" marT="18549" marB="18549" anchor="ctr"/>
                </a:tc>
                <a:extLst>
                  <a:ext uri="{0D108BD9-81ED-4DB2-BD59-A6C34878D82A}">
                    <a16:rowId xmlns:a16="http://schemas.microsoft.com/office/drawing/2014/main" val="2872630367"/>
                  </a:ext>
                </a:extLst>
              </a:tr>
              <a:tr h="429130">
                <a:tc>
                  <a:txBody>
                    <a:bodyPr/>
                    <a:lstStyle/>
                    <a:p>
                      <a:pPr>
                        <a:buNone/>
                      </a:pPr>
                      <a:r>
                        <a:rPr lang="en-US" sz="1400">
                          <a:latin typeface="Calibri"/>
                        </a:rPr>
                        <a:t>CRSP Mutual Fund Database</a:t>
                      </a:r>
                    </a:p>
                  </a:txBody>
                  <a:tcPr marL="37098" marR="37098" marT="18549" marB="18549" anchor="ctr"/>
                </a:tc>
                <a:tc>
                  <a:txBody>
                    <a:bodyPr/>
                    <a:lstStyle/>
                    <a:p>
                      <a:pPr>
                        <a:buNone/>
                      </a:pPr>
                      <a:r>
                        <a:rPr lang="en-US" sz="1400">
                          <a:latin typeface="Calibri"/>
                        </a:rPr>
                        <a:t>TNA, returns, objective codes, expense ratios</a:t>
                      </a:r>
                    </a:p>
                  </a:txBody>
                  <a:tcPr marL="37098" marR="37098" marT="18549" marB="18549" anchor="ctr"/>
                </a:tc>
                <a:tc>
                  <a:txBody>
                    <a:bodyPr/>
                    <a:lstStyle/>
                    <a:p>
                      <a:pPr>
                        <a:buNone/>
                      </a:pPr>
                      <a:r>
                        <a:rPr lang="en-US" sz="1400" dirty="0">
                          <a:latin typeface="Calibri"/>
                        </a:rPr>
                        <a:t>Fund flows, asset-class flows, controls</a:t>
                      </a:r>
                    </a:p>
                  </a:txBody>
                  <a:tcPr marL="37098" marR="37098" marT="18549" marB="18549" anchor="ctr"/>
                </a:tc>
                <a:tc>
                  <a:txBody>
                    <a:bodyPr/>
                    <a:lstStyle/>
                    <a:p>
                      <a:pPr>
                        <a:buNone/>
                      </a:pPr>
                      <a:r>
                        <a:rPr lang="en-US" sz="1400" dirty="0">
                          <a:latin typeface="Calibri"/>
                        </a:rPr>
                        <a:t>2</a:t>
                      </a:r>
                    </a:p>
                  </a:txBody>
                  <a:tcPr marL="37098" marR="37098" marT="18549" marB="18549" anchor="ctr"/>
                </a:tc>
                <a:extLst>
                  <a:ext uri="{0D108BD9-81ED-4DB2-BD59-A6C34878D82A}">
                    <a16:rowId xmlns:a16="http://schemas.microsoft.com/office/drawing/2014/main" val="1672557091"/>
                  </a:ext>
                </a:extLst>
              </a:tr>
              <a:tr h="300390">
                <a:tc>
                  <a:txBody>
                    <a:bodyPr/>
                    <a:lstStyle/>
                    <a:p>
                      <a:pPr>
                        <a:buNone/>
                      </a:pPr>
                      <a:r>
                        <a:rPr lang="en-US" sz="1400" dirty="0">
                          <a:latin typeface="Calibri"/>
                        </a:rPr>
                        <a:t>classification</a:t>
                      </a:r>
                    </a:p>
                  </a:txBody>
                  <a:tcPr marL="37098" marR="37098" marT="18549" marB="18549" anchor="ctr"/>
                </a:tc>
                <a:tc>
                  <a:txBody>
                    <a:bodyPr/>
                    <a:lstStyle/>
                    <a:p>
                      <a:pPr>
                        <a:buNone/>
                      </a:pPr>
                      <a:r>
                        <a:rPr lang="en-US" sz="1400">
                          <a:latin typeface="Calibri"/>
                        </a:rPr>
                        <a:t>CRSP fund categories</a:t>
                      </a:r>
                    </a:p>
                  </a:txBody>
                  <a:tcPr marL="37098" marR="37098" marT="18549" marB="18549" anchor="ctr"/>
                </a:tc>
                <a:tc>
                  <a:txBody>
                    <a:bodyPr/>
                    <a:lstStyle/>
                    <a:p>
                      <a:pPr>
                        <a:buNone/>
                      </a:pPr>
                      <a:r>
                        <a:rPr lang="en-US" sz="1400" dirty="0">
                          <a:latin typeface="Calibri"/>
                        </a:rPr>
                        <a:t>7 asset classes + Risk Rank 1–7</a:t>
                      </a:r>
                    </a:p>
                  </a:txBody>
                  <a:tcPr marL="37098" marR="37098" marT="18549" marB="18549" anchor="ctr"/>
                </a:tc>
                <a:tc>
                  <a:txBody>
                    <a:bodyPr/>
                    <a:lstStyle/>
                    <a:p>
                      <a:pPr>
                        <a:buNone/>
                      </a:pPr>
                      <a:r>
                        <a:rPr lang="en-US" sz="1400">
                          <a:latin typeface="Calibri"/>
                        </a:rPr>
                        <a:t>2</a:t>
                      </a:r>
                    </a:p>
                  </a:txBody>
                  <a:tcPr marL="37098" marR="37098" marT="18549" marB="18549" anchor="ctr"/>
                </a:tc>
                <a:extLst>
                  <a:ext uri="{0D108BD9-81ED-4DB2-BD59-A6C34878D82A}">
                    <a16:rowId xmlns:a16="http://schemas.microsoft.com/office/drawing/2014/main" val="3725443010"/>
                  </a:ext>
                </a:extLst>
              </a:tr>
              <a:tr h="300390">
                <a:tc>
                  <a:txBody>
                    <a:bodyPr/>
                    <a:lstStyle/>
                    <a:p>
                      <a:pPr>
                        <a:buNone/>
                      </a:pPr>
                      <a:r>
                        <a:rPr lang="en-US" sz="1400" dirty="0">
                          <a:latin typeface="Calibri"/>
                        </a:rPr>
                        <a:t>event construction</a:t>
                      </a:r>
                    </a:p>
                  </a:txBody>
                  <a:tcPr marL="37098" marR="37098" marT="18549" marB="18549" anchor="ctr"/>
                </a:tc>
                <a:tc>
                  <a:txBody>
                    <a:bodyPr/>
                    <a:lstStyle/>
                    <a:p>
                      <a:pPr>
                        <a:buNone/>
                      </a:pPr>
                      <a:r>
                        <a:rPr lang="en-US" sz="1400">
                          <a:latin typeface="Calibri"/>
                        </a:rPr>
                        <a:t>FOMC dates + monthly flows</a:t>
                      </a:r>
                    </a:p>
                  </a:txBody>
                  <a:tcPr marL="37098" marR="37098" marT="18549" marB="18549" anchor="ctr"/>
                </a:tc>
                <a:tc>
                  <a:txBody>
                    <a:bodyPr/>
                    <a:lstStyle/>
                    <a:p>
                      <a:pPr>
                        <a:buNone/>
                      </a:pPr>
                      <a:r>
                        <a:rPr lang="en-US" sz="1400">
                          <a:latin typeface="Calibri"/>
                        </a:rPr>
                        <a:t>Same, Post, Diff</a:t>
                      </a:r>
                    </a:p>
                  </a:txBody>
                  <a:tcPr marL="37098" marR="37098" marT="18549" marB="18549" anchor="ctr"/>
                </a:tc>
                <a:tc>
                  <a:txBody>
                    <a:bodyPr/>
                    <a:lstStyle/>
                    <a:p>
                      <a:pPr>
                        <a:buNone/>
                      </a:pPr>
                      <a:r>
                        <a:rPr lang="en-US" sz="1400" dirty="0">
                          <a:latin typeface="Calibri"/>
                        </a:rPr>
                        <a:t>2</a:t>
                      </a:r>
                    </a:p>
                  </a:txBody>
                  <a:tcPr marL="37098" marR="37098" marT="18549" marB="18549" anchor="ctr"/>
                </a:tc>
                <a:extLst>
                  <a:ext uri="{0D108BD9-81ED-4DB2-BD59-A6C34878D82A}">
                    <a16:rowId xmlns:a16="http://schemas.microsoft.com/office/drawing/2014/main" val="4188705809"/>
                  </a:ext>
                </a:extLst>
              </a:tr>
              <a:tr h="300390">
                <a:tc>
                  <a:txBody>
                    <a:bodyPr/>
                    <a:lstStyle/>
                    <a:p>
                      <a:pPr>
                        <a:buNone/>
                      </a:pPr>
                      <a:r>
                        <a:rPr lang="en-US" sz="1400" dirty="0">
                          <a:latin typeface="Calibri"/>
                        </a:rPr>
                        <a:t>regime construction</a:t>
                      </a:r>
                    </a:p>
                  </a:txBody>
                  <a:tcPr marL="37098" marR="37098" marT="18549" marB="18549" anchor="ctr"/>
                </a:tc>
                <a:tc>
                  <a:txBody>
                    <a:bodyPr/>
                    <a:lstStyle/>
                    <a:p>
                      <a:pPr>
                        <a:buNone/>
                      </a:pPr>
                      <a:r>
                        <a:rPr lang="en-US" sz="1400">
                          <a:latin typeface="Calibri"/>
                        </a:rPr>
                        <a:t>FOMC dates/policy periods</a:t>
                      </a:r>
                    </a:p>
                  </a:txBody>
                  <a:tcPr marL="37098" marR="37098" marT="18549" marB="18549" anchor="ctr"/>
                </a:tc>
                <a:tc>
                  <a:txBody>
                    <a:bodyPr/>
                    <a:lstStyle/>
                    <a:p>
                      <a:pPr>
                        <a:buNone/>
                      </a:pPr>
                      <a:r>
                        <a:rPr lang="en-US" sz="1400">
                          <a:latin typeface="Calibri"/>
                        </a:rPr>
                        <a:t>FG/ZLB dummy and interactions</a:t>
                      </a:r>
                    </a:p>
                  </a:txBody>
                  <a:tcPr marL="37098" marR="37098" marT="18549" marB="18549" anchor="ctr"/>
                </a:tc>
                <a:tc>
                  <a:txBody>
                    <a:bodyPr/>
                    <a:lstStyle/>
                    <a:p>
                      <a:pPr>
                        <a:buNone/>
                      </a:pPr>
                      <a:r>
                        <a:rPr lang="en-US" sz="1400" dirty="0">
                          <a:latin typeface="Calibri"/>
                        </a:rPr>
                        <a:t>1 &amp; 2</a:t>
                      </a:r>
                    </a:p>
                  </a:txBody>
                  <a:tcPr marL="37098" marR="37098" marT="18549" marB="18549" anchor="ctr"/>
                </a:tc>
                <a:extLst>
                  <a:ext uri="{0D108BD9-81ED-4DB2-BD59-A6C34878D82A}">
                    <a16:rowId xmlns:a16="http://schemas.microsoft.com/office/drawing/2014/main" val="3706711381"/>
                  </a:ext>
                </a:extLst>
              </a:tr>
            </a:tbl>
          </a:graphicData>
        </a:graphic>
      </p:graphicFrame>
      <p:sp>
        <p:nvSpPr>
          <p:cNvPr id="4" name="Rectangle 3">
            <a:extLst>
              <a:ext uri="{FF2B5EF4-FFF2-40B4-BE49-F238E27FC236}">
                <a16:creationId xmlns:a16="http://schemas.microsoft.com/office/drawing/2014/main" id="{F9B44A61-BE49-C3C0-1756-61A8F2939C33}"/>
              </a:ext>
            </a:extLst>
          </p:cNvPr>
          <p:cNvSpPr/>
          <p:nvPr/>
        </p:nvSpPr>
        <p:spPr>
          <a:xfrm>
            <a:off x="0"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b="1" dirty="0">
                <a:solidFill>
                  <a:srgbClr val="910020"/>
                </a:solidFill>
                <a:highlight>
                  <a:srgbClr val="000000"/>
                </a:highlight>
                <a:latin typeface="Calibri"/>
              </a:rPr>
              <a:t>The Data </a:t>
            </a:r>
            <a:r>
              <a:rPr lang="en-US" b="1" dirty="0">
                <a:highlight>
                  <a:srgbClr val="000000"/>
                </a:highlight>
                <a:latin typeface="Calibri"/>
              </a:rPr>
              <a:t>and sources </a:t>
            </a:r>
          </a:p>
        </p:txBody>
      </p:sp>
    </p:spTree>
    <p:extLst>
      <p:ext uri="{BB962C8B-B14F-4D97-AF65-F5344CB8AC3E}">
        <p14:creationId xmlns:p14="http://schemas.microsoft.com/office/powerpoint/2010/main" val="26347016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02920" y="292608"/>
            <a:ext cx="10881360" cy="685800"/>
          </a:xfrm>
          <a:prstGeom prst="rect">
            <a:avLst/>
          </a:prstGeom>
          <a:noFill/>
        </p:spPr>
        <p:txBody>
          <a:bodyPr wrap="square">
            <a:spAutoFit/>
          </a:bodyPr>
          <a:lstStyle/>
          <a:p>
            <a:r>
              <a:rPr sz="2800" b="1">
                <a:solidFill>
                  <a:srgbClr val="1F2A44"/>
                </a:solidFill>
                <a:latin typeface="Georgia"/>
              </a:rPr>
              <a:t>Variable Definitions: Shocks Are Market-Based</a:t>
            </a:r>
          </a:p>
        </p:txBody>
      </p:sp>
      <p:sp>
        <p:nvSpPr>
          <p:cNvPr id="5" name="Rectangle 4"/>
          <p:cNvSpPr/>
          <p:nvPr/>
        </p:nvSpPr>
        <p:spPr>
          <a:xfrm>
            <a:off x="530352" y="969264"/>
            <a:ext cx="2377440" cy="40640"/>
          </a:xfrm>
          <a:prstGeom prst="rect">
            <a:avLst/>
          </a:prstGeom>
          <a:solidFill>
            <a:srgbClr val="CC00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6" name="Table 5"/>
          <p:cNvGraphicFramePr>
            <a:graphicFrameLocks noGrp="1"/>
          </p:cNvGraphicFramePr>
          <p:nvPr/>
        </p:nvGraphicFramePr>
        <p:xfrm>
          <a:off x="502920" y="1325880"/>
          <a:ext cx="10881360" cy="3749039"/>
        </p:xfrm>
        <a:graphic>
          <a:graphicData uri="http://schemas.openxmlformats.org/drawingml/2006/table">
            <a:tbl>
              <a:tblPr firstRow="1" bandRow="1">
                <a:tableStyleId>{5C22544A-7EE6-4342-B048-85BDC9FD1C3A}</a:tableStyleId>
              </a:tblPr>
              <a:tblGrid>
                <a:gridCol w="237744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5212080">
                  <a:extLst>
                    <a:ext uri="{9D8B030D-6E8A-4147-A177-3AD203B41FA5}">
                      <a16:colId xmlns:a16="http://schemas.microsoft.com/office/drawing/2014/main" val="20002"/>
                    </a:ext>
                  </a:extLst>
                </a:gridCol>
              </a:tblGrid>
              <a:tr h="937259">
                <a:tc>
                  <a:txBody>
                    <a:bodyPr/>
                    <a:lstStyle/>
                    <a:p>
                      <a:r>
                        <a:rPr sz="1500" b="1">
                          <a:solidFill>
                            <a:srgbClr val="FFFFFF"/>
                          </a:solidFill>
                          <a:latin typeface="Calibri"/>
                        </a:rPr>
                        <a:t>Measure</a:t>
                      </a:r>
                    </a:p>
                  </a:txBody>
                  <a:tcPr marT="73152" marB="73152">
                    <a:solidFill>
                      <a:srgbClr val="1F2A44"/>
                    </a:solidFill>
                  </a:tcPr>
                </a:tc>
                <a:tc>
                  <a:txBody>
                    <a:bodyPr/>
                    <a:lstStyle/>
                    <a:p>
                      <a:r>
                        <a:rPr sz="1500" b="1">
                          <a:solidFill>
                            <a:srgbClr val="FFFFFF"/>
                          </a:solidFill>
                          <a:latin typeface="Calibri"/>
                        </a:rPr>
                        <a:t>Source</a:t>
                      </a:r>
                    </a:p>
                  </a:txBody>
                  <a:tcPr marT="73152" marB="73152">
                    <a:solidFill>
                      <a:srgbClr val="1F2A44"/>
                    </a:solidFill>
                  </a:tcPr>
                </a:tc>
                <a:tc>
                  <a:txBody>
                    <a:bodyPr/>
                    <a:lstStyle/>
                    <a:p>
                      <a:r>
                        <a:rPr sz="1500" b="1">
                          <a:solidFill>
                            <a:srgbClr val="FFFFFF"/>
                          </a:solidFill>
                          <a:latin typeface="Calibri"/>
                        </a:rPr>
                        <a:t>Identification basis</a:t>
                      </a:r>
                    </a:p>
                  </a:txBody>
                  <a:tcPr marT="73152" marB="73152">
                    <a:solidFill>
                      <a:srgbClr val="1F2A44"/>
                    </a:solidFill>
                  </a:tcPr>
                </a:tc>
                <a:extLst>
                  <a:ext uri="{0D108BD9-81ED-4DB2-BD59-A6C34878D82A}">
                    <a16:rowId xmlns:a16="http://schemas.microsoft.com/office/drawing/2014/main" val="10000"/>
                  </a:ext>
                </a:extLst>
              </a:tr>
              <a:tr h="937259">
                <a:tc>
                  <a:txBody>
                    <a:bodyPr/>
                    <a:lstStyle/>
                    <a:p>
                      <a:r>
                        <a:rPr sz="1450" b="1">
                          <a:solidFill>
                            <a:srgbClr val="1F2A44"/>
                          </a:solidFill>
                          <a:latin typeface="Calibri"/>
                        </a:rPr>
                        <a:t>Target &amp; Path shocks</a:t>
                      </a:r>
                    </a:p>
                    <a:p>
                      <a:r>
                        <a:rPr sz="1450" b="1">
                          <a:solidFill>
                            <a:srgbClr val="1F2A44"/>
                          </a:solidFill>
                          <a:latin typeface="Calibri"/>
                        </a:rPr>
                        <a:t>(Part 1)</a:t>
                      </a:r>
                    </a:p>
                  </a:txBody>
                  <a:tcPr marT="73152" marB="73152">
                    <a:solidFill>
                      <a:srgbClr val="FFFFFF"/>
                    </a:solidFill>
                  </a:tcPr>
                </a:tc>
                <a:tc>
                  <a:txBody>
                    <a:bodyPr/>
                    <a:lstStyle/>
                    <a:p>
                      <a:r>
                        <a:rPr sz="1450" b="0">
                          <a:solidFill>
                            <a:srgbClr val="3D4859"/>
                          </a:solidFill>
                          <a:latin typeface="Calibri"/>
                        </a:rPr>
                        <a:t>GSS (2005), extended by Acosta (2022)</a:t>
                      </a:r>
                    </a:p>
                  </a:txBody>
                  <a:tcPr marT="73152" marB="73152">
                    <a:solidFill>
                      <a:srgbClr val="FFFFFF"/>
                    </a:solidFill>
                  </a:tcPr>
                </a:tc>
                <a:tc>
                  <a:txBody>
                    <a:bodyPr/>
                    <a:lstStyle/>
                    <a:p>
                      <a:r>
                        <a:rPr sz="1450" b="0">
                          <a:solidFill>
                            <a:srgbClr val="3D4859"/>
                          </a:solidFill>
                          <a:latin typeface="Calibri"/>
                        </a:rPr>
                        <a:t>Fed funds &amp; eurodollar futures around FOMC windows — market prices</a:t>
                      </a:r>
                    </a:p>
                  </a:txBody>
                  <a:tcPr marT="73152" marB="73152">
                    <a:solidFill>
                      <a:srgbClr val="FFFFFF"/>
                    </a:solidFill>
                  </a:tcPr>
                </a:tc>
                <a:extLst>
                  <a:ext uri="{0D108BD9-81ED-4DB2-BD59-A6C34878D82A}">
                    <a16:rowId xmlns:a16="http://schemas.microsoft.com/office/drawing/2014/main" val="10001"/>
                  </a:ext>
                </a:extLst>
              </a:tr>
              <a:tr h="937259">
                <a:tc>
                  <a:txBody>
                    <a:bodyPr/>
                    <a:lstStyle/>
                    <a:p>
                      <a:r>
                        <a:rPr sz="1450" b="1">
                          <a:solidFill>
                            <a:srgbClr val="1F2A44"/>
                          </a:solidFill>
                          <a:latin typeface="Calibri"/>
                        </a:rPr>
                        <a:t>MP &amp; CBI shocks</a:t>
                      </a:r>
                    </a:p>
                    <a:p>
                      <a:r>
                        <a:rPr sz="1450" b="1">
                          <a:solidFill>
                            <a:srgbClr val="1F2A44"/>
                          </a:solidFill>
                          <a:latin typeface="Calibri"/>
                        </a:rPr>
                        <a:t>(Part 1 §6.7 / Part 2)</a:t>
                      </a:r>
                    </a:p>
                  </a:txBody>
                  <a:tcPr marT="73152" marB="73152">
                    <a:solidFill>
                      <a:srgbClr val="F4F6F9"/>
                    </a:solidFill>
                  </a:tcPr>
                </a:tc>
                <a:tc>
                  <a:txBody>
                    <a:bodyPr/>
                    <a:lstStyle/>
                    <a:p>
                      <a:r>
                        <a:rPr sz="1450" b="0" dirty="0" err="1">
                          <a:solidFill>
                            <a:srgbClr val="3D4859"/>
                          </a:solidFill>
                          <a:latin typeface="Calibri"/>
                        </a:rPr>
                        <a:t>Jarociński</a:t>
                      </a:r>
                      <a:r>
                        <a:rPr sz="1450" b="0" dirty="0">
                          <a:solidFill>
                            <a:srgbClr val="3D4859"/>
                          </a:solidFill>
                          <a:latin typeface="Calibri"/>
                        </a:rPr>
                        <a:t> (2024) official updated index</a:t>
                      </a:r>
                    </a:p>
                  </a:txBody>
                  <a:tcPr marT="73152" marB="73152">
                    <a:solidFill>
                      <a:srgbClr val="F4F6F9"/>
                    </a:solidFill>
                  </a:tcPr>
                </a:tc>
                <a:tc>
                  <a:txBody>
                    <a:bodyPr/>
                    <a:lstStyle/>
                    <a:p>
                      <a:r>
                        <a:rPr sz="1450" b="0">
                          <a:solidFill>
                            <a:srgbClr val="3D4859"/>
                          </a:solidFill>
                          <a:latin typeface="Calibri"/>
                        </a:rPr>
                        <a:t>Sign restriction: 30-min rate surprise × 30-min S&amp;P response — market reaction, not text intent</a:t>
                      </a:r>
                    </a:p>
                  </a:txBody>
                  <a:tcPr marT="73152" marB="73152">
                    <a:solidFill>
                      <a:srgbClr val="F4F6F9"/>
                    </a:solidFill>
                  </a:tcPr>
                </a:tc>
                <a:extLst>
                  <a:ext uri="{0D108BD9-81ED-4DB2-BD59-A6C34878D82A}">
                    <a16:rowId xmlns:a16="http://schemas.microsoft.com/office/drawing/2014/main" val="10002"/>
                  </a:ext>
                </a:extLst>
              </a:tr>
              <a:tr h="937262">
                <a:tc>
                  <a:txBody>
                    <a:bodyPr/>
                    <a:lstStyle/>
                    <a:p>
                      <a:r>
                        <a:rPr sz="1450" b="1">
                          <a:solidFill>
                            <a:srgbClr val="1F2A44"/>
                          </a:solidFill>
                          <a:latin typeface="Calibri"/>
                        </a:rPr>
                        <a:t>Statement sentiment</a:t>
                      </a:r>
                    </a:p>
                  </a:txBody>
                  <a:tcPr marT="73152" marB="73152">
                    <a:solidFill>
                      <a:srgbClr val="FFFFFF"/>
                    </a:solidFill>
                  </a:tcPr>
                </a:tc>
                <a:tc>
                  <a:txBody>
                    <a:bodyPr/>
                    <a:lstStyle/>
                    <a:p>
                      <a:r>
                        <a:rPr sz="1450" b="0">
                          <a:solidFill>
                            <a:srgbClr val="3D4859"/>
                          </a:solidFill>
                          <a:latin typeface="Calibri"/>
                        </a:rPr>
                        <a:t>LM (2011) + central-bank dictionary; GLM-4.6 LLM as robustness only</a:t>
                      </a:r>
                    </a:p>
                  </a:txBody>
                  <a:tcPr marT="73152" marB="73152">
                    <a:solidFill>
                      <a:srgbClr val="FFFFFF"/>
                    </a:solidFill>
                  </a:tcPr>
                </a:tc>
                <a:tc>
                  <a:txBody>
                    <a:bodyPr/>
                    <a:lstStyle/>
                    <a:p>
                      <a:r>
                        <a:rPr sz="1450" b="0" dirty="0">
                          <a:solidFill>
                            <a:srgbClr val="3D4859"/>
                          </a:solidFill>
                          <a:latin typeface="Calibri"/>
                        </a:rPr>
                        <a:t>Text measurement of the outcome — never used to define or classify shocks</a:t>
                      </a:r>
                    </a:p>
                  </a:txBody>
                  <a:tcPr marT="73152" marB="73152">
                    <a:solidFill>
                      <a:srgbClr val="FFFFFF"/>
                    </a:solidFill>
                  </a:tcPr>
                </a:tc>
                <a:extLst>
                  <a:ext uri="{0D108BD9-81ED-4DB2-BD59-A6C34878D82A}">
                    <a16:rowId xmlns:a16="http://schemas.microsoft.com/office/drawing/2014/main" val="10003"/>
                  </a:ext>
                </a:extLst>
              </a:tr>
            </a:tbl>
          </a:graphicData>
        </a:graphic>
      </p:graphicFrame>
      <p:sp>
        <p:nvSpPr>
          <p:cNvPr id="7" name="TextBox 6"/>
          <p:cNvSpPr txBox="1"/>
          <p:nvPr/>
        </p:nvSpPr>
        <p:spPr>
          <a:xfrm>
            <a:off x="502920" y="5349240"/>
            <a:ext cx="10881360" cy="914400"/>
          </a:xfrm>
          <a:prstGeom prst="rect">
            <a:avLst/>
          </a:prstGeom>
          <a:noFill/>
        </p:spPr>
        <p:txBody>
          <a:bodyPr wrap="square">
            <a:spAutoFit/>
          </a:bodyPr>
          <a:lstStyle/>
          <a:p>
            <a:pPr>
              <a:spcAft>
                <a:spcPts val="400"/>
              </a:spcAft>
            </a:pPr>
            <a:r>
              <a:rPr sz="1700" b="1">
                <a:solidFill>
                  <a:srgbClr val="CC0033"/>
                </a:solidFill>
                <a:latin typeface="Calibri"/>
              </a:rPr>
              <a:t>Shock identification relies exclusively on high-frequency market data.</a:t>
            </a:r>
          </a:p>
          <a:p>
            <a:pPr>
              <a:spcAft>
                <a:spcPts val="0"/>
              </a:spcAft>
            </a:pPr>
            <a:r>
              <a:rPr sz="1350" b="0">
                <a:solidFill>
                  <a:srgbClr val="3D4859"/>
                </a:solidFill>
                <a:latin typeface="Calibri"/>
              </a:rPr>
              <a:t>Following Jarociński &amp; Karadi (2020) and the Jarociński (2024) updated index: same-direction rate/price moves = information shock; opposite-direction moves = policy shock.</a:t>
            </a:r>
          </a:p>
        </p:txBody>
      </p:sp>
    </p:spTree>
    <p:extLst>
      <p:ext uri="{BB962C8B-B14F-4D97-AF65-F5344CB8AC3E}">
        <p14:creationId xmlns:p14="http://schemas.microsoft.com/office/powerpoint/2010/main" val="20929048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1592C80-2D65-E426-3415-B4DA988DBBFE}"/>
              </a:ext>
            </a:extLst>
          </p:cNvPr>
          <p:cNvSpPr/>
          <p:nvPr/>
        </p:nvSpPr>
        <p:spPr>
          <a:xfrm>
            <a:off x="305"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b="1" dirty="0">
                <a:solidFill>
                  <a:schemeClr val="bg1"/>
                </a:solidFill>
                <a:latin typeface="Calibri"/>
              </a:rPr>
              <a:t>Preliminary Results  </a:t>
            </a:r>
          </a:p>
        </p:txBody>
      </p:sp>
      <p:graphicFrame>
        <p:nvGraphicFramePr>
          <p:cNvPr id="5" name="Table 4">
            <a:extLst>
              <a:ext uri="{FF2B5EF4-FFF2-40B4-BE49-F238E27FC236}">
                <a16:creationId xmlns:a16="http://schemas.microsoft.com/office/drawing/2014/main" id="{C2715E4A-3090-B1B4-E93D-7B4B4FFE4A17}"/>
              </a:ext>
            </a:extLst>
          </p:cNvPr>
          <p:cNvGraphicFramePr>
            <a:graphicFrameLocks noGrp="1"/>
          </p:cNvGraphicFramePr>
          <p:nvPr>
            <p:extLst>
              <p:ext uri="{D42A27DB-BD31-4B8C-83A1-F6EECF244321}">
                <p14:modId xmlns:p14="http://schemas.microsoft.com/office/powerpoint/2010/main" val="2302873549"/>
              </p:ext>
            </p:extLst>
          </p:nvPr>
        </p:nvGraphicFramePr>
        <p:xfrm>
          <a:off x="306" y="1084371"/>
          <a:ext cx="12191694" cy="5698981"/>
        </p:xfrm>
        <a:graphic>
          <a:graphicData uri="http://schemas.openxmlformats.org/drawingml/2006/table">
            <a:tbl>
              <a:tblPr>
                <a:tableStyleId>{5C22544A-7EE6-4342-B048-85BDC9FD1C3A}</a:tableStyleId>
              </a:tblPr>
              <a:tblGrid>
                <a:gridCol w="1792662">
                  <a:extLst>
                    <a:ext uri="{9D8B030D-6E8A-4147-A177-3AD203B41FA5}">
                      <a16:colId xmlns:a16="http://schemas.microsoft.com/office/drawing/2014/main" val="2057698188"/>
                    </a:ext>
                  </a:extLst>
                </a:gridCol>
                <a:gridCol w="10399032">
                  <a:extLst>
                    <a:ext uri="{9D8B030D-6E8A-4147-A177-3AD203B41FA5}">
                      <a16:colId xmlns:a16="http://schemas.microsoft.com/office/drawing/2014/main" val="654427009"/>
                    </a:ext>
                  </a:extLst>
                </a:gridCol>
              </a:tblGrid>
              <a:tr h="416116">
                <a:tc>
                  <a:txBody>
                    <a:bodyPr/>
                    <a:lstStyle/>
                    <a:p>
                      <a:pPr algn="ctr" fontAlgn="ctr">
                        <a:buNone/>
                      </a:pPr>
                      <a:r>
                        <a:rPr lang="en-US" sz="1600" u="none" strike="noStrike">
                          <a:effectLst/>
                        </a:rPr>
                        <a:t>Hypothesis</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ctr" fontAlgn="ctr">
                        <a:buNone/>
                      </a:pPr>
                      <a:r>
                        <a:rPr lang="en-US" sz="1600" u="none" strike="noStrike" dirty="0">
                          <a:effectLst/>
                        </a:rPr>
                        <a:t>Results</a:t>
                      </a:r>
                      <a:endParaRPr lang="en-US" sz="16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174474042"/>
                  </a:ext>
                </a:extLst>
              </a:tr>
              <a:tr h="1212165">
                <a:tc>
                  <a:txBody>
                    <a:bodyPr/>
                    <a:lstStyle/>
                    <a:p>
                      <a:pPr algn="l" fontAlgn="ctr">
                        <a:buNone/>
                      </a:pPr>
                      <a:r>
                        <a:rPr lang="en-US" sz="1600" u="none" strike="noStrike" dirty="0">
                          <a:effectLst/>
                        </a:rPr>
                        <a:t>H1 — Statement Language</a:t>
                      </a:r>
                      <a:endParaRPr lang="en-US" sz="1600" b="1" i="0" u="none" strike="noStrike" dirty="0">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600" u="none" strike="noStrike" dirty="0">
                          <a:effectLst/>
                        </a:rPr>
                        <a:t>Target shock is significantly associated with statement sentiment (β = 0.000577, p = .017), while Path is not significant (β = 0.000633, p = .152). However, the Wald test cannot reject equality of Target and Path coefficients (p ≈ .902). Therefore, the evidence shows a more statistically reliable Target association, but does not establish that Target has a statistically larger effect than Path.</a:t>
                      </a:r>
                      <a:endParaRPr lang="en-US" sz="16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459222494"/>
                  </a:ext>
                </a:extLst>
              </a:tr>
              <a:tr h="814140">
                <a:tc>
                  <a:txBody>
                    <a:bodyPr/>
                    <a:lstStyle/>
                    <a:p>
                      <a:pPr algn="l" fontAlgn="ctr">
                        <a:buNone/>
                      </a:pPr>
                      <a:r>
                        <a:rPr lang="en-US" sz="1600" u="none" strike="noStrike">
                          <a:effectLst/>
                        </a:rPr>
                        <a:t>H2 — Incremental Information</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600" u="none" strike="noStrike" dirty="0">
                          <a:effectLst/>
                        </a:rPr>
                        <a:t>After controlling for Target and Path, sentiment provides modest incremental explanatory power in the full sample. S&amp;P 500: β = 19.4585, p = .088, ΔR² = +0.66 pp; 10Y Treasury: β = 1.2355, p = .098, ΔR² = +1.22 pp. CRSP VW/EW, NASDAQ and Gold are insignificant. Therefore, H2 receives limited/marginal full-sample support.</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876914916"/>
                  </a:ext>
                </a:extLst>
              </a:tr>
              <a:tr h="814140">
                <a:tc>
                  <a:txBody>
                    <a:bodyPr/>
                    <a:lstStyle/>
                    <a:p>
                      <a:pPr algn="l" fontAlgn="ctr">
                        <a:buNone/>
                      </a:pPr>
                      <a:r>
                        <a:rPr lang="en-US" sz="1600" u="none" strike="noStrike">
                          <a:effectLst/>
                        </a:rPr>
                        <a:t>H3 — State Dependence</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600" u="none" strike="noStrike" dirty="0">
                          <a:effectLst/>
                        </a:rPr>
                        <a:t>Communication becomes substantially more market-relevant during the forward-guidance regime. CRSP VW: sentiment β = −2.5979, p = .004, R² = 30.6%; CRSP EW: β = −2.6976, p = .009, R² = 31.8%. Outside FG, the coefficients are small and insignificant. Thus, strong evidence supports state dependence.</a:t>
                      </a:r>
                      <a:endParaRPr lang="en-US" sz="1600" b="0"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125185276"/>
                  </a:ext>
                </a:extLst>
              </a:tr>
              <a:tr h="814140">
                <a:tc>
                  <a:txBody>
                    <a:bodyPr/>
                    <a:lstStyle/>
                    <a:p>
                      <a:pPr algn="l" fontAlgn="ctr">
                        <a:buNone/>
                      </a:pPr>
                      <a:r>
                        <a:rPr lang="en-US" sz="1600" u="none" strike="noStrike">
                          <a:effectLst/>
                        </a:rPr>
                        <a:t>H4 — MP vs. CBI</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600" u="none" strike="noStrike">
                          <a:effectLst/>
                        </a:rPr>
                        <a:t>MP and CBI shocks have statistically different fund-flow effects. In the Post window, CBI β = −0.750, p = .021, while MP β = +.163, p = .208; Wald p = .006. In the Diff window, MP β = +1.242, p = .029, while CBI is insignificant; Wald p = .001. Therefore, the MP–CBI difference is horizon dependent.</a:t>
                      </a:r>
                      <a:endParaRPr lang="en-US" sz="16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1953273566"/>
                  </a:ext>
                </a:extLst>
              </a:tr>
              <a:tr h="814140">
                <a:tc>
                  <a:txBody>
                    <a:bodyPr/>
                    <a:lstStyle/>
                    <a:p>
                      <a:pPr algn="l" fontAlgn="ctr">
                        <a:buNone/>
                      </a:pPr>
                      <a:r>
                        <a:rPr lang="en-US" sz="1600" u="none" strike="noStrike">
                          <a:effectLst/>
                        </a:rPr>
                        <a:t>H5 — Risk Ladder</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600" u="none" strike="noStrike">
                          <a:effectLst/>
                        </a:rPr>
                        <a:t>In the Post-FOMC month, Risk×CBI = +.132, p = .039, while Risk×MP = −.036, p = .228. Moving from government bonds (risk rank 1) to small-cap equities (risk rank 7) implies an estimated difference of about 0.79 percentage points in the CBI effect. This supports delayed CBI-related reallocation across the risk ladder.</a:t>
                      </a:r>
                      <a:endParaRPr lang="en-US" sz="1600" b="0" i="0" u="none" strike="noStrike">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3488231350"/>
                  </a:ext>
                </a:extLst>
              </a:tr>
              <a:tr h="814140">
                <a:tc>
                  <a:txBody>
                    <a:bodyPr/>
                    <a:lstStyle/>
                    <a:p>
                      <a:pPr algn="l" fontAlgn="ctr">
                        <a:buNone/>
                      </a:pPr>
                      <a:r>
                        <a:rPr lang="en-US" sz="1600" u="none" strike="noStrike">
                          <a:effectLst/>
                        </a:rPr>
                        <a:t>H6 — Timing</a:t>
                      </a:r>
                      <a:endParaRPr lang="en-US" sz="1600" b="1" i="0" u="none" strike="noStrike">
                        <a:solidFill>
                          <a:srgbClr val="000000"/>
                        </a:solidFill>
                        <a:effectLst/>
                        <a:latin typeface="Aptos Narrow" panose="020B0004020202020204" pitchFamily="34" charset="0"/>
                      </a:endParaRPr>
                    </a:p>
                  </a:txBody>
                  <a:tcPr marL="7620" marR="7620" marT="7620" marB="0" anchor="ctr"/>
                </a:tc>
                <a:tc>
                  <a:txBody>
                    <a:bodyPr/>
                    <a:lstStyle/>
                    <a:p>
                      <a:pPr algn="l" fontAlgn="ctr">
                        <a:buNone/>
                      </a:pPr>
                      <a:r>
                        <a:rPr lang="en-US" sz="1600" u="none" strike="noStrike" dirty="0">
                          <a:effectLst/>
                        </a:rPr>
                        <a:t>Prices react first; portfolio flows adjust later. On Day 0, both MP and CBI affect broad CRSP returns in opposite directions. At weekly horizons, the CBI price effect fades while MP persists. By Month t+1, portfolio allocations adjust, with CBI associated with delayed risk-ladder rebalancing.</a:t>
                      </a:r>
                      <a:endParaRPr lang="en-US" sz="1600" b="1" i="0" u="none" strike="noStrike" dirty="0">
                        <a:solidFill>
                          <a:srgbClr val="000000"/>
                        </a:solidFill>
                        <a:effectLst/>
                        <a:latin typeface="Aptos Narrow" panose="020B0004020202020204" pitchFamily="34" charset="0"/>
                      </a:endParaRPr>
                    </a:p>
                  </a:txBody>
                  <a:tcPr marL="7620" marR="7620" marT="7620" marB="0" anchor="ctr"/>
                </a:tc>
                <a:extLst>
                  <a:ext uri="{0D108BD9-81ED-4DB2-BD59-A6C34878D82A}">
                    <a16:rowId xmlns:a16="http://schemas.microsoft.com/office/drawing/2014/main" val="270003768"/>
                  </a:ext>
                </a:extLst>
              </a:tr>
            </a:tbl>
          </a:graphicData>
        </a:graphic>
      </p:graphicFrame>
    </p:spTree>
    <p:extLst>
      <p:ext uri="{BB962C8B-B14F-4D97-AF65-F5344CB8AC3E}">
        <p14:creationId xmlns:p14="http://schemas.microsoft.com/office/powerpoint/2010/main" val="42220905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89FB23DD-DBA1-B187-1D50-CDEE18F42022}"/>
              </a:ext>
            </a:extLst>
          </p:cNvPr>
          <p:cNvSpPr/>
          <p:nvPr/>
        </p:nvSpPr>
        <p:spPr>
          <a:xfrm>
            <a:off x="305" y="0"/>
            <a:ext cx="12191695" cy="594360"/>
          </a:xfrm>
          <a:prstGeom prst="rect">
            <a:avLst/>
          </a:prstGeom>
          <a:solidFill>
            <a:srgbClr val="CC0033"/>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lang="en-US" sz="2000" b="1" dirty="0">
                <a:solidFill>
                  <a:schemeClr val="bg1"/>
                </a:solidFill>
                <a:latin typeface="Calibri"/>
              </a:rPr>
              <a:t>Preliminary Results  - Charts </a:t>
            </a:r>
          </a:p>
        </p:txBody>
      </p:sp>
      <p:sp>
        <p:nvSpPr>
          <p:cNvPr id="5" name="TextBox 4">
            <a:extLst>
              <a:ext uri="{FF2B5EF4-FFF2-40B4-BE49-F238E27FC236}">
                <a16:creationId xmlns:a16="http://schemas.microsoft.com/office/drawing/2014/main" id="{B2BC3ACC-16F2-1DF5-D7B9-FFA0482C96DA}"/>
              </a:ext>
            </a:extLst>
          </p:cNvPr>
          <p:cNvSpPr txBox="1"/>
          <p:nvPr/>
        </p:nvSpPr>
        <p:spPr>
          <a:xfrm>
            <a:off x="2983463" y="2404007"/>
            <a:ext cx="6172200" cy="2862322"/>
          </a:xfrm>
          <a:prstGeom prst="rect">
            <a:avLst/>
          </a:prstGeom>
          <a:noFill/>
        </p:spPr>
        <p:txBody>
          <a:bodyPr wrap="square">
            <a:spAutoFit/>
          </a:bodyPr>
          <a:lstStyle/>
          <a:p>
            <a:r>
              <a:rPr lang="en-US" sz="1800" b="1" dirty="0"/>
              <a:t>Research Platform &amp; Reproducibility</a:t>
            </a:r>
          </a:p>
          <a:p>
            <a:endParaRPr lang="en-US" sz="1800" dirty="0"/>
          </a:p>
          <a:p>
            <a:r>
              <a:rPr lang="en-US" sz="1800" b="1" dirty="0"/>
              <a:t>Interactive Analysis Platform:</a:t>
            </a:r>
            <a:br>
              <a:rPr lang="en-US" sz="1800" dirty="0"/>
            </a:br>
            <a:r>
              <a:rPr lang="en-US" sz="1800" dirty="0">
                <a:hlinkClick r:id="rId2"/>
              </a:rPr>
              <a:t>Monetary Policy Research Lab</a:t>
            </a:r>
            <a:endParaRPr lang="en-US" sz="1800" dirty="0"/>
          </a:p>
          <a:p>
            <a:r>
              <a:rPr lang="en-US" dirty="0">
                <a:hlinkClick r:id="rId3"/>
              </a:rPr>
              <a:t>https://monetary-policy-lab.streamlit.app/</a:t>
            </a:r>
            <a:endParaRPr lang="en-US" dirty="0"/>
          </a:p>
          <a:p>
            <a:r>
              <a:rPr lang="en-US" dirty="0"/>
              <a:t> </a:t>
            </a:r>
            <a:r>
              <a:rPr lang="en-US" sz="1800" dirty="0"/>
              <a:t>( all charts and research results) </a:t>
            </a:r>
          </a:p>
          <a:p>
            <a:endParaRPr lang="en-US" sz="1800" dirty="0"/>
          </a:p>
          <a:p>
            <a:r>
              <a:rPr lang="en-US" sz="1800" b="1" dirty="0"/>
              <a:t>Code &amp; Reproducibility:</a:t>
            </a:r>
            <a:br>
              <a:rPr lang="en-US" sz="1800" dirty="0"/>
            </a:br>
            <a:r>
              <a:rPr lang="en-US" sz="1800" dirty="0">
                <a:hlinkClick r:id="rId4"/>
              </a:rPr>
              <a:t>GitHub Repository — Monetary Policy Research Lab</a:t>
            </a:r>
            <a:endParaRPr lang="en-US" sz="1800" dirty="0"/>
          </a:p>
          <a:p>
            <a:r>
              <a:rPr lang="en-US" dirty="0">
                <a:hlinkClick r:id="rId4"/>
              </a:rPr>
              <a:t>GitHub - dechang64/monetary-policy-lab · GitHub</a:t>
            </a:r>
            <a:endParaRPr lang="en-US" sz="1800" dirty="0"/>
          </a:p>
        </p:txBody>
      </p:sp>
    </p:spTree>
    <p:extLst>
      <p:ext uri="{BB962C8B-B14F-4D97-AF65-F5344CB8AC3E}">
        <p14:creationId xmlns:p14="http://schemas.microsoft.com/office/powerpoint/2010/main" val="16533783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B48EEE-94A4-AA44-5AFE-DE35B2D1FE14}"/>
              </a:ext>
            </a:extLst>
          </p:cNvPr>
          <p:cNvPicPr>
            <a:picLocks noChangeAspect="1"/>
          </p:cNvPicPr>
          <p:nvPr/>
        </p:nvPicPr>
        <p:blipFill>
          <a:blip r:embed="rId2"/>
          <a:stretch>
            <a:fillRect/>
          </a:stretch>
        </p:blipFill>
        <p:spPr>
          <a:xfrm>
            <a:off x="881062" y="1368028"/>
            <a:ext cx="10429875" cy="4121944"/>
          </a:xfrm>
          <a:prstGeom prst="rect">
            <a:avLst/>
          </a:prstGeom>
        </p:spPr>
      </p:pic>
      <p:sp>
        <p:nvSpPr>
          <p:cNvPr id="5" name="TextBox 4">
            <a:extLst>
              <a:ext uri="{FF2B5EF4-FFF2-40B4-BE49-F238E27FC236}">
                <a16:creationId xmlns:a16="http://schemas.microsoft.com/office/drawing/2014/main" id="{8A2E4EB3-7E2A-BCEB-97D1-730B8B583763}"/>
              </a:ext>
            </a:extLst>
          </p:cNvPr>
          <p:cNvSpPr txBox="1"/>
          <p:nvPr/>
        </p:nvSpPr>
        <p:spPr>
          <a:xfrm>
            <a:off x="191904" y="185354"/>
            <a:ext cx="6094140" cy="646331"/>
          </a:xfrm>
          <a:prstGeom prst="rect">
            <a:avLst/>
          </a:prstGeom>
          <a:noFill/>
        </p:spPr>
        <p:txBody>
          <a:bodyPr wrap="square">
            <a:spAutoFit/>
          </a:bodyPr>
          <a:lstStyle/>
          <a:p>
            <a:r>
              <a:rPr lang="en-US" sz="1800" dirty="0">
                <a:latin typeface="Calibri"/>
              </a:rPr>
              <a:t>H1: Target and Path monetary-policy surprises are associated with FOMC statement sentiment.</a:t>
            </a:r>
          </a:p>
        </p:txBody>
      </p:sp>
    </p:spTree>
    <p:extLst>
      <p:ext uri="{BB962C8B-B14F-4D97-AF65-F5344CB8AC3E}">
        <p14:creationId xmlns:p14="http://schemas.microsoft.com/office/powerpoint/2010/main" val="124731753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F37BA9-71DD-DD87-2708-382638F6BE84}"/>
              </a:ext>
            </a:extLst>
          </p:cNvPr>
          <p:cNvPicPr>
            <a:picLocks noChangeAspect="1"/>
          </p:cNvPicPr>
          <p:nvPr/>
        </p:nvPicPr>
        <p:blipFill>
          <a:blip r:embed="rId2"/>
          <a:stretch>
            <a:fillRect/>
          </a:stretch>
        </p:blipFill>
        <p:spPr>
          <a:xfrm>
            <a:off x="881062" y="1378743"/>
            <a:ext cx="10429875" cy="4100513"/>
          </a:xfrm>
          <a:prstGeom prst="rect">
            <a:avLst/>
          </a:prstGeom>
        </p:spPr>
      </p:pic>
      <p:sp>
        <p:nvSpPr>
          <p:cNvPr id="5" name="TextBox 4">
            <a:extLst>
              <a:ext uri="{FF2B5EF4-FFF2-40B4-BE49-F238E27FC236}">
                <a16:creationId xmlns:a16="http://schemas.microsoft.com/office/drawing/2014/main" id="{7F4708B2-B230-45A6-616B-D3CFFA2BB02D}"/>
              </a:ext>
            </a:extLst>
          </p:cNvPr>
          <p:cNvSpPr txBox="1"/>
          <p:nvPr/>
        </p:nvSpPr>
        <p:spPr>
          <a:xfrm>
            <a:off x="109635" y="157362"/>
            <a:ext cx="6097554" cy="646331"/>
          </a:xfrm>
          <a:prstGeom prst="rect">
            <a:avLst/>
          </a:prstGeom>
          <a:noFill/>
        </p:spPr>
        <p:txBody>
          <a:bodyPr wrap="square">
            <a:spAutoFit/>
          </a:bodyPr>
          <a:lstStyle/>
          <a:p>
            <a:r>
              <a:rPr lang="en-US" sz="1800" dirty="0">
                <a:latin typeface="Calibri"/>
              </a:rPr>
              <a:t>H1: Target and Path monetary-policy surprises are associated with FOMC statement sentiment.</a:t>
            </a:r>
          </a:p>
        </p:txBody>
      </p:sp>
    </p:spTree>
    <p:extLst>
      <p:ext uri="{BB962C8B-B14F-4D97-AF65-F5344CB8AC3E}">
        <p14:creationId xmlns:p14="http://schemas.microsoft.com/office/powerpoint/2010/main" val="397116890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24C447-C4DD-4838-03EE-1D20F25E92F7}"/>
              </a:ext>
            </a:extLst>
          </p:cNvPr>
          <p:cNvPicPr>
            <a:picLocks noChangeAspect="1"/>
          </p:cNvPicPr>
          <p:nvPr/>
        </p:nvPicPr>
        <p:blipFill>
          <a:blip r:embed="rId2"/>
          <a:stretch>
            <a:fillRect/>
          </a:stretch>
        </p:blipFill>
        <p:spPr>
          <a:xfrm>
            <a:off x="554490" y="1684903"/>
            <a:ext cx="10429875" cy="4271963"/>
          </a:xfrm>
          <a:prstGeom prst="rect">
            <a:avLst/>
          </a:prstGeom>
        </p:spPr>
      </p:pic>
      <p:sp>
        <p:nvSpPr>
          <p:cNvPr id="5" name="TextBox 4">
            <a:extLst>
              <a:ext uri="{FF2B5EF4-FFF2-40B4-BE49-F238E27FC236}">
                <a16:creationId xmlns:a16="http://schemas.microsoft.com/office/drawing/2014/main" id="{EBEF48A6-6F9D-63F0-3D8E-3BC7A925932E}"/>
              </a:ext>
            </a:extLst>
          </p:cNvPr>
          <p:cNvSpPr txBox="1"/>
          <p:nvPr/>
        </p:nvSpPr>
        <p:spPr>
          <a:xfrm>
            <a:off x="109635" y="138700"/>
            <a:ext cx="6097554" cy="646331"/>
          </a:xfrm>
          <a:prstGeom prst="rect">
            <a:avLst/>
          </a:prstGeom>
          <a:noFill/>
        </p:spPr>
        <p:txBody>
          <a:bodyPr wrap="square">
            <a:spAutoFit/>
          </a:bodyPr>
          <a:lstStyle/>
          <a:p>
            <a:r>
              <a:rPr lang="en-US" sz="1800" dirty="0">
                <a:latin typeface="Calibri"/>
              </a:rPr>
              <a:t>H1: Target and Path monetary-policy surprises are associated with FOMC statement sentiment.</a:t>
            </a:r>
          </a:p>
        </p:txBody>
      </p:sp>
    </p:spTree>
    <p:extLst>
      <p:ext uri="{BB962C8B-B14F-4D97-AF65-F5344CB8AC3E}">
        <p14:creationId xmlns:p14="http://schemas.microsoft.com/office/powerpoint/2010/main" val="281331875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21B34A7-7143-C291-2DF1-04D4A371E3C2}"/>
              </a:ext>
            </a:extLst>
          </p:cNvPr>
          <p:cNvPicPr>
            <a:picLocks noChangeAspect="1"/>
          </p:cNvPicPr>
          <p:nvPr/>
        </p:nvPicPr>
        <p:blipFill>
          <a:blip r:embed="rId2"/>
          <a:stretch>
            <a:fillRect/>
          </a:stretch>
        </p:blipFill>
        <p:spPr>
          <a:xfrm>
            <a:off x="1399592" y="678669"/>
            <a:ext cx="9825135" cy="5861433"/>
          </a:xfrm>
          <a:prstGeom prst="rect">
            <a:avLst/>
          </a:prstGeom>
        </p:spPr>
      </p:pic>
      <p:sp>
        <p:nvSpPr>
          <p:cNvPr id="5" name="TextBox 4">
            <a:extLst>
              <a:ext uri="{FF2B5EF4-FFF2-40B4-BE49-F238E27FC236}">
                <a16:creationId xmlns:a16="http://schemas.microsoft.com/office/drawing/2014/main" id="{777D2982-E888-317D-68FD-DF8AD57F6FD2}"/>
              </a:ext>
            </a:extLst>
          </p:cNvPr>
          <p:cNvSpPr txBox="1"/>
          <p:nvPr/>
        </p:nvSpPr>
        <p:spPr>
          <a:xfrm>
            <a:off x="-1555" y="0"/>
            <a:ext cx="6097554" cy="646331"/>
          </a:xfrm>
          <a:prstGeom prst="rect">
            <a:avLst/>
          </a:prstGeom>
          <a:noFill/>
        </p:spPr>
        <p:txBody>
          <a:bodyPr wrap="square">
            <a:spAutoFit/>
          </a:bodyPr>
          <a:lstStyle/>
          <a:p>
            <a:r>
              <a:rPr lang="en-US" sz="1800" dirty="0">
                <a:latin typeface="Calibri"/>
              </a:rPr>
              <a:t>H1: Target and Path monetary-policy surprises are associated with FOMC statement sentiment.</a:t>
            </a:r>
          </a:p>
        </p:txBody>
      </p:sp>
    </p:spTree>
    <p:extLst>
      <p:ext uri="{BB962C8B-B14F-4D97-AF65-F5344CB8AC3E}">
        <p14:creationId xmlns:p14="http://schemas.microsoft.com/office/powerpoint/2010/main" val="35286791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078718-096F-8804-ED2D-74698BA49319}"/>
              </a:ext>
            </a:extLst>
          </p:cNvPr>
          <p:cNvPicPr>
            <a:picLocks noChangeAspect="1"/>
          </p:cNvPicPr>
          <p:nvPr/>
        </p:nvPicPr>
        <p:blipFill>
          <a:blip r:embed="rId2"/>
          <a:stretch>
            <a:fillRect/>
          </a:stretch>
        </p:blipFill>
        <p:spPr>
          <a:xfrm>
            <a:off x="881062" y="1785937"/>
            <a:ext cx="10429875" cy="3286125"/>
          </a:xfrm>
          <a:prstGeom prst="rect">
            <a:avLst/>
          </a:prstGeom>
        </p:spPr>
      </p:pic>
      <p:sp>
        <p:nvSpPr>
          <p:cNvPr id="5" name="TextBox 4">
            <a:extLst>
              <a:ext uri="{FF2B5EF4-FFF2-40B4-BE49-F238E27FC236}">
                <a16:creationId xmlns:a16="http://schemas.microsoft.com/office/drawing/2014/main" id="{BAEE0946-9264-2B1D-7D45-9747DC224632}"/>
              </a:ext>
            </a:extLst>
          </p:cNvPr>
          <p:cNvSpPr txBox="1"/>
          <p:nvPr/>
        </p:nvSpPr>
        <p:spPr>
          <a:xfrm>
            <a:off x="511277" y="254481"/>
            <a:ext cx="6096000" cy="646331"/>
          </a:xfrm>
          <a:prstGeom prst="rect">
            <a:avLst/>
          </a:prstGeom>
          <a:noFill/>
        </p:spPr>
        <p:txBody>
          <a:bodyPr wrap="square">
            <a:spAutoFit/>
          </a:bodyPr>
          <a:lstStyle/>
          <a:p>
            <a:r>
              <a:rPr lang="en-US" dirty="0">
                <a:latin typeface="Calibri"/>
              </a:rPr>
              <a:t>H1: Target and Path monetary-policy surprises are associated with FOMC statement sentiment.</a:t>
            </a:r>
          </a:p>
        </p:txBody>
      </p:sp>
      <p:sp>
        <p:nvSpPr>
          <p:cNvPr id="7" name="TextBox 6">
            <a:extLst>
              <a:ext uri="{FF2B5EF4-FFF2-40B4-BE49-F238E27FC236}">
                <a16:creationId xmlns:a16="http://schemas.microsoft.com/office/drawing/2014/main" id="{69299DF8-F097-D2E2-6BC5-7C38933B0CD8}"/>
              </a:ext>
            </a:extLst>
          </p:cNvPr>
          <p:cNvSpPr txBox="1"/>
          <p:nvPr/>
        </p:nvSpPr>
        <p:spPr>
          <a:xfrm>
            <a:off x="766916" y="5309870"/>
            <a:ext cx="5055386" cy="830997"/>
          </a:xfrm>
          <a:prstGeom prst="rect">
            <a:avLst/>
          </a:prstGeom>
          <a:noFill/>
        </p:spPr>
        <p:txBody>
          <a:bodyPr wrap="square">
            <a:spAutoFit/>
          </a:bodyPr>
          <a:lstStyle/>
          <a:p>
            <a:r>
              <a:rPr lang="en-US" sz="1600" b="1" dirty="0">
                <a:latin typeface="Calibri"/>
              </a:rPr>
              <a:t>Result:</a:t>
            </a:r>
            <a:r>
              <a:rPr lang="en-US" sz="1600" dirty="0">
                <a:latin typeface="Calibri"/>
              </a:rPr>
              <a:t> Target shocks are significantly associated with statement sentiment (β = 0.000577, p = 0.017), while Path shocks are not (p = 0.152). </a:t>
            </a:r>
          </a:p>
        </p:txBody>
      </p:sp>
      <p:sp>
        <p:nvSpPr>
          <p:cNvPr id="9" name="TextBox 8">
            <a:extLst>
              <a:ext uri="{FF2B5EF4-FFF2-40B4-BE49-F238E27FC236}">
                <a16:creationId xmlns:a16="http://schemas.microsoft.com/office/drawing/2014/main" id="{02A298AB-1824-A827-972E-EED5B4B88B55}"/>
              </a:ext>
            </a:extLst>
          </p:cNvPr>
          <p:cNvSpPr txBox="1"/>
          <p:nvPr/>
        </p:nvSpPr>
        <p:spPr>
          <a:xfrm>
            <a:off x="707923" y="6234187"/>
            <a:ext cx="6096000" cy="369332"/>
          </a:xfrm>
          <a:prstGeom prst="rect">
            <a:avLst/>
          </a:prstGeom>
          <a:noFill/>
        </p:spPr>
        <p:txBody>
          <a:bodyPr wrap="square">
            <a:spAutoFit/>
          </a:bodyPr>
          <a:lstStyle/>
          <a:p>
            <a:r>
              <a:rPr lang="en-US" dirty="0">
                <a:latin typeface="Calibri"/>
              </a:rPr>
              <a:t>H1 supported primarily through the Target shock.</a:t>
            </a:r>
          </a:p>
        </p:txBody>
      </p:sp>
      <p:graphicFrame>
        <p:nvGraphicFramePr>
          <p:cNvPr id="2" name="Table 1">
            <a:extLst>
              <a:ext uri="{FF2B5EF4-FFF2-40B4-BE49-F238E27FC236}">
                <a16:creationId xmlns:a16="http://schemas.microsoft.com/office/drawing/2014/main" id="{C05C0E43-1235-1782-094D-93E320CC7C82}"/>
              </a:ext>
            </a:extLst>
          </p:cNvPr>
          <p:cNvGraphicFramePr>
            <a:graphicFrameLocks noGrp="1"/>
          </p:cNvGraphicFramePr>
          <p:nvPr>
            <p:extLst>
              <p:ext uri="{D42A27DB-BD31-4B8C-83A1-F6EECF244321}">
                <p14:modId xmlns:p14="http://schemas.microsoft.com/office/powerpoint/2010/main" val="3113652869"/>
              </p:ext>
            </p:extLst>
          </p:nvPr>
        </p:nvGraphicFramePr>
        <p:xfrm>
          <a:off x="5950131" y="5430517"/>
          <a:ext cx="6126480" cy="1053339"/>
        </p:xfrm>
        <a:graphic>
          <a:graphicData uri="http://schemas.openxmlformats.org/drawingml/2006/table">
            <a:tbl>
              <a:tblPr firstRow="1" firstCol="1" bandRow="1">
                <a:tableStyleId>{5C22544A-7EE6-4342-B048-85BDC9FD1C3A}</a:tableStyleId>
              </a:tblPr>
              <a:tblGrid>
                <a:gridCol w="1531620">
                  <a:extLst>
                    <a:ext uri="{9D8B030D-6E8A-4147-A177-3AD203B41FA5}">
                      <a16:colId xmlns:a16="http://schemas.microsoft.com/office/drawing/2014/main" val="3389286995"/>
                    </a:ext>
                  </a:extLst>
                </a:gridCol>
                <a:gridCol w="1531620">
                  <a:extLst>
                    <a:ext uri="{9D8B030D-6E8A-4147-A177-3AD203B41FA5}">
                      <a16:colId xmlns:a16="http://schemas.microsoft.com/office/drawing/2014/main" val="2720657624"/>
                    </a:ext>
                  </a:extLst>
                </a:gridCol>
                <a:gridCol w="1531620">
                  <a:extLst>
                    <a:ext uri="{9D8B030D-6E8A-4147-A177-3AD203B41FA5}">
                      <a16:colId xmlns:a16="http://schemas.microsoft.com/office/drawing/2014/main" val="4257119183"/>
                    </a:ext>
                  </a:extLst>
                </a:gridCol>
                <a:gridCol w="1531620">
                  <a:extLst>
                    <a:ext uri="{9D8B030D-6E8A-4147-A177-3AD203B41FA5}">
                      <a16:colId xmlns:a16="http://schemas.microsoft.com/office/drawing/2014/main" val="3560253175"/>
                    </a:ext>
                  </a:extLst>
                </a:gridCol>
              </a:tblGrid>
              <a:tr h="0">
                <a:tc>
                  <a:txBody>
                    <a:bodyPr/>
                    <a:lstStyle/>
                    <a:p>
                      <a:pPr marL="0" marR="0">
                        <a:lnSpc>
                          <a:spcPct val="107000"/>
                        </a:lnSpc>
                        <a:spcAft>
                          <a:spcPts val="600"/>
                        </a:spcAft>
                        <a:buNone/>
                      </a:pPr>
                      <a:r>
                        <a:rPr lang="en-US" sz="900">
                          <a:effectLst/>
                        </a:rPr>
                        <a:t>Variable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Coefficient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p-value</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Interpretation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374397255"/>
                  </a:ext>
                </a:extLst>
              </a:tr>
              <a:tr h="0">
                <a:tc>
                  <a:txBody>
                    <a:bodyPr/>
                    <a:lstStyle/>
                    <a:p>
                      <a:pPr marL="0" marR="0">
                        <a:lnSpc>
                          <a:spcPct val="107000"/>
                        </a:lnSpc>
                        <a:spcAft>
                          <a:spcPts val="600"/>
                        </a:spcAft>
                        <a:buNone/>
                      </a:pPr>
                      <a:r>
                        <a:rPr lang="en-US" sz="900">
                          <a:effectLst/>
                        </a:rPr>
                        <a:t>Target shock</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0.000577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0.017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Significant positive association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77383911"/>
                  </a:ext>
                </a:extLst>
              </a:tr>
              <a:tr h="0">
                <a:tc>
                  <a:txBody>
                    <a:bodyPr/>
                    <a:lstStyle/>
                    <a:p>
                      <a:pPr marL="0" marR="0">
                        <a:lnSpc>
                          <a:spcPct val="107000"/>
                        </a:lnSpc>
                        <a:spcAft>
                          <a:spcPts val="600"/>
                        </a:spcAft>
                        <a:buNone/>
                      </a:pPr>
                      <a:r>
                        <a:rPr lang="en-US" sz="900">
                          <a:effectLst/>
                        </a:rPr>
                        <a:t>Path shock</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0.000633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0.152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Positive, not statistically significant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335367462"/>
                  </a:ext>
                </a:extLst>
              </a:tr>
              <a:tr h="0">
                <a:tc>
                  <a:txBody>
                    <a:bodyPr/>
                    <a:lstStyle/>
                    <a:p>
                      <a:pPr marL="0" marR="0">
                        <a:lnSpc>
                          <a:spcPct val="107000"/>
                        </a:lnSpc>
                        <a:spcAft>
                          <a:spcPts val="600"/>
                        </a:spcAft>
                        <a:buNone/>
                      </a:pPr>
                      <a:r>
                        <a:rPr lang="en-US" sz="900">
                          <a:effectLst/>
                        </a:rPr>
                        <a:t>R²</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1.57%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11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Modest explanatory power</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85493349"/>
                  </a:ext>
                </a:extLst>
              </a:tr>
              <a:tr h="0">
                <a:tc>
                  <a:txBody>
                    <a:bodyPr/>
                    <a:lstStyle/>
                    <a:p>
                      <a:pPr marL="0" marR="0">
                        <a:lnSpc>
                          <a:spcPct val="107000"/>
                        </a:lnSpc>
                        <a:spcAft>
                          <a:spcPts val="600"/>
                        </a:spcAft>
                        <a:buNone/>
                      </a:pPr>
                      <a:r>
                        <a:rPr lang="en-US" sz="900">
                          <a:effectLst/>
                        </a:rPr>
                        <a:t>N</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117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1100">
                          <a:effectLst/>
                        </a:rPr>
                        <a:t> </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dirty="0">
                          <a:effectLst/>
                        </a:rPr>
                        <a:t>FOMC meetings</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3208001805"/>
                  </a:ext>
                </a:extLst>
              </a:tr>
            </a:tbl>
          </a:graphicData>
        </a:graphic>
      </p:graphicFrame>
    </p:spTree>
    <p:extLst>
      <p:ext uri="{BB962C8B-B14F-4D97-AF65-F5344CB8AC3E}">
        <p14:creationId xmlns:p14="http://schemas.microsoft.com/office/powerpoint/2010/main" val="4899668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72D743-A90D-198C-4852-15E184627BDA}"/>
              </a:ext>
            </a:extLst>
          </p:cNvPr>
          <p:cNvPicPr>
            <a:picLocks noChangeAspect="1"/>
          </p:cNvPicPr>
          <p:nvPr/>
        </p:nvPicPr>
        <p:blipFill>
          <a:blip r:embed="rId2"/>
          <a:stretch>
            <a:fillRect/>
          </a:stretch>
        </p:blipFill>
        <p:spPr>
          <a:xfrm>
            <a:off x="1097372" y="1606874"/>
            <a:ext cx="10429875" cy="3850481"/>
          </a:xfrm>
          <a:prstGeom prst="rect">
            <a:avLst/>
          </a:prstGeom>
        </p:spPr>
      </p:pic>
      <p:sp>
        <p:nvSpPr>
          <p:cNvPr id="5" name="TextBox 4">
            <a:extLst>
              <a:ext uri="{FF2B5EF4-FFF2-40B4-BE49-F238E27FC236}">
                <a16:creationId xmlns:a16="http://schemas.microsoft.com/office/drawing/2014/main" id="{AECAEF1E-B31B-BBEE-1525-B447977BB9F4}"/>
              </a:ext>
            </a:extLst>
          </p:cNvPr>
          <p:cNvSpPr txBox="1"/>
          <p:nvPr/>
        </p:nvSpPr>
        <p:spPr>
          <a:xfrm>
            <a:off x="580104" y="5251127"/>
            <a:ext cx="5515895" cy="1200329"/>
          </a:xfrm>
          <a:prstGeom prst="rect">
            <a:avLst/>
          </a:prstGeom>
          <a:noFill/>
        </p:spPr>
        <p:txBody>
          <a:bodyPr wrap="square">
            <a:spAutoFit/>
          </a:bodyPr>
          <a:lstStyle/>
          <a:p>
            <a:r>
              <a:rPr lang="en-US" b="1" dirty="0">
                <a:latin typeface="Calibri"/>
              </a:rPr>
              <a:t>Result:</a:t>
            </a:r>
            <a:r>
              <a:rPr lang="en-US" dirty="0">
                <a:latin typeface="Calibri"/>
              </a:rPr>
              <a:t> Statement sentiment provides limited incremental explanatory power in the full sample, with marginal evidence for the S&amp;P 500 (p = 0.088) and 10-year Treasury (p = 0.098).</a:t>
            </a:r>
          </a:p>
        </p:txBody>
      </p:sp>
      <p:sp>
        <p:nvSpPr>
          <p:cNvPr id="7" name="TextBox 6">
            <a:extLst>
              <a:ext uri="{FF2B5EF4-FFF2-40B4-BE49-F238E27FC236}">
                <a16:creationId xmlns:a16="http://schemas.microsoft.com/office/drawing/2014/main" id="{3D78B09E-BA7D-3FB4-F16A-D3345C2E640D}"/>
              </a:ext>
            </a:extLst>
          </p:cNvPr>
          <p:cNvSpPr txBox="1"/>
          <p:nvPr/>
        </p:nvSpPr>
        <p:spPr>
          <a:xfrm>
            <a:off x="690465" y="6519523"/>
            <a:ext cx="6096000" cy="369332"/>
          </a:xfrm>
          <a:prstGeom prst="rect">
            <a:avLst/>
          </a:prstGeom>
          <a:noFill/>
        </p:spPr>
        <p:txBody>
          <a:bodyPr wrap="square">
            <a:spAutoFit/>
          </a:bodyPr>
          <a:lstStyle/>
          <a:p>
            <a:r>
              <a:rPr lang="en-US" dirty="0">
                <a:latin typeface="Calibri"/>
              </a:rPr>
              <a:t>→ H2 receives limited / partial support.</a:t>
            </a:r>
          </a:p>
        </p:txBody>
      </p:sp>
      <p:sp>
        <p:nvSpPr>
          <p:cNvPr id="9" name="TextBox 8">
            <a:extLst>
              <a:ext uri="{FF2B5EF4-FFF2-40B4-BE49-F238E27FC236}">
                <a16:creationId xmlns:a16="http://schemas.microsoft.com/office/drawing/2014/main" id="{7A92602B-F9A4-1486-DB6A-3F530D9BBACE}"/>
              </a:ext>
            </a:extLst>
          </p:cNvPr>
          <p:cNvSpPr txBox="1"/>
          <p:nvPr/>
        </p:nvSpPr>
        <p:spPr>
          <a:xfrm>
            <a:off x="793954" y="175713"/>
            <a:ext cx="11250561" cy="1200329"/>
          </a:xfrm>
          <a:prstGeom prst="rect">
            <a:avLst/>
          </a:prstGeom>
          <a:noFill/>
        </p:spPr>
        <p:txBody>
          <a:bodyPr wrap="square">
            <a:spAutoFit/>
          </a:bodyPr>
          <a:lstStyle/>
          <a:p>
            <a:pPr>
              <a:buNone/>
            </a:pPr>
            <a:r>
              <a:rPr lang="en-US" b="1" dirty="0">
                <a:latin typeface="Calibri"/>
              </a:rPr>
              <a:t>H2: Incremental Information</a:t>
            </a:r>
          </a:p>
          <a:p>
            <a:pPr>
              <a:buNone/>
            </a:pPr>
            <a:r>
              <a:rPr lang="en-US" b="1" dirty="0">
                <a:latin typeface="Calibri"/>
              </a:rPr>
              <a:t>FOMC statement sentiment contains incremental explanatory information for asset prices after controlling for Target and Path monetary-policy surprises. (</a:t>
            </a:r>
            <a:r>
              <a:rPr lang="en-US" dirty="0">
                <a:latin typeface="Calibri"/>
              </a:rPr>
              <a:t>After we already know the Target and Path shocks, do the Fed’s words tell us anything additional about asset prices?) </a:t>
            </a:r>
          </a:p>
        </p:txBody>
      </p:sp>
      <p:graphicFrame>
        <p:nvGraphicFramePr>
          <p:cNvPr id="2" name="Table 1">
            <a:extLst>
              <a:ext uri="{FF2B5EF4-FFF2-40B4-BE49-F238E27FC236}">
                <a16:creationId xmlns:a16="http://schemas.microsoft.com/office/drawing/2014/main" id="{228821B4-4DE2-45A7-F8F7-F02F8DDBDA41}"/>
              </a:ext>
            </a:extLst>
          </p:cNvPr>
          <p:cNvGraphicFramePr>
            <a:graphicFrameLocks noGrp="1"/>
          </p:cNvGraphicFramePr>
          <p:nvPr>
            <p:extLst>
              <p:ext uri="{D42A27DB-BD31-4B8C-83A1-F6EECF244321}">
                <p14:modId xmlns:p14="http://schemas.microsoft.com/office/powerpoint/2010/main" val="865172367"/>
              </p:ext>
            </p:extLst>
          </p:nvPr>
        </p:nvGraphicFramePr>
        <p:xfrm>
          <a:off x="5918035" y="5183060"/>
          <a:ext cx="6126480" cy="1207473"/>
        </p:xfrm>
        <a:graphic>
          <a:graphicData uri="http://schemas.openxmlformats.org/drawingml/2006/table">
            <a:tbl>
              <a:tblPr firstRow="1" firstCol="1" bandRow="1">
                <a:tableStyleId>{5C22544A-7EE6-4342-B048-85BDC9FD1C3A}</a:tableStyleId>
              </a:tblPr>
              <a:tblGrid>
                <a:gridCol w="1021080">
                  <a:extLst>
                    <a:ext uri="{9D8B030D-6E8A-4147-A177-3AD203B41FA5}">
                      <a16:colId xmlns:a16="http://schemas.microsoft.com/office/drawing/2014/main" val="88017603"/>
                    </a:ext>
                  </a:extLst>
                </a:gridCol>
                <a:gridCol w="1021080">
                  <a:extLst>
                    <a:ext uri="{9D8B030D-6E8A-4147-A177-3AD203B41FA5}">
                      <a16:colId xmlns:a16="http://schemas.microsoft.com/office/drawing/2014/main" val="1318528884"/>
                    </a:ext>
                  </a:extLst>
                </a:gridCol>
                <a:gridCol w="1021080">
                  <a:extLst>
                    <a:ext uri="{9D8B030D-6E8A-4147-A177-3AD203B41FA5}">
                      <a16:colId xmlns:a16="http://schemas.microsoft.com/office/drawing/2014/main" val="4033007555"/>
                    </a:ext>
                  </a:extLst>
                </a:gridCol>
                <a:gridCol w="1021080">
                  <a:extLst>
                    <a:ext uri="{9D8B030D-6E8A-4147-A177-3AD203B41FA5}">
                      <a16:colId xmlns:a16="http://schemas.microsoft.com/office/drawing/2014/main" val="1573763440"/>
                    </a:ext>
                  </a:extLst>
                </a:gridCol>
                <a:gridCol w="1021080">
                  <a:extLst>
                    <a:ext uri="{9D8B030D-6E8A-4147-A177-3AD203B41FA5}">
                      <a16:colId xmlns:a16="http://schemas.microsoft.com/office/drawing/2014/main" val="4156690010"/>
                    </a:ext>
                  </a:extLst>
                </a:gridCol>
                <a:gridCol w="1021080">
                  <a:extLst>
                    <a:ext uri="{9D8B030D-6E8A-4147-A177-3AD203B41FA5}">
                      <a16:colId xmlns:a16="http://schemas.microsoft.com/office/drawing/2014/main" val="4125508622"/>
                    </a:ext>
                  </a:extLst>
                </a:gridCol>
              </a:tblGrid>
              <a:tr h="230462">
                <a:tc>
                  <a:txBody>
                    <a:bodyPr/>
                    <a:lstStyle/>
                    <a:p>
                      <a:pPr marL="0" marR="0">
                        <a:lnSpc>
                          <a:spcPct val="107000"/>
                        </a:lnSpc>
                        <a:spcAft>
                          <a:spcPts val="600"/>
                        </a:spcAft>
                        <a:buNone/>
                      </a:pPr>
                      <a:r>
                        <a:rPr lang="en-US" sz="900">
                          <a:effectLst/>
                        </a:rPr>
                        <a:t>Asset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β Target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p(Target)</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β Path</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p(Path)</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R²</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973185047"/>
                  </a:ext>
                </a:extLst>
              </a:tr>
              <a:tr h="0">
                <a:tc>
                  <a:txBody>
                    <a:bodyPr/>
                    <a:lstStyle/>
                    <a:p>
                      <a:pPr marL="0" marR="0">
                        <a:lnSpc>
                          <a:spcPct val="107000"/>
                        </a:lnSpc>
                        <a:spcAft>
                          <a:spcPts val="600"/>
                        </a:spcAft>
                        <a:buNone/>
                      </a:pPr>
                      <a:r>
                        <a:rPr lang="en-US" sz="900">
                          <a:effectLst/>
                        </a:rPr>
                        <a:t>CRSP VW</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-0.435</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0.043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-0.186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0.443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9.10%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604034079"/>
                  </a:ext>
                </a:extLst>
              </a:tr>
              <a:tr h="0">
                <a:tc>
                  <a:txBody>
                    <a:bodyPr/>
                    <a:lstStyle/>
                    <a:p>
                      <a:pPr marL="0" marR="0">
                        <a:lnSpc>
                          <a:spcPct val="107000"/>
                        </a:lnSpc>
                        <a:spcAft>
                          <a:spcPts val="600"/>
                        </a:spcAft>
                        <a:buNone/>
                      </a:pPr>
                      <a:r>
                        <a:rPr lang="en-US" sz="900">
                          <a:effectLst/>
                        </a:rPr>
                        <a:t>CRSP EW</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-0.449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0.013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-0.174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0.479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10.30%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088605764"/>
                  </a:ext>
                </a:extLst>
              </a:tr>
              <a:tr h="0">
                <a:tc>
                  <a:txBody>
                    <a:bodyPr/>
                    <a:lstStyle/>
                    <a:p>
                      <a:pPr marL="0" marR="0">
                        <a:lnSpc>
                          <a:spcPct val="107000"/>
                        </a:lnSpc>
                        <a:spcAft>
                          <a:spcPts val="600"/>
                        </a:spcAft>
                        <a:buNone/>
                      </a:pPr>
                      <a:r>
                        <a:rPr lang="en-US" sz="900">
                          <a:effectLst/>
                        </a:rPr>
                        <a:t>S&amp;P 500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-0.391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0.073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-0.179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0.424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7.80%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2789871614"/>
                  </a:ext>
                </a:extLst>
              </a:tr>
              <a:tr h="0">
                <a:tc>
                  <a:txBody>
                    <a:bodyPr/>
                    <a:lstStyle/>
                    <a:p>
                      <a:pPr marL="0" marR="0">
                        <a:lnSpc>
                          <a:spcPct val="107000"/>
                        </a:lnSpc>
                        <a:spcAft>
                          <a:spcPts val="600"/>
                        </a:spcAft>
                        <a:buNone/>
                      </a:pPr>
                      <a:r>
                        <a:rPr lang="en-US" sz="900">
                          <a:effectLst/>
                        </a:rPr>
                        <a:t>NASDAQ</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-0.282</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0.039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-0.166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0.309</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3.40%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80465128"/>
                  </a:ext>
                </a:extLst>
              </a:tr>
              <a:tr h="0">
                <a:tc>
                  <a:txBody>
                    <a:bodyPr/>
                    <a:lstStyle/>
                    <a:p>
                      <a:pPr marL="0" marR="0">
                        <a:lnSpc>
                          <a:spcPct val="107000"/>
                        </a:lnSpc>
                        <a:spcAft>
                          <a:spcPts val="600"/>
                        </a:spcAft>
                        <a:buNone/>
                      </a:pPr>
                      <a:r>
                        <a:rPr lang="en-US" sz="900">
                          <a:effectLst/>
                        </a:rPr>
                        <a:t>Gold</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-0.404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0.014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-0.488</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0.146</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7.00%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505523760"/>
                  </a:ext>
                </a:extLst>
              </a:tr>
              <a:tr h="0">
                <a:tc>
                  <a:txBody>
                    <a:bodyPr/>
                    <a:lstStyle/>
                    <a:p>
                      <a:pPr marL="0" marR="0">
                        <a:lnSpc>
                          <a:spcPct val="107000"/>
                        </a:lnSpc>
                        <a:spcAft>
                          <a:spcPts val="600"/>
                        </a:spcAft>
                        <a:buNone/>
                      </a:pPr>
                      <a:r>
                        <a:rPr lang="en-US" sz="900">
                          <a:effectLst/>
                        </a:rPr>
                        <a:t>10Y Treasury</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0.007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0.403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-0.001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0.890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0.70%</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1238841739"/>
                  </a:ext>
                </a:extLst>
              </a:tr>
              <a:tr h="0">
                <a:tc>
                  <a:txBody>
                    <a:bodyPr/>
                    <a:lstStyle/>
                    <a:p>
                      <a:pPr marL="0" marR="0">
                        <a:lnSpc>
                          <a:spcPct val="107000"/>
                        </a:lnSpc>
                        <a:spcAft>
                          <a:spcPts val="600"/>
                        </a:spcAft>
                        <a:buNone/>
                      </a:pPr>
                      <a:r>
                        <a:rPr lang="en-US" sz="900">
                          <a:effectLst/>
                        </a:rPr>
                        <a:t>13W T-bill</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0.004</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0.491</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-0.003</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a:effectLst/>
                        </a:rPr>
                        <a:t>0.737</a:t>
                      </a:r>
                      <a:endParaRPr lang="en-US" sz="110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tc>
                  <a:txBody>
                    <a:bodyPr/>
                    <a:lstStyle/>
                    <a:p>
                      <a:pPr marL="0" marR="0">
                        <a:lnSpc>
                          <a:spcPct val="107000"/>
                        </a:lnSpc>
                        <a:spcAft>
                          <a:spcPts val="600"/>
                        </a:spcAft>
                        <a:buNone/>
                      </a:pPr>
                      <a:r>
                        <a:rPr lang="en-US" sz="900" dirty="0">
                          <a:effectLst/>
                        </a:rPr>
                        <a:t>0.70%</a:t>
                      </a:r>
                      <a:endParaRPr lang="en-US" sz="1100" dirty="0">
                        <a:effectLst/>
                        <a:latin typeface="Times New Roman" panose="02020603050405020304" pitchFamily="18" charset="0"/>
                        <a:ea typeface="Times New Roman" panose="02020603050405020304" pitchFamily="18" charset="0"/>
                        <a:cs typeface="Times New Roman" panose="02020603050405020304" pitchFamily="18" charset="0"/>
                      </a:endParaRPr>
                    </a:p>
                  </a:txBody>
                  <a:tcPr marL="68580" marR="68580" marT="0" marB="0" anchor="ctr"/>
                </a:tc>
                <a:extLst>
                  <a:ext uri="{0D108BD9-81ED-4DB2-BD59-A6C34878D82A}">
                    <a16:rowId xmlns:a16="http://schemas.microsoft.com/office/drawing/2014/main" val="701223624"/>
                  </a:ext>
                </a:extLst>
              </a:tr>
            </a:tbl>
          </a:graphicData>
        </a:graphic>
      </p:graphicFrame>
    </p:spTree>
    <p:extLst>
      <p:ext uri="{BB962C8B-B14F-4D97-AF65-F5344CB8AC3E}">
        <p14:creationId xmlns:p14="http://schemas.microsoft.com/office/powerpoint/2010/main" val="1758345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D674DA-560E-4014-D0B5-D4AE09ECFC5D}"/>
              </a:ext>
            </a:extLst>
          </p:cNvPr>
          <p:cNvPicPr>
            <a:picLocks noChangeAspect="1"/>
          </p:cNvPicPr>
          <p:nvPr/>
        </p:nvPicPr>
        <p:blipFill>
          <a:blip r:embed="rId2"/>
          <a:stretch>
            <a:fillRect/>
          </a:stretch>
        </p:blipFill>
        <p:spPr>
          <a:xfrm>
            <a:off x="881062" y="1378743"/>
            <a:ext cx="10429875" cy="4100513"/>
          </a:xfrm>
          <a:prstGeom prst="rect">
            <a:avLst/>
          </a:prstGeom>
        </p:spPr>
      </p:pic>
      <p:sp>
        <p:nvSpPr>
          <p:cNvPr id="5" name="TextBox 4">
            <a:extLst>
              <a:ext uri="{FF2B5EF4-FFF2-40B4-BE49-F238E27FC236}">
                <a16:creationId xmlns:a16="http://schemas.microsoft.com/office/drawing/2014/main" id="{59B354AE-EDCB-238B-4D17-E71AFBC170D2}"/>
              </a:ext>
            </a:extLst>
          </p:cNvPr>
          <p:cNvSpPr txBox="1"/>
          <p:nvPr/>
        </p:nvSpPr>
        <p:spPr>
          <a:xfrm>
            <a:off x="-1555" y="0"/>
            <a:ext cx="6097554" cy="369332"/>
          </a:xfrm>
          <a:prstGeom prst="rect">
            <a:avLst/>
          </a:prstGeom>
          <a:noFill/>
        </p:spPr>
        <p:txBody>
          <a:bodyPr wrap="square">
            <a:spAutoFit/>
          </a:bodyPr>
          <a:lstStyle/>
          <a:p>
            <a:pPr>
              <a:buNone/>
            </a:pPr>
            <a:r>
              <a:rPr lang="en-US" sz="1800" b="1" dirty="0">
                <a:latin typeface="Calibri"/>
              </a:rPr>
              <a:t>H2: Incremental Information</a:t>
            </a:r>
          </a:p>
        </p:txBody>
      </p:sp>
    </p:spTree>
    <p:extLst>
      <p:ext uri="{BB962C8B-B14F-4D97-AF65-F5344CB8AC3E}">
        <p14:creationId xmlns:p14="http://schemas.microsoft.com/office/powerpoint/2010/main" val="29584364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9C318B6-E6B8-39FF-9036-D92E4152E230}"/>
              </a:ext>
            </a:extLst>
          </p:cNvPr>
          <p:cNvPicPr>
            <a:picLocks noChangeAspect="1"/>
          </p:cNvPicPr>
          <p:nvPr/>
        </p:nvPicPr>
        <p:blipFill>
          <a:blip r:embed="rId2"/>
          <a:stretch>
            <a:fillRect/>
          </a:stretch>
        </p:blipFill>
        <p:spPr>
          <a:xfrm>
            <a:off x="2064775" y="1342325"/>
            <a:ext cx="7393858" cy="4588244"/>
          </a:xfrm>
          <a:prstGeom prst="rect">
            <a:avLst/>
          </a:prstGeom>
        </p:spPr>
      </p:pic>
      <p:pic>
        <p:nvPicPr>
          <p:cNvPr id="5" name="Picture 4">
            <a:extLst>
              <a:ext uri="{FF2B5EF4-FFF2-40B4-BE49-F238E27FC236}">
                <a16:creationId xmlns:a16="http://schemas.microsoft.com/office/drawing/2014/main" id="{20FA304E-CA04-4E61-718E-557F813ED6E8}"/>
              </a:ext>
            </a:extLst>
          </p:cNvPr>
          <p:cNvPicPr>
            <a:picLocks noChangeAspect="1"/>
          </p:cNvPicPr>
          <p:nvPr/>
        </p:nvPicPr>
        <p:blipFill>
          <a:blip r:embed="rId3"/>
          <a:stretch>
            <a:fillRect/>
          </a:stretch>
        </p:blipFill>
        <p:spPr>
          <a:xfrm>
            <a:off x="881062" y="927431"/>
            <a:ext cx="10429875" cy="4426809"/>
          </a:xfrm>
          <a:prstGeom prst="rect">
            <a:avLst/>
          </a:prstGeom>
        </p:spPr>
      </p:pic>
      <p:sp>
        <p:nvSpPr>
          <p:cNvPr id="7" name="TextBox 6">
            <a:extLst>
              <a:ext uri="{FF2B5EF4-FFF2-40B4-BE49-F238E27FC236}">
                <a16:creationId xmlns:a16="http://schemas.microsoft.com/office/drawing/2014/main" id="{6F201BBA-4E83-7F58-BA6B-6672849E6A0C}"/>
              </a:ext>
            </a:extLst>
          </p:cNvPr>
          <p:cNvSpPr txBox="1"/>
          <p:nvPr/>
        </p:nvSpPr>
        <p:spPr>
          <a:xfrm>
            <a:off x="973393" y="396664"/>
            <a:ext cx="6096000" cy="369332"/>
          </a:xfrm>
          <a:prstGeom prst="rect">
            <a:avLst/>
          </a:prstGeom>
          <a:noFill/>
        </p:spPr>
        <p:txBody>
          <a:bodyPr wrap="square">
            <a:spAutoFit/>
          </a:bodyPr>
          <a:lstStyle/>
          <a:p>
            <a:r>
              <a:rPr lang="en-US" dirty="0">
                <a:latin typeface="Calibri"/>
              </a:rPr>
              <a:t>H3: State Dependence: Model Explanatory Power by Regime</a:t>
            </a:r>
          </a:p>
        </p:txBody>
      </p:sp>
      <p:sp>
        <p:nvSpPr>
          <p:cNvPr id="9" name="TextBox 8">
            <a:extLst>
              <a:ext uri="{FF2B5EF4-FFF2-40B4-BE49-F238E27FC236}">
                <a16:creationId xmlns:a16="http://schemas.microsoft.com/office/drawing/2014/main" id="{4C7A5EC0-41A0-5824-74AE-29444FE7DBBD}"/>
              </a:ext>
            </a:extLst>
          </p:cNvPr>
          <p:cNvSpPr txBox="1"/>
          <p:nvPr/>
        </p:nvSpPr>
        <p:spPr>
          <a:xfrm>
            <a:off x="1150374" y="5870194"/>
            <a:ext cx="9655278" cy="923330"/>
          </a:xfrm>
          <a:prstGeom prst="rect">
            <a:avLst/>
          </a:prstGeom>
          <a:noFill/>
        </p:spPr>
        <p:txBody>
          <a:bodyPr wrap="square">
            <a:spAutoFit/>
          </a:bodyPr>
          <a:lstStyle/>
          <a:p>
            <a:pPr>
              <a:buNone/>
            </a:pPr>
            <a:r>
              <a:rPr lang="en-US" b="1" dirty="0">
                <a:latin typeface="Calibri"/>
              </a:rPr>
              <a:t>Result: The relationship between FOMC communication and equity returns is substantially stronger during the forward-guidance regime.</a:t>
            </a:r>
            <a:endParaRPr lang="en-US" dirty="0"/>
          </a:p>
          <a:p>
            <a:pPr>
              <a:buNone/>
            </a:pPr>
            <a:r>
              <a:rPr lang="en-US" b="1" dirty="0">
                <a:latin typeface="Calibri"/>
              </a:rPr>
              <a:t>→ H3 strongly supported.</a:t>
            </a:r>
            <a:endParaRPr lang="en-US" dirty="0"/>
          </a:p>
        </p:txBody>
      </p:sp>
    </p:spTree>
    <p:extLst>
      <p:ext uri="{BB962C8B-B14F-4D97-AF65-F5344CB8AC3E}">
        <p14:creationId xmlns:p14="http://schemas.microsoft.com/office/powerpoint/2010/main" val="9612310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38CA301-0E16-F109-C4E6-A1C6C4D74F6D}"/>
              </a:ext>
            </a:extLst>
          </p:cNvPr>
          <p:cNvPicPr>
            <a:picLocks noChangeAspect="1"/>
          </p:cNvPicPr>
          <p:nvPr/>
        </p:nvPicPr>
        <p:blipFill>
          <a:blip r:embed="rId2"/>
          <a:srcRect t="6961"/>
          <a:stretch>
            <a:fillRect/>
          </a:stretch>
        </p:blipFill>
        <p:spPr>
          <a:xfrm>
            <a:off x="436545" y="781976"/>
            <a:ext cx="11318910" cy="4710749"/>
          </a:xfrm>
          <a:prstGeom prst="rect">
            <a:avLst/>
          </a:prstGeom>
        </p:spPr>
      </p:pic>
      <p:sp>
        <p:nvSpPr>
          <p:cNvPr id="5" name="TextBox 4">
            <a:extLst>
              <a:ext uri="{FF2B5EF4-FFF2-40B4-BE49-F238E27FC236}">
                <a16:creationId xmlns:a16="http://schemas.microsoft.com/office/drawing/2014/main" id="{496C706A-2D2C-5A8E-FB53-2E3DB1A8B044}"/>
              </a:ext>
            </a:extLst>
          </p:cNvPr>
          <p:cNvSpPr txBox="1"/>
          <p:nvPr/>
        </p:nvSpPr>
        <p:spPr>
          <a:xfrm>
            <a:off x="1048210" y="412644"/>
            <a:ext cx="6096000" cy="369332"/>
          </a:xfrm>
          <a:prstGeom prst="rect">
            <a:avLst/>
          </a:prstGeom>
          <a:noFill/>
        </p:spPr>
        <p:txBody>
          <a:bodyPr wrap="square">
            <a:spAutoFit/>
          </a:bodyPr>
          <a:lstStyle/>
          <a:p>
            <a:r>
              <a:rPr lang="en-US" dirty="0">
                <a:latin typeface="Calibri"/>
              </a:rPr>
              <a:t>H4 :  MP vs. CBI: Differential Effects on Mutual-Fund Flows</a:t>
            </a:r>
          </a:p>
        </p:txBody>
      </p:sp>
      <p:sp>
        <p:nvSpPr>
          <p:cNvPr id="7" name="TextBox 6">
            <a:extLst>
              <a:ext uri="{FF2B5EF4-FFF2-40B4-BE49-F238E27FC236}">
                <a16:creationId xmlns:a16="http://schemas.microsoft.com/office/drawing/2014/main" id="{72FE4B3E-6093-882E-4FB6-B5155A81DC76}"/>
              </a:ext>
            </a:extLst>
          </p:cNvPr>
          <p:cNvSpPr txBox="1"/>
          <p:nvPr/>
        </p:nvSpPr>
        <p:spPr>
          <a:xfrm>
            <a:off x="1327355" y="5475859"/>
            <a:ext cx="6096000" cy="1200329"/>
          </a:xfrm>
          <a:prstGeom prst="rect">
            <a:avLst/>
          </a:prstGeom>
          <a:noFill/>
        </p:spPr>
        <p:txBody>
          <a:bodyPr wrap="square">
            <a:spAutoFit/>
          </a:bodyPr>
          <a:lstStyle/>
          <a:p>
            <a:pPr>
              <a:buNone/>
            </a:pPr>
            <a:r>
              <a:rPr lang="en-US" b="1" dirty="0">
                <a:latin typeface="Calibri"/>
              </a:rPr>
              <a:t>Result:</a:t>
            </a:r>
            <a:r>
              <a:rPr lang="en-US" dirty="0">
                <a:latin typeface="Calibri"/>
              </a:rPr>
              <a:t> Government bonds receive significant inflows on CBI shocks (+0.76 %TNA per shock, p = 0.037) with no MP response (Wald MP = CBI p = 0.098). Gap-free robustness: +1.13, p = 0.010. → H4 supported in the safest class.</a:t>
            </a:r>
          </a:p>
          <a:p>
            <a:pPr>
              <a:buNone/>
            </a:pPr>
            <a:r>
              <a:rPr lang="en-US" b="1" dirty="0">
                <a:latin typeface="Calibri"/>
              </a:rPr>
              <a:t>→ H4 supported.</a:t>
            </a:r>
            <a:endParaRPr lang="en-US" dirty="0"/>
          </a:p>
        </p:txBody>
      </p:sp>
    </p:spTree>
    <p:extLst>
      <p:ext uri="{BB962C8B-B14F-4D97-AF65-F5344CB8AC3E}">
        <p14:creationId xmlns:p14="http://schemas.microsoft.com/office/powerpoint/2010/main" val="336919436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AD59DE-DF70-A8CF-2C6C-0CEEEC9E4B38}"/>
              </a:ext>
            </a:extLst>
          </p:cNvPr>
          <p:cNvPicPr>
            <a:picLocks noChangeAspect="1"/>
          </p:cNvPicPr>
          <p:nvPr/>
        </p:nvPicPr>
        <p:blipFill>
          <a:blip r:embed="rId2"/>
          <a:stretch>
            <a:fillRect/>
          </a:stretch>
        </p:blipFill>
        <p:spPr>
          <a:xfrm>
            <a:off x="751322" y="1702171"/>
            <a:ext cx="10429875" cy="3807619"/>
          </a:xfrm>
          <a:prstGeom prst="rect">
            <a:avLst/>
          </a:prstGeom>
        </p:spPr>
      </p:pic>
      <p:sp>
        <p:nvSpPr>
          <p:cNvPr id="5" name="TextBox 4">
            <a:extLst>
              <a:ext uri="{FF2B5EF4-FFF2-40B4-BE49-F238E27FC236}">
                <a16:creationId xmlns:a16="http://schemas.microsoft.com/office/drawing/2014/main" id="{7A6414E5-55A2-2064-CC64-3D6BCAE27D6E}"/>
              </a:ext>
            </a:extLst>
          </p:cNvPr>
          <p:cNvSpPr txBox="1"/>
          <p:nvPr/>
        </p:nvSpPr>
        <p:spPr>
          <a:xfrm>
            <a:off x="881062" y="469094"/>
            <a:ext cx="10170396" cy="923330"/>
          </a:xfrm>
          <a:prstGeom prst="rect">
            <a:avLst/>
          </a:prstGeom>
          <a:noFill/>
        </p:spPr>
        <p:txBody>
          <a:bodyPr wrap="square">
            <a:spAutoFit/>
          </a:bodyPr>
          <a:lstStyle/>
          <a:p>
            <a:pPr>
              <a:buNone/>
            </a:pPr>
            <a:r>
              <a:rPr lang="en-US" b="1" dirty="0">
                <a:latin typeface="Calibri"/>
              </a:rPr>
              <a:t>H5 — Risk Ladder</a:t>
            </a:r>
            <a:endParaRPr lang="en-US" dirty="0"/>
          </a:p>
          <a:p>
            <a:pPr>
              <a:buNone/>
            </a:pPr>
            <a:r>
              <a:rPr lang="en-US" b="1" dirty="0">
                <a:latin typeface="Calibri"/>
              </a:rPr>
              <a:t>MP and CBI shocks generate different portfolio-reallocation patterns across asset classes ordered from safer to riskier assets.</a:t>
            </a:r>
            <a:endParaRPr lang="en-US" dirty="0"/>
          </a:p>
        </p:txBody>
      </p:sp>
      <p:sp>
        <p:nvSpPr>
          <p:cNvPr id="7" name="TextBox 6">
            <a:extLst>
              <a:ext uri="{FF2B5EF4-FFF2-40B4-BE49-F238E27FC236}">
                <a16:creationId xmlns:a16="http://schemas.microsoft.com/office/drawing/2014/main" id="{3ED0CCA0-0B1A-94F3-D9D0-8FC41A32C3AF}"/>
              </a:ext>
            </a:extLst>
          </p:cNvPr>
          <p:cNvSpPr txBox="1"/>
          <p:nvPr/>
        </p:nvSpPr>
        <p:spPr>
          <a:xfrm>
            <a:off x="1327355" y="5693328"/>
            <a:ext cx="9625780" cy="1477328"/>
          </a:xfrm>
          <a:prstGeom prst="rect">
            <a:avLst/>
          </a:prstGeom>
          <a:noFill/>
        </p:spPr>
        <p:txBody>
          <a:bodyPr wrap="square">
            <a:spAutoFit/>
          </a:bodyPr>
          <a:lstStyle/>
          <a:p>
            <a:r>
              <a:rPr lang="en-US" b="1" dirty="0">
                <a:latin typeface="Calibri"/>
              </a:rPr>
              <a:t>Result:</a:t>
            </a:r>
            <a:r>
              <a:rPr lang="en-US" dirty="0">
                <a:latin typeface="Calibri"/>
              </a:rPr>
              <a:t> CBI shocks push portfolios DOWN the risk ladder (de-risking): Risk×CBI = −0.066 (p = 0.036), gap-free −0.114 (p = 0.002) — opposite to the original prediction, reported as found. Strongest differences in safer government bonds; Risk×MP flat. New: MP×ZLB = −1.51 (p = 0.005).</a:t>
            </a:r>
          </a:p>
          <a:p>
            <a:endParaRPr lang="en-US" dirty="0"/>
          </a:p>
        </p:txBody>
      </p:sp>
    </p:spTree>
    <p:extLst>
      <p:ext uri="{BB962C8B-B14F-4D97-AF65-F5344CB8AC3E}">
        <p14:creationId xmlns:p14="http://schemas.microsoft.com/office/powerpoint/2010/main" val="120914828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3ED3447-FCA5-9E4A-7CD3-3E8363EAE6AA}"/>
              </a:ext>
            </a:extLst>
          </p:cNvPr>
          <p:cNvPicPr>
            <a:picLocks noChangeAspect="1"/>
          </p:cNvPicPr>
          <p:nvPr/>
        </p:nvPicPr>
        <p:blipFill>
          <a:blip r:embed="rId2"/>
          <a:stretch>
            <a:fillRect/>
          </a:stretch>
        </p:blipFill>
        <p:spPr>
          <a:xfrm>
            <a:off x="881062" y="1250156"/>
            <a:ext cx="10429875" cy="4357688"/>
          </a:xfrm>
          <a:prstGeom prst="rect">
            <a:avLst/>
          </a:prstGeom>
        </p:spPr>
      </p:pic>
      <p:sp>
        <p:nvSpPr>
          <p:cNvPr id="5" name="TextBox 4">
            <a:extLst>
              <a:ext uri="{FF2B5EF4-FFF2-40B4-BE49-F238E27FC236}">
                <a16:creationId xmlns:a16="http://schemas.microsoft.com/office/drawing/2014/main" id="{B69BCC87-3BC2-D066-DB21-58812DAEBCEE}"/>
              </a:ext>
            </a:extLst>
          </p:cNvPr>
          <p:cNvSpPr txBox="1"/>
          <p:nvPr/>
        </p:nvSpPr>
        <p:spPr>
          <a:xfrm>
            <a:off x="-1555" y="15942"/>
            <a:ext cx="6097554" cy="369332"/>
          </a:xfrm>
          <a:prstGeom prst="rect">
            <a:avLst/>
          </a:prstGeom>
          <a:noFill/>
        </p:spPr>
        <p:txBody>
          <a:bodyPr wrap="square">
            <a:spAutoFit/>
          </a:bodyPr>
          <a:lstStyle/>
          <a:p>
            <a:pPr>
              <a:buNone/>
            </a:pPr>
            <a:r>
              <a:rPr lang="en-US" sz="1800" b="1" dirty="0">
                <a:latin typeface="Calibri"/>
              </a:rPr>
              <a:t>H5 — Risk Ladder</a:t>
            </a:r>
            <a:endParaRPr lang="en-US" sz="1800" dirty="0"/>
          </a:p>
        </p:txBody>
      </p:sp>
    </p:spTree>
    <p:extLst>
      <p:ext uri="{BB962C8B-B14F-4D97-AF65-F5344CB8AC3E}">
        <p14:creationId xmlns:p14="http://schemas.microsoft.com/office/powerpoint/2010/main" val="267397721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E660CCE-FC29-889C-DA06-E63DE5B99DB3}"/>
              </a:ext>
            </a:extLst>
          </p:cNvPr>
          <p:cNvPicPr>
            <a:picLocks noChangeAspect="1"/>
          </p:cNvPicPr>
          <p:nvPr/>
        </p:nvPicPr>
        <p:blipFill>
          <a:blip r:embed="rId2"/>
          <a:stretch>
            <a:fillRect/>
          </a:stretch>
        </p:blipFill>
        <p:spPr>
          <a:xfrm>
            <a:off x="1275080" y="1300480"/>
            <a:ext cx="9641839" cy="5557520"/>
          </a:xfrm>
          <a:prstGeom prst="rect">
            <a:avLst/>
          </a:prstGeom>
        </p:spPr>
      </p:pic>
      <p:sp>
        <p:nvSpPr>
          <p:cNvPr id="5" name="TextBox 4">
            <a:extLst>
              <a:ext uri="{FF2B5EF4-FFF2-40B4-BE49-F238E27FC236}">
                <a16:creationId xmlns:a16="http://schemas.microsoft.com/office/drawing/2014/main" id="{FCF0E28F-96B3-1CB2-AA67-83DD1C669613}"/>
              </a:ext>
            </a:extLst>
          </p:cNvPr>
          <p:cNvSpPr txBox="1"/>
          <p:nvPr/>
        </p:nvSpPr>
        <p:spPr>
          <a:xfrm>
            <a:off x="875071" y="184806"/>
            <a:ext cx="10658168" cy="1477328"/>
          </a:xfrm>
          <a:prstGeom prst="rect">
            <a:avLst/>
          </a:prstGeom>
          <a:noFill/>
        </p:spPr>
        <p:txBody>
          <a:bodyPr wrap="square">
            <a:spAutoFit/>
          </a:bodyPr>
          <a:lstStyle/>
          <a:p>
            <a:r>
              <a:rPr lang="en-US" dirty="0">
                <a:latin typeface="Calibri"/>
              </a:rPr>
              <a:t>H6: MP and CBI shocks exhibit different transmission patterns across immediate asset-price responses and subsequent horizons. </a:t>
            </a:r>
            <a:r>
              <a:rPr lang="en-US" b="1" dirty="0">
                <a:latin typeface="Calibri"/>
              </a:rPr>
              <a:t>Result:</a:t>
            </a:r>
            <a:r>
              <a:rPr lang="en-US" dirty="0">
                <a:latin typeface="Calibri"/>
              </a:rPr>
              <a:t> Both MP and CBI affect equity prices on the FOMC day, but the CBI effect fades at longer horizons while the MP effect persists.</a:t>
            </a:r>
          </a:p>
          <a:p>
            <a:r>
              <a:rPr lang="en-US" b="1" dirty="0">
                <a:latin typeface="Calibri"/>
              </a:rPr>
              <a:t>→ H6 supported: MP and CBI exhibit distinct transmission dynamics across horizons.</a:t>
            </a:r>
            <a:endParaRPr lang="en-US" dirty="0"/>
          </a:p>
          <a:p>
            <a:endParaRPr lang="en-US" dirty="0"/>
          </a:p>
        </p:txBody>
      </p:sp>
    </p:spTree>
    <p:extLst>
      <p:ext uri="{BB962C8B-B14F-4D97-AF65-F5344CB8AC3E}">
        <p14:creationId xmlns:p14="http://schemas.microsoft.com/office/powerpoint/2010/main" val="3891079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750</TotalTime>
  <Words>3455</Words>
  <Application>Microsoft Office PowerPoint</Application>
  <PresentationFormat>Widescreen</PresentationFormat>
  <Paragraphs>529</Paragraphs>
  <Slides>33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33</vt:i4>
      </vt:variant>
    </vt:vector>
  </HeadingPairs>
  <TitlesOfParts>
    <vt:vector size="41" baseType="lpstr">
      <vt:lpstr>Arial-BoldMT</vt:lpstr>
      <vt:lpstr>Aptos</vt:lpstr>
      <vt:lpstr>Aptos Narrow</vt:lpstr>
      <vt:lpstr>Arial</vt:lpstr>
      <vt:lpstr>Calibri</vt:lpstr>
      <vt:lpstr>Georgia</vt:lpstr>
      <vt:lpstr>Times New Roman</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eileen zhang</dc:creator>
  <cp:keywords/>
  <dc:description>generated using python-pptx</dc:description>
  <cp:lastModifiedBy>eileen zhang</cp:lastModifiedBy>
  <cp:revision>11</cp:revision>
  <dcterms:created xsi:type="dcterms:W3CDTF">2013-01-27T09:14:16Z</dcterms:created>
  <dcterms:modified xsi:type="dcterms:W3CDTF">2026-09-18T01:13:22Z</dcterms:modified>
  <cp:category/>
</cp:coreProperties>
</file>